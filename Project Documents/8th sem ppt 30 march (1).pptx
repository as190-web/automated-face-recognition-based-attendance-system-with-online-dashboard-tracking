
<file path=[Content_Types].xml><?xml version="1.0" encoding="utf-8"?>
<Types xmlns="http://schemas.openxmlformats.org/package/2006/content-types">
  <Default Extension="bin" ContentType="image/unknown"/>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5" r:id="rId1"/>
  </p:sldMasterIdLst>
  <p:notesMasterIdLst>
    <p:notesMasterId r:id="rId14"/>
  </p:notes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Lst>
  <p:sldSz cx="12192000" cy="6858000"/>
  <p:notesSz cx="6858000" cy="12192000"/>
  <p:embeddedFontLst>
    <p:embeddedFont>
      <p:font typeface="Calisto MT" panose="02040603050505090304" pitchFamily="18" charset="0"/>
      <p:italic r:id="rId15"/>
    </p:embeddedFont>
    <p:embeddedFont>
      <p:font typeface="Oranienbaum" panose="02000506080000020003" pitchFamily="2" charset="0"/>
      <p:regular r:id="rId16"/>
    </p:embeddedFont>
    <p:embeddedFont>
      <p:font typeface="Quattrocento Sans" panose="020B0502050000020003" pitchFamily="34" charset="0"/>
      <p:regular r:id="rId17"/>
      <p:bold r:id="rId18"/>
    </p:embeddedFont>
    <p:embeddedFont>
      <p:font typeface="Wingdings 2" panose="05020102010507070707" pitchFamily="82" charset="2"/>
      <p:regular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611"/>
    <a:srgbClr val="7B631F"/>
    <a:srgbClr val="FFFFCC"/>
    <a:srgbClr val="7B6F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5" autoAdjust="0"/>
    <p:restoredTop sz="94610"/>
  </p:normalViewPr>
  <p:slideViewPr>
    <p:cSldViewPr snapToGrid="0" snapToObjects="1">
      <p:cViewPr varScale="1">
        <p:scale>
          <a:sx n="55" d="100"/>
          <a:sy n="55" d="100"/>
        </p:scale>
        <p:origin x="964" y="264"/>
      </p:cViewPr>
      <p:guideLst/>
    </p:cSldViewPr>
  </p:slideViewPr>
  <p:notesTextViewPr>
    <p:cViewPr>
      <p:scale>
        <a:sx n="1" d="1"/>
        <a:sy n="1" d="1"/>
      </p:scale>
      <p:origin x="0" y="0"/>
    </p:cViewPr>
  </p:notesTextViewPr>
  <p:sorterViewPr>
    <p:cViewPr>
      <p:scale>
        <a:sx n="100" d="100"/>
        <a:sy n="100" d="100"/>
      </p:scale>
      <p:origin x="0" y="-150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48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4434784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7449856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194474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592906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115759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5672706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3/29/2026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2581978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216426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93989533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8716070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439856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34151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01350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305934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298CD5-6C1E-4009-B41F-6DF62E31D3BE}" type="datetimeFigureOut">
              <a:rPr lang="en-US" smtClean="0"/>
              <a:pPr/>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878874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389761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25660623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359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0298CD5-6C1E-4009-B41F-6DF62E31D3BE}" type="datetimeFigureOut">
              <a:rPr lang="en-US" smtClean="0"/>
              <a:pPr/>
              <a:t>3/29/2026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584872932"/>
      </p:ext>
    </p:extLst>
  </p:cSld>
  <p:clrMap bg1="dk1" tx1="lt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pic>
        <p:nvPicPr>
          <p:cNvPr id="2" name="Image 0" descr="https://kimi-web-img.moonshot.cn/img/img.freepik.com/635c49215aab4f93010a7cbb240be56fe0b70029.jpg"/>
          <p:cNvPicPr>
            <a:picLocks noChangeAspect="1"/>
          </p:cNvPicPr>
          <p:nvPr/>
        </p:nvPicPr>
        <p:blipFill>
          <a:blip r:embed="rId3">
            <a:alphaModFix amt="40000"/>
          </a:blip>
          <a:srcRect t="34230" b="3423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11111">
                  <a:alpha val="90000"/>
                </a:srgbClr>
              </a:gs>
              <a:gs pos="50000">
                <a:srgbClr val="111111">
                  <a:alpha val="70000"/>
                </a:srgbClr>
              </a:gs>
              <a:gs pos="100000">
                <a:srgbClr val="000000">
                  <a:alpha val="0"/>
                </a:srgbClr>
              </a:gs>
            </a:gsLst>
            <a:lin ang="2700000" scaled="1"/>
          </a:gradFill>
          <a:ln/>
        </p:spPr>
        <p:txBody>
          <a:bodyPr/>
          <a:lstStyle/>
          <a:p>
            <a:endParaRPr lang="en-IN"/>
          </a:p>
        </p:txBody>
      </p:sp>
      <p:sp>
        <p:nvSpPr>
          <p:cNvPr id="4" name="Shape 1"/>
          <p:cNvSpPr/>
          <p:nvPr/>
        </p:nvSpPr>
        <p:spPr>
          <a:xfrm>
            <a:off x="384175" y="939800"/>
            <a:ext cx="2187575" cy="387350"/>
          </a:xfrm>
          <a:custGeom>
            <a:avLst/>
            <a:gdLst/>
            <a:ahLst/>
            <a:cxnLst/>
            <a:rect l="l" t="t" r="r" b="b"/>
            <a:pathLst>
              <a:path w="2187575" h="387350">
                <a:moveTo>
                  <a:pt x="0" y="0"/>
                </a:moveTo>
                <a:lnTo>
                  <a:pt x="2187575" y="0"/>
                </a:lnTo>
                <a:lnTo>
                  <a:pt x="2187575" y="387350"/>
                </a:lnTo>
                <a:lnTo>
                  <a:pt x="0" y="387350"/>
                </a:lnTo>
                <a:lnTo>
                  <a:pt x="0" y="0"/>
                </a:lnTo>
                <a:close/>
              </a:path>
            </a:pathLst>
          </a:custGeom>
          <a:solidFill>
            <a:srgbClr val="000000">
              <a:alpha val="0"/>
            </a:srgbClr>
          </a:solidFill>
          <a:ln w="8467">
            <a:solidFill>
              <a:srgbClr val="C9A36A">
                <a:alpha val="40000"/>
              </a:srgbClr>
            </a:solidFill>
            <a:prstDash val="solid"/>
          </a:ln>
        </p:spPr>
        <p:txBody>
          <a:bodyPr/>
          <a:lstStyle/>
          <a:p>
            <a:endParaRPr lang="en-IN"/>
          </a:p>
        </p:txBody>
      </p:sp>
      <p:sp>
        <p:nvSpPr>
          <p:cNvPr id="5" name="Text 2"/>
          <p:cNvSpPr/>
          <p:nvPr/>
        </p:nvSpPr>
        <p:spPr>
          <a:xfrm>
            <a:off x="577850" y="1050925"/>
            <a:ext cx="1878211" cy="165100"/>
          </a:xfrm>
          <a:prstGeom prst="rect">
            <a:avLst/>
          </a:prstGeom>
          <a:noFill/>
          <a:ln/>
        </p:spPr>
        <p:txBody>
          <a:bodyPr wrap="square" lIns="0" tIns="0" rIns="0" bIns="0" rtlCol="0" anchor="ctr"/>
          <a:lstStyle/>
          <a:p>
            <a:pPr>
              <a:lnSpc>
                <a:spcPct val="130000"/>
              </a:lnSpc>
            </a:pPr>
            <a:r>
              <a:rPr lang="en-US" sz="1200" b="1" kern="0" spc="360" dirty="0">
                <a:solidFill>
                  <a:srgbClr val="C9A36A"/>
                </a:solidFill>
                <a:latin typeface="Quattrocento Sans" pitchFamily="34" charset="0"/>
                <a:ea typeface="Quattrocento Sans" pitchFamily="34" charset="-122"/>
                <a:cs typeface="Quattrocento Sans" pitchFamily="34" charset="-120"/>
              </a:rPr>
              <a:t>Project Report</a:t>
            </a:r>
            <a:endParaRPr lang="en-US" sz="1600" dirty="0"/>
          </a:p>
        </p:txBody>
      </p:sp>
      <p:sp>
        <p:nvSpPr>
          <p:cNvPr id="6" name="Text 3"/>
          <p:cNvSpPr/>
          <p:nvPr/>
        </p:nvSpPr>
        <p:spPr>
          <a:xfrm>
            <a:off x="381000" y="1635125"/>
            <a:ext cx="11772900" cy="2571750"/>
          </a:xfrm>
          <a:prstGeom prst="rect">
            <a:avLst/>
          </a:prstGeom>
          <a:noFill/>
          <a:ln/>
        </p:spPr>
        <p:txBody>
          <a:bodyPr wrap="square" lIns="0" tIns="0" rIns="0" bIns="0" rtlCol="0" anchor="ctr"/>
          <a:lstStyle/>
          <a:p>
            <a:pPr>
              <a:lnSpc>
                <a:spcPct val="100000"/>
              </a:lnSpc>
            </a:pPr>
            <a:r>
              <a:rPr lang="en-US" sz="5400" b="1" dirty="0">
                <a:solidFill>
                  <a:srgbClr val="F2F2F2"/>
                </a:solidFill>
                <a:latin typeface="Oranienbaum" pitchFamily="34" charset="0"/>
                <a:ea typeface="Oranienbaum" pitchFamily="34" charset="-122"/>
                <a:cs typeface="Oranienbaum" pitchFamily="34" charset="-120"/>
              </a:rPr>
              <a:t>Smart Biometric</a:t>
            </a:r>
            <a:endParaRPr lang="en-US" sz="1600" dirty="0"/>
          </a:p>
          <a:p>
            <a:pPr>
              <a:lnSpc>
                <a:spcPct val="100000"/>
              </a:lnSpc>
            </a:pPr>
            <a:r>
              <a:rPr lang="en-US" sz="5400" b="1" dirty="0">
                <a:solidFill>
                  <a:srgbClr val="F2F2F2"/>
                </a:solidFill>
                <a:latin typeface="Oranienbaum" pitchFamily="34" charset="0"/>
                <a:ea typeface="Oranienbaum" pitchFamily="34" charset="-122"/>
                <a:cs typeface="Oranienbaum" pitchFamily="34" charset="-120"/>
              </a:rPr>
              <a:t>Face Recognition</a:t>
            </a:r>
            <a:endParaRPr lang="en-US" sz="1600" dirty="0"/>
          </a:p>
          <a:p>
            <a:pPr>
              <a:lnSpc>
                <a:spcPct val="100000"/>
              </a:lnSpc>
            </a:pPr>
            <a:r>
              <a:rPr lang="en-US" sz="5400" b="1" dirty="0">
                <a:solidFill>
                  <a:srgbClr val="C9A36A"/>
                </a:solidFill>
                <a:latin typeface="Oranienbaum" pitchFamily="34" charset="0"/>
                <a:ea typeface="Oranienbaum" pitchFamily="34" charset="-122"/>
                <a:cs typeface="Oranienbaum" pitchFamily="34" charset="-120"/>
              </a:rPr>
              <a:t>Tracker</a:t>
            </a:r>
            <a:endParaRPr lang="en-US" sz="1600" dirty="0"/>
          </a:p>
        </p:txBody>
      </p:sp>
      <p:sp>
        <p:nvSpPr>
          <p:cNvPr id="7" name="Shape 4"/>
          <p:cNvSpPr/>
          <p:nvPr/>
        </p:nvSpPr>
        <p:spPr>
          <a:xfrm>
            <a:off x="381000" y="443547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C9A36A"/>
          </a:solidFill>
          <a:ln/>
        </p:spPr>
        <p:txBody>
          <a:bodyPr/>
          <a:lstStyle/>
          <a:p>
            <a:endParaRPr lang="en-IN"/>
          </a:p>
        </p:txBody>
      </p:sp>
      <p:sp>
        <p:nvSpPr>
          <p:cNvPr id="8" name="Text 5"/>
          <p:cNvSpPr/>
          <p:nvPr/>
        </p:nvSpPr>
        <p:spPr>
          <a:xfrm>
            <a:off x="381000" y="4778375"/>
            <a:ext cx="11544300" cy="304800"/>
          </a:xfrm>
          <a:prstGeom prst="rect">
            <a:avLst/>
          </a:prstGeom>
          <a:noFill/>
          <a:ln/>
        </p:spPr>
        <p:txBody>
          <a:bodyPr wrap="square" lIns="0" tIns="0" rIns="0" bIns="0" rtlCol="0" anchor="ctr"/>
          <a:lstStyle/>
          <a:p>
            <a:pPr>
              <a:lnSpc>
                <a:spcPct val="110000"/>
              </a:lnSpc>
            </a:pPr>
            <a:r>
              <a:rPr lang="en-US" sz="1800" dirty="0">
                <a:solidFill>
                  <a:srgbClr val="B8B8B8"/>
                </a:solidFill>
                <a:latin typeface="Quattrocento Sans" pitchFamily="34" charset="0"/>
                <a:ea typeface="Quattrocento Sans" pitchFamily="34" charset="-122"/>
                <a:cs typeface="Quattrocento Sans" pitchFamily="34" charset="-120"/>
              </a:rPr>
              <a:t>Bachelor's Degree (CSE) | KIIT University</a:t>
            </a:r>
            <a:endParaRPr lang="en-US" sz="1600" dirty="0"/>
          </a:p>
        </p:txBody>
      </p:sp>
      <p:sp>
        <p:nvSpPr>
          <p:cNvPr id="9" name="Text 6"/>
          <p:cNvSpPr/>
          <p:nvPr/>
        </p:nvSpPr>
        <p:spPr>
          <a:xfrm>
            <a:off x="381000" y="5943600"/>
            <a:ext cx="5629275" cy="190500"/>
          </a:xfrm>
          <a:prstGeom prst="rect">
            <a:avLst/>
          </a:prstGeom>
          <a:noFill/>
          <a:ln/>
        </p:spPr>
        <p:txBody>
          <a:bodyPr wrap="square" lIns="0" tIns="0" rIns="0" bIns="0" rtlCol="0" anchor="ctr"/>
          <a:lstStyle/>
          <a:p>
            <a:pPr>
              <a:lnSpc>
                <a:spcPct val="120000"/>
              </a:lnSpc>
            </a:pPr>
            <a:r>
              <a:rPr lang="en-US" sz="1050" kern="0" spc="53" dirty="0">
                <a:solidFill>
                  <a:srgbClr val="A3A3A3"/>
                </a:solidFill>
                <a:latin typeface="Quattrocento Sans" pitchFamily="34" charset="0"/>
                <a:ea typeface="Quattrocento Sans" pitchFamily="34" charset="-122"/>
                <a:cs typeface="Quattrocento Sans" pitchFamily="34" charset="-120"/>
              </a:rPr>
              <a:t>Guided By</a:t>
            </a:r>
            <a:endParaRPr lang="en-US" sz="1600" dirty="0"/>
          </a:p>
        </p:txBody>
      </p:sp>
      <p:sp>
        <p:nvSpPr>
          <p:cNvPr id="10" name="Text 7"/>
          <p:cNvSpPr/>
          <p:nvPr/>
        </p:nvSpPr>
        <p:spPr>
          <a:xfrm>
            <a:off x="381000" y="6210300"/>
            <a:ext cx="5657850"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Dr. Suchismita Rout</a:t>
            </a:r>
            <a:endParaRPr lang="en-US" sz="1600" dirty="0"/>
          </a:p>
        </p:txBody>
      </p:sp>
      <p:sp>
        <p:nvSpPr>
          <p:cNvPr id="11" name="Text 8"/>
          <p:cNvSpPr/>
          <p:nvPr/>
        </p:nvSpPr>
        <p:spPr>
          <a:xfrm>
            <a:off x="6248400" y="5943600"/>
            <a:ext cx="5629275" cy="190500"/>
          </a:xfrm>
          <a:prstGeom prst="rect">
            <a:avLst/>
          </a:prstGeom>
          <a:noFill/>
          <a:ln/>
        </p:spPr>
        <p:txBody>
          <a:bodyPr wrap="square" lIns="0" tIns="0" rIns="0" bIns="0" rtlCol="0" anchor="ctr"/>
          <a:lstStyle/>
          <a:p>
            <a:pPr>
              <a:lnSpc>
                <a:spcPct val="120000"/>
              </a:lnSpc>
            </a:pPr>
            <a:r>
              <a:rPr lang="en-US" sz="1050" kern="0" spc="53" dirty="0">
                <a:solidFill>
                  <a:srgbClr val="A3A3A3"/>
                </a:solidFill>
                <a:latin typeface="Quattrocento Sans" pitchFamily="34" charset="0"/>
                <a:ea typeface="Quattrocento Sans" pitchFamily="34" charset="-122"/>
                <a:cs typeface="Quattrocento Sans" pitchFamily="34" charset="-120"/>
              </a:rPr>
              <a:t>Team Members</a:t>
            </a:r>
            <a:endParaRPr lang="en-US" sz="1600" dirty="0"/>
          </a:p>
        </p:txBody>
      </p:sp>
      <p:sp>
        <p:nvSpPr>
          <p:cNvPr id="12" name="Text 9"/>
          <p:cNvSpPr/>
          <p:nvPr/>
        </p:nvSpPr>
        <p:spPr>
          <a:xfrm>
            <a:off x="6248400" y="6210300"/>
            <a:ext cx="5638800" cy="228600"/>
          </a:xfrm>
          <a:prstGeom prst="rect">
            <a:avLst/>
          </a:prstGeom>
          <a:noFill/>
          <a:ln/>
        </p:spPr>
        <p:txBody>
          <a:bodyPr wrap="square" lIns="0" tIns="0" rIns="0" bIns="0" rtlCol="0" anchor="ctr"/>
          <a:lstStyle/>
          <a:p>
            <a:pPr>
              <a:lnSpc>
                <a:spcPct val="130000"/>
              </a:lnSpc>
            </a:pPr>
            <a:r>
              <a:rPr lang="en-US" sz="1200" dirty="0">
                <a:solidFill>
                  <a:srgbClr val="F2F2F2"/>
                </a:solidFill>
                <a:latin typeface="Quattrocento Sans" pitchFamily="34" charset="0"/>
                <a:ea typeface="Quattrocento Sans" pitchFamily="34" charset="-122"/>
                <a:cs typeface="Quattrocento Sans" pitchFamily="34" charset="-120"/>
              </a:rPr>
              <a:t>Ayush Mohanty • Akhilesh Das • Kushal Mishra • Ayush Swain • Mirza Baig</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Overview</a:t>
            </a:r>
            <a:endParaRPr lang="en-US" sz="1600" dirty="0"/>
          </a:p>
        </p:txBody>
      </p:sp>
      <p:sp>
        <p:nvSpPr>
          <p:cNvPr id="3" name="Text 1"/>
          <p:cNvSpPr/>
          <p:nvPr/>
        </p:nvSpPr>
        <p:spPr>
          <a:xfrm>
            <a:off x="381000" y="6858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2954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381000" y="17145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6" name="Text 4"/>
          <p:cNvSpPr/>
          <p:nvPr/>
        </p:nvSpPr>
        <p:spPr>
          <a:xfrm>
            <a:off x="555030" y="1828800"/>
            <a:ext cx="29527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7" name="Text 5"/>
          <p:cNvSpPr/>
          <p:nvPr/>
        </p:nvSpPr>
        <p:spPr>
          <a:xfrm>
            <a:off x="1066800" y="17526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Introduction</a:t>
            </a:r>
            <a:endParaRPr lang="en-US" sz="1600" dirty="0"/>
          </a:p>
        </p:txBody>
      </p:sp>
      <p:sp>
        <p:nvSpPr>
          <p:cNvPr id="8" name="Text 6"/>
          <p:cNvSpPr/>
          <p:nvPr/>
        </p:nvSpPr>
        <p:spPr>
          <a:xfrm>
            <a:off x="1066800" y="20574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The importance of attendance and the limitations of traditional methods</a:t>
            </a:r>
            <a:endParaRPr lang="en-US" sz="1600" dirty="0"/>
          </a:p>
        </p:txBody>
      </p:sp>
      <p:sp>
        <p:nvSpPr>
          <p:cNvPr id="9" name="Shape 7"/>
          <p:cNvSpPr/>
          <p:nvPr/>
        </p:nvSpPr>
        <p:spPr>
          <a:xfrm>
            <a:off x="4292600" y="17145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10" name="Text 8"/>
          <p:cNvSpPr/>
          <p:nvPr/>
        </p:nvSpPr>
        <p:spPr>
          <a:xfrm>
            <a:off x="4445496" y="1828800"/>
            <a:ext cx="342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1" name="Text 9"/>
          <p:cNvSpPr/>
          <p:nvPr/>
        </p:nvSpPr>
        <p:spPr>
          <a:xfrm>
            <a:off x="4978400" y="17526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Problem Statement</a:t>
            </a:r>
            <a:endParaRPr lang="en-US" sz="1600" dirty="0"/>
          </a:p>
        </p:txBody>
      </p:sp>
      <p:sp>
        <p:nvSpPr>
          <p:cNvPr id="12" name="Text 10"/>
          <p:cNvSpPr/>
          <p:nvPr/>
        </p:nvSpPr>
        <p:spPr>
          <a:xfrm>
            <a:off x="4978400" y="20574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Key challenges in current attendance systems and the need for innovation</a:t>
            </a:r>
            <a:endParaRPr lang="en-US" sz="1600" dirty="0"/>
          </a:p>
        </p:txBody>
      </p:sp>
      <p:sp>
        <p:nvSpPr>
          <p:cNvPr id="13" name="Shape 11"/>
          <p:cNvSpPr/>
          <p:nvPr/>
        </p:nvSpPr>
        <p:spPr>
          <a:xfrm>
            <a:off x="8204200" y="17145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14" name="Text 12"/>
          <p:cNvSpPr/>
          <p:nvPr/>
        </p:nvSpPr>
        <p:spPr>
          <a:xfrm>
            <a:off x="8356600" y="1828800"/>
            <a:ext cx="342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15" name="Text 13"/>
          <p:cNvSpPr/>
          <p:nvPr/>
        </p:nvSpPr>
        <p:spPr>
          <a:xfrm>
            <a:off x="8890000" y="17526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Objectives</a:t>
            </a:r>
            <a:endParaRPr lang="en-US" sz="1600" dirty="0"/>
          </a:p>
        </p:txBody>
      </p:sp>
      <p:sp>
        <p:nvSpPr>
          <p:cNvPr id="16" name="Text 14"/>
          <p:cNvSpPr/>
          <p:nvPr/>
        </p:nvSpPr>
        <p:spPr>
          <a:xfrm>
            <a:off x="8890000" y="20574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Core goals and targets of the face recognition project</a:t>
            </a:r>
            <a:endParaRPr lang="en-US" sz="1600" dirty="0"/>
          </a:p>
        </p:txBody>
      </p:sp>
      <p:sp>
        <p:nvSpPr>
          <p:cNvPr id="17" name="Shape 15"/>
          <p:cNvSpPr/>
          <p:nvPr/>
        </p:nvSpPr>
        <p:spPr>
          <a:xfrm>
            <a:off x="381000" y="3378201"/>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18" name="Text 16"/>
          <p:cNvSpPr/>
          <p:nvPr/>
        </p:nvSpPr>
        <p:spPr>
          <a:xfrm>
            <a:off x="528241" y="3492501"/>
            <a:ext cx="35242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19" name="Text 17"/>
          <p:cNvSpPr/>
          <p:nvPr/>
        </p:nvSpPr>
        <p:spPr>
          <a:xfrm>
            <a:off x="1066800" y="3416301"/>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Technologies Used</a:t>
            </a:r>
            <a:endParaRPr lang="en-US" sz="1600" dirty="0"/>
          </a:p>
        </p:txBody>
      </p:sp>
      <p:sp>
        <p:nvSpPr>
          <p:cNvPr id="20" name="Text 18"/>
          <p:cNvSpPr/>
          <p:nvPr/>
        </p:nvSpPr>
        <p:spPr>
          <a:xfrm>
            <a:off x="1066800" y="3721101"/>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Complete technology stack including Python, OpenCV, and LBPH</a:t>
            </a:r>
            <a:endParaRPr lang="en-US" sz="1600" dirty="0"/>
          </a:p>
        </p:txBody>
      </p:sp>
      <p:sp>
        <p:nvSpPr>
          <p:cNvPr id="21" name="Shape 19"/>
          <p:cNvSpPr/>
          <p:nvPr/>
        </p:nvSpPr>
        <p:spPr>
          <a:xfrm>
            <a:off x="4292600" y="3378201"/>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22" name="Text 20"/>
          <p:cNvSpPr/>
          <p:nvPr/>
        </p:nvSpPr>
        <p:spPr>
          <a:xfrm>
            <a:off x="4446091" y="3492501"/>
            <a:ext cx="342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23" name="Text 21"/>
          <p:cNvSpPr/>
          <p:nvPr/>
        </p:nvSpPr>
        <p:spPr>
          <a:xfrm>
            <a:off x="4978400" y="3416301"/>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System Architecture</a:t>
            </a:r>
            <a:endParaRPr lang="en-US" sz="1600" dirty="0"/>
          </a:p>
        </p:txBody>
      </p:sp>
      <p:sp>
        <p:nvSpPr>
          <p:cNvPr id="24" name="Text 22"/>
          <p:cNvSpPr/>
          <p:nvPr/>
        </p:nvSpPr>
        <p:spPr>
          <a:xfrm>
            <a:off x="4978400" y="3721101"/>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Three-stage architecture: Input, Processing, and Output</a:t>
            </a:r>
            <a:endParaRPr lang="en-US" sz="1600" dirty="0"/>
          </a:p>
        </p:txBody>
      </p:sp>
      <p:sp>
        <p:nvSpPr>
          <p:cNvPr id="25" name="Shape 23"/>
          <p:cNvSpPr/>
          <p:nvPr/>
        </p:nvSpPr>
        <p:spPr>
          <a:xfrm>
            <a:off x="8204200" y="3378201"/>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26" name="Text 24"/>
          <p:cNvSpPr/>
          <p:nvPr/>
        </p:nvSpPr>
        <p:spPr>
          <a:xfrm>
            <a:off x="8354814" y="3492501"/>
            <a:ext cx="342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27" name="Text 25"/>
          <p:cNvSpPr/>
          <p:nvPr/>
        </p:nvSpPr>
        <p:spPr>
          <a:xfrm>
            <a:off x="8890000" y="3416301"/>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Dataset Creation</a:t>
            </a:r>
            <a:endParaRPr lang="en-US" sz="1600" dirty="0"/>
          </a:p>
        </p:txBody>
      </p:sp>
      <p:sp>
        <p:nvSpPr>
          <p:cNvPr id="28" name="Text 26"/>
          <p:cNvSpPr/>
          <p:nvPr/>
        </p:nvSpPr>
        <p:spPr>
          <a:xfrm>
            <a:off x="8890000" y="3721101"/>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Data preparation methodology and image processing pipeline</a:t>
            </a:r>
            <a:endParaRPr lang="en-US" sz="1600" dirty="0"/>
          </a:p>
        </p:txBody>
      </p:sp>
      <p:sp>
        <p:nvSpPr>
          <p:cNvPr id="29" name="Shape 27"/>
          <p:cNvSpPr/>
          <p:nvPr/>
        </p:nvSpPr>
        <p:spPr>
          <a:xfrm>
            <a:off x="381000" y="50419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30" name="Text 28"/>
          <p:cNvSpPr/>
          <p:nvPr/>
        </p:nvSpPr>
        <p:spPr>
          <a:xfrm>
            <a:off x="537567" y="5156200"/>
            <a:ext cx="33337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07</a:t>
            </a:r>
            <a:endParaRPr lang="en-US" sz="1600" dirty="0"/>
          </a:p>
        </p:txBody>
      </p:sp>
      <p:sp>
        <p:nvSpPr>
          <p:cNvPr id="31" name="Text 29"/>
          <p:cNvSpPr/>
          <p:nvPr/>
        </p:nvSpPr>
        <p:spPr>
          <a:xfrm>
            <a:off x="1066800" y="50800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Model Training</a:t>
            </a:r>
            <a:endParaRPr lang="en-US" sz="1600" dirty="0"/>
          </a:p>
        </p:txBody>
      </p:sp>
      <p:sp>
        <p:nvSpPr>
          <p:cNvPr id="32" name="Text 30"/>
          <p:cNvSpPr/>
          <p:nvPr/>
        </p:nvSpPr>
        <p:spPr>
          <a:xfrm>
            <a:off x="1066800" y="53848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LBPH algorithm training process and model generation</a:t>
            </a:r>
            <a:endParaRPr lang="en-US" sz="1600" dirty="0"/>
          </a:p>
        </p:txBody>
      </p:sp>
      <p:sp>
        <p:nvSpPr>
          <p:cNvPr id="33" name="Shape 31"/>
          <p:cNvSpPr/>
          <p:nvPr/>
        </p:nvSpPr>
        <p:spPr>
          <a:xfrm>
            <a:off x="4292600" y="50419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34" name="Text 32"/>
          <p:cNvSpPr/>
          <p:nvPr/>
        </p:nvSpPr>
        <p:spPr>
          <a:xfrm>
            <a:off x="4441527" y="5156200"/>
            <a:ext cx="35242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08</a:t>
            </a:r>
            <a:endParaRPr lang="en-US" sz="1600" dirty="0"/>
          </a:p>
        </p:txBody>
      </p:sp>
      <p:sp>
        <p:nvSpPr>
          <p:cNvPr id="35" name="Text 33"/>
          <p:cNvSpPr/>
          <p:nvPr/>
        </p:nvSpPr>
        <p:spPr>
          <a:xfrm>
            <a:off x="4978400" y="50800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Working Process</a:t>
            </a:r>
            <a:endParaRPr lang="en-US" sz="1600" dirty="0"/>
          </a:p>
        </p:txBody>
      </p:sp>
      <p:sp>
        <p:nvSpPr>
          <p:cNvPr id="36" name="Text 34"/>
          <p:cNvSpPr/>
          <p:nvPr/>
        </p:nvSpPr>
        <p:spPr>
          <a:xfrm>
            <a:off x="4978400" y="53848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Real-time face detection and attendance marking workflow</a:t>
            </a:r>
            <a:endParaRPr lang="en-US" sz="1600" dirty="0"/>
          </a:p>
        </p:txBody>
      </p:sp>
      <p:sp>
        <p:nvSpPr>
          <p:cNvPr id="37" name="Shape 35"/>
          <p:cNvSpPr/>
          <p:nvPr/>
        </p:nvSpPr>
        <p:spPr>
          <a:xfrm>
            <a:off x="8204200" y="50419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38" name="Text 36"/>
          <p:cNvSpPr/>
          <p:nvPr/>
        </p:nvSpPr>
        <p:spPr>
          <a:xfrm>
            <a:off x="8354814" y="5156200"/>
            <a:ext cx="342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Oranienbaum" pitchFamily="34" charset="0"/>
                <a:ea typeface="Oranienbaum" pitchFamily="34" charset="-122"/>
                <a:cs typeface="Oranienbaum" pitchFamily="34" charset="-120"/>
              </a:rPr>
              <a:t>09</a:t>
            </a:r>
            <a:endParaRPr lang="en-US" sz="1600" dirty="0"/>
          </a:p>
        </p:txBody>
      </p:sp>
      <p:sp>
        <p:nvSpPr>
          <p:cNvPr id="39" name="Text 37"/>
          <p:cNvSpPr/>
          <p:nvPr/>
        </p:nvSpPr>
        <p:spPr>
          <a:xfrm>
            <a:off x="8890000" y="5080000"/>
            <a:ext cx="3019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Conclusion &amp; Future Scope</a:t>
            </a:r>
            <a:endParaRPr lang="en-US" sz="1600" dirty="0"/>
          </a:p>
        </p:txBody>
      </p:sp>
      <p:sp>
        <p:nvSpPr>
          <p:cNvPr id="40" name="Text 38"/>
          <p:cNvSpPr/>
          <p:nvPr/>
        </p:nvSpPr>
        <p:spPr>
          <a:xfrm>
            <a:off x="8890000" y="5384800"/>
            <a:ext cx="3000375" cy="419100"/>
          </a:xfrm>
          <a:prstGeom prst="rect">
            <a:avLst/>
          </a:prstGeom>
          <a:noFill/>
          <a:ln/>
        </p:spPr>
        <p:txBody>
          <a:bodyPr wrap="square" lIns="0" tIns="0" rIns="0" bIns="0" rtlCol="0" anchor="ctr"/>
          <a:lstStyle/>
          <a:p>
            <a:pPr>
              <a:lnSpc>
                <a:spcPct val="110000"/>
              </a:lnSpc>
            </a:pPr>
            <a:r>
              <a:rPr lang="en-US" sz="1200" dirty="0">
                <a:solidFill>
                  <a:srgbClr val="A3A3A3"/>
                </a:solidFill>
                <a:latin typeface="Quattrocento Sans" pitchFamily="34" charset="0"/>
                <a:ea typeface="Quattrocento Sans" pitchFamily="34" charset="-122"/>
                <a:cs typeface="Quattrocento Sans" pitchFamily="34" charset="-120"/>
              </a:rPr>
              <a:t>Project achievements and roadmap for future enhancements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71151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01 / Introduction</a:t>
            </a:r>
            <a:endParaRPr lang="en-US" sz="1600" dirty="0"/>
          </a:p>
        </p:txBody>
      </p:sp>
      <p:sp>
        <p:nvSpPr>
          <p:cNvPr id="3" name="Text 1"/>
          <p:cNvSpPr/>
          <p:nvPr/>
        </p:nvSpPr>
        <p:spPr>
          <a:xfrm>
            <a:off x="381000" y="647700"/>
            <a:ext cx="7277100" cy="1143000"/>
          </a:xfrm>
          <a:prstGeom prst="rect">
            <a:avLst/>
          </a:prstGeom>
          <a:noFill/>
          <a:ln/>
        </p:spPr>
        <p:txBody>
          <a:bodyPr wrap="square" lIns="0" tIns="0" rIns="0" bIns="0" rtlCol="0" anchor="ctr"/>
          <a:lstStyle/>
          <a:p>
            <a:pPr>
              <a:lnSpc>
                <a:spcPct val="100000"/>
              </a:lnSpc>
            </a:pPr>
            <a:r>
              <a:rPr lang="en-US" sz="3600" b="1" dirty="0">
                <a:solidFill>
                  <a:srgbClr val="F2F2F2"/>
                </a:solidFill>
                <a:latin typeface="Oranienbaum" pitchFamily="34" charset="0"/>
                <a:ea typeface="Oranienbaum" pitchFamily="34" charset="-122"/>
                <a:cs typeface="Oranienbaum" pitchFamily="34" charset="-120"/>
              </a:rPr>
              <a:t>The Need for</a:t>
            </a:r>
            <a:endParaRPr lang="en-US" sz="1600" dirty="0"/>
          </a:p>
          <a:p>
            <a:pPr>
              <a:lnSpc>
                <a:spcPct val="100000"/>
              </a:lnSpc>
            </a:pPr>
            <a:r>
              <a:rPr lang="en-US" sz="3600" b="1" dirty="0">
                <a:solidFill>
                  <a:srgbClr val="F2F2F2"/>
                </a:solidFill>
                <a:latin typeface="Oranienbaum" pitchFamily="34" charset="0"/>
                <a:ea typeface="Oranienbaum" pitchFamily="34" charset="-122"/>
                <a:cs typeface="Oranienbaum" pitchFamily="34" charset="-120"/>
              </a:rPr>
              <a:t>Smart Attendance</a:t>
            </a:r>
            <a:endParaRPr lang="en-US" sz="1600" dirty="0"/>
          </a:p>
        </p:txBody>
      </p:sp>
      <p:sp>
        <p:nvSpPr>
          <p:cNvPr id="4" name="Shape 2"/>
          <p:cNvSpPr/>
          <p:nvPr/>
        </p:nvSpPr>
        <p:spPr>
          <a:xfrm>
            <a:off x="381000" y="19431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400050" y="3012281"/>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C9A36A"/>
          </a:solidFill>
          <a:ln/>
        </p:spPr>
        <p:txBody>
          <a:bodyPr/>
          <a:lstStyle/>
          <a:p>
            <a:endParaRPr lang="en-IN"/>
          </a:p>
        </p:txBody>
      </p:sp>
      <p:sp>
        <p:nvSpPr>
          <p:cNvPr id="6" name="Text 4"/>
          <p:cNvSpPr/>
          <p:nvPr/>
        </p:nvSpPr>
        <p:spPr>
          <a:xfrm>
            <a:off x="647700" y="3012281"/>
            <a:ext cx="68961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Why Attendance Matters</a:t>
            </a:r>
            <a:endParaRPr lang="en-US" sz="1600" dirty="0"/>
          </a:p>
        </p:txBody>
      </p:sp>
      <p:sp>
        <p:nvSpPr>
          <p:cNvPr id="7" name="Text 5"/>
          <p:cNvSpPr/>
          <p:nvPr/>
        </p:nvSpPr>
        <p:spPr>
          <a:xfrm>
            <a:off x="647700" y="3431381"/>
            <a:ext cx="6867525" cy="838200"/>
          </a:xfrm>
          <a:prstGeom prst="rect">
            <a:avLst/>
          </a:prstGeom>
          <a:noFill/>
          <a:ln/>
        </p:spPr>
        <p:txBody>
          <a:bodyPr wrap="square" lIns="0" tIns="0" rIns="0" bIns="0" rtlCol="0" anchor="ctr"/>
          <a:lstStyle/>
          <a:p>
            <a:pPr>
              <a:lnSpc>
                <a:spcPct val="140000"/>
              </a:lnSpc>
            </a:pPr>
            <a:r>
              <a:rPr lang="en-US" sz="1350" dirty="0">
                <a:solidFill>
                  <a:srgbClr val="B8B8B8"/>
                </a:solidFill>
                <a:latin typeface="Quattrocento Sans" pitchFamily="34" charset="0"/>
                <a:ea typeface="Quattrocento Sans" pitchFamily="34" charset="-122"/>
                <a:cs typeface="Quattrocento Sans" pitchFamily="34" charset="-120"/>
              </a:rPr>
              <a:t>Attendance tracking is fundamental in educational institutions for monitoring student participation, ensuring academic integrity, and maintaining institutional accountability. However, traditional methods create significant operational challenges.</a:t>
            </a:r>
            <a:endParaRPr lang="en-US" sz="1600" dirty="0"/>
          </a:p>
        </p:txBody>
      </p:sp>
      <p:sp>
        <p:nvSpPr>
          <p:cNvPr id="8" name="Shape 6"/>
          <p:cNvSpPr/>
          <p:nvPr/>
        </p:nvSpPr>
        <p:spPr>
          <a:xfrm>
            <a:off x="400050" y="4495800"/>
            <a:ext cx="38100" cy="1257300"/>
          </a:xfrm>
          <a:custGeom>
            <a:avLst/>
            <a:gdLst/>
            <a:ahLst/>
            <a:cxnLst/>
            <a:rect l="l" t="t" r="r" b="b"/>
            <a:pathLst>
              <a:path w="38100" h="1257300">
                <a:moveTo>
                  <a:pt x="0" y="0"/>
                </a:moveTo>
                <a:lnTo>
                  <a:pt x="38100" y="0"/>
                </a:lnTo>
                <a:lnTo>
                  <a:pt x="38100" y="1257300"/>
                </a:lnTo>
                <a:lnTo>
                  <a:pt x="0" y="1257300"/>
                </a:lnTo>
                <a:lnTo>
                  <a:pt x="0" y="0"/>
                </a:lnTo>
                <a:close/>
              </a:path>
            </a:pathLst>
          </a:custGeom>
          <a:solidFill>
            <a:srgbClr val="C9A36A"/>
          </a:solidFill>
          <a:ln/>
        </p:spPr>
        <p:txBody>
          <a:bodyPr/>
          <a:lstStyle/>
          <a:p>
            <a:endParaRPr lang="en-IN"/>
          </a:p>
        </p:txBody>
      </p:sp>
      <p:sp>
        <p:nvSpPr>
          <p:cNvPr id="9" name="Text 7"/>
          <p:cNvSpPr/>
          <p:nvPr/>
        </p:nvSpPr>
        <p:spPr>
          <a:xfrm>
            <a:off x="647700" y="4495800"/>
            <a:ext cx="68961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Challenges of Traditional Methods</a:t>
            </a:r>
            <a:endParaRPr lang="en-US" sz="1600" dirty="0"/>
          </a:p>
        </p:txBody>
      </p:sp>
      <p:sp>
        <p:nvSpPr>
          <p:cNvPr id="10" name="Text 8"/>
          <p:cNvSpPr/>
          <p:nvPr/>
        </p:nvSpPr>
        <p:spPr>
          <a:xfrm>
            <a:off x="647700" y="4914900"/>
            <a:ext cx="6867525" cy="838200"/>
          </a:xfrm>
          <a:prstGeom prst="rect">
            <a:avLst/>
          </a:prstGeom>
          <a:noFill/>
          <a:ln/>
        </p:spPr>
        <p:txBody>
          <a:bodyPr wrap="square" lIns="0" tIns="0" rIns="0" bIns="0" rtlCol="0" anchor="ctr"/>
          <a:lstStyle/>
          <a:p>
            <a:pPr>
              <a:lnSpc>
                <a:spcPct val="140000"/>
              </a:lnSpc>
            </a:pPr>
            <a:r>
              <a:rPr lang="en-US" sz="1350" dirty="0">
                <a:solidFill>
                  <a:srgbClr val="B8B8B8"/>
                </a:solidFill>
                <a:latin typeface="Quattrocento Sans" pitchFamily="34" charset="0"/>
                <a:ea typeface="Quattrocento Sans" pitchFamily="34" charset="-122"/>
                <a:cs typeface="Quattrocento Sans" pitchFamily="34" charset="-120"/>
              </a:rPr>
              <a:t>Manual roll calls are time-consuming, prone to human error, and susceptible to proxy attendance where one student marks attendance for another. These inefficiencies waste valuable class time and compromise data accuracy.</a:t>
            </a:r>
            <a:endParaRPr lang="en-US" sz="1600" dirty="0"/>
          </a:p>
        </p:txBody>
      </p:sp>
      <p:sp>
        <p:nvSpPr>
          <p:cNvPr id="11" name="Shape 9"/>
          <p:cNvSpPr/>
          <p:nvPr/>
        </p:nvSpPr>
        <p:spPr>
          <a:xfrm>
            <a:off x="7813675" y="322660"/>
            <a:ext cx="3997325" cy="3740150"/>
          </a:xfrm>
          <a:custGeom>
            <a:avLst/>
            <a:gdLst/>
            <a:ahLst/>
            <a:cxnLst/>
            <a:rect l="l" t="t" r="r" b="b"/>
            <a:pathLst>
              <a:path w="3997325" h="3740150">
                <a:moveTo>
                  <a:pt x="0" y="0"/>
                </a:moveTo>
                <a:lnTo>
                  <a:pt x="3997325" y="0"/>
                </a:lnTo>
                <a:lnTo>
                  <a:pt x="3997325" y="3740150"/>
                </a:lnTo>
                <a:lnTo>
                  <a:pt x="0" y="3740150"/>
                </a:lnTo>
                <a:lnTo>
                  <a:pt x="0" y="0"/>
                </a:lnTo>
                <a:close/>
              </a:path>
            </a:pathLst>
          </a:custGeom>
          <a:solidFill>
            <a:srgbClr val="1A1A1A"/>
          </a:solidFill>
          <a:ln w="8467">
            <a:solidFill>
              <a:srgbClr val="2B2B2B"/>
            </a:solidFill>
            <a:prstDash val="solid"/>
          </a:ln>
        </p:spPr>
        <p:txBody>
          <a:bodyPr/>
          <a:lstStyle/>
          <a:p>
            <a:endParaRPr lang="en-IN"/>
          </a:p>
        </p:txBody>
      </p:sp>
      <p:sp>
        <p:nvSpPr>
          <p:cNvPr id="12" name="Shape 10"/>
          <p:cNvSpPr/>
          <p:nvPr/>
        </p:nvSpPr>
        <p:spPr>
          <a:xfrm>
            <a:off x="8159750" y="640160"/>
            <a:ext cx="285750" cy="285750"/>
          </a:xfrm>
          <a:custGeom>
            <a:avLst/>
            <a:gdLst/>
            <a:ahLst/>
            <a:cxnLst/>
            <a:rect l="l" t="t" r="r" b="b"/>
            <a:pathLst>
              <a:path w="285750" h="285750">
                <a:moveTo>
                  <a:pt x="142875" y="0"/>
                </a:moveTo>
                <a:cubicBezTo>
                  <a:pt x="151079" y="0"/>
                  <a:pt x="158614" y="4521"/>
                  <a:pt x="162520" y="11720"/>
                </a:cubicBezTo>
                <a:lnTo>
                  <a:pt x="283071" y="234962"/>
                </a:lnTo>
                <a:cubicBezTo>
                  <a:pt x="286810" y="241883"/>
                  <a:pt x="286643" y="250254"/>
                  <a:pt x="282625" y="257008"/>
                </a:cubicBezTo>
                <a:cubicBezTo>
                  <a:pt x="278606" y="263761"/>
                  <a:pt x="271295" y="267891"/>
                  <a:pt x="263426" y="267891"/>
                </a:cubicBezTo>
                <a:lnTo>
                  <a:pt x="22324" y="267891"/>
                </a:lnTo>
                <a:cubicBezTo>
                  <a:pt x="14455" y="267891"/>
                  <a:pt x="7200" y="263761"/>
                  <a:pt x="3125" y="257008"/>
                </a:cubicBezTo>
                <a:cubicBezTo>
                  <a:pt x="-949" y="250254"/>
                  <a:pt x="-1060" y="241883"/>
                  <a:pt x="2679" y="234962"/>
                </a:cubicBezTo>
                <a:lnTo>
                  <a:pt x="123230" y="11720"/>
                </a:lnTo>
                <a:cubicBezTo>
                  <a:pt x="127136" y="4521"/>
                  <a:pt x="134671" y="0"/>
                  <a:pt x="142875" y="0"/>
                </a:cubicBezTo>
                <a:close/>
                <a:moveTo>
                  <a:pt x="142875" y="93762"/>
                </a:moveTo>
                <a:cubicBezTo>
                  <a:pt x="135452" y="93762"/>
                  <a:pt x="129480" y="99733"/>
                  <a:pt x="129480" y="107156"/>
                </a:cubicBezTo>
                <a:lnTo>
                  <a:pt x="129480" y="169664"/>
                </a:lnTo>
                <a:cubicBezTo>
                  <a:pt x="129480" y="177087"/>
                  <a:pt x="135452" y="183059"/>
                  <a:pt x="142875" y="183059"/>
                </a:cubicBezTo>
                <a:cubicBezTo>
                  <a:pt x="150298" y="183059"/>
                  <a:pt x="156270" y="177087"/>
                  <a:pt x="156270" y="169664"/>
                </a:cubicBezTo>
                <a:lnTo>
                  <a:pt x="156270" y="107156"/>
                </a:lnTo>
                <a:cubicBezTo>
                  <a:pt x="156270" y="99733"/>
                  <a:pt x="150298" y="93762"/>
                  <a:pt x="142875" y="93762"/>
                </a:cubicBezTo>
                <a:close/>
                <a:moveTo>
                  <a:pt x="157776" y="214313"/>
                </a:moveTo>
                <a:cubicBezTo>
                  <a:pt x="158115" y="208781"/>
                  <a:pt x="155357" y="203519"/>
                  <a:pt x="150615" y="200651"/>
                </a:cubicBezTo>
                <a:cubicBezTo>
                  <a:pt x="145874" y="197783"/>
                  <a:pt x="139932" y="197783"/>
                  <a:pt x="135190" y="200651"/>
                </a:cubicBezTo>
                <a:cubicBezTo>
                  <a:pt x="130449" y="203519"/>
                  <a:pt x="127690" y="208781"/>
                  <a:pt x="128029" y="214312"/>
                </a:cubicBezTo>
                <a:cubicBezTo>
                  <a:pt x="127690" y="219844"/>
                  <a:pt x="130449" y="225106"/>
                  <a:pt x="135190" y="227974"/>
                </a:cubicBezTo>
                <a:cubicBezTo>
                  <a:pt x="139932" y="230842"/>
                  <a:pt x="145874" y="230842"/>
                  <a:pt x="150615" y="227974"/>
                </a:cubicBezTo>
                <a:cubicBezTo>
                  <a:pt x="155357" y="225106"/>
                  <a:pt x="158115" y="219844"/>
                  <a:pt x="157776" y="214313"/>
                </a:cubicBezTo>
                <a:close/>
              </a:path>
            </a:pathLst>
          </a:custGeom>
          <a:solidFill>
            <a:srgbClr val="C9A36A"/>
          </a:solidFill>
          <a:ln/>
        </p:spPr>
        <p:txBody>
          <a:bodyPr/>
          <a:lstStyle/>
          <a:p>
            <a:endParaRPr lang="en-IN"/>
          </a:p>
        </p:txBody>
      </p:sp>
      <p:sp>
        <p:nvSpPr>
          <p:cNvPr id="13" name="Text 11"/>
          <p:cNvSpPr/>
          <p:nvPr/>
        </p:nvSpPr>
        <p:spPr>
          <a:xfrm>
            <a:off x="8631238" y="630635"/>
            <a:ext cx="1152525"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Key Issues</a:t>
            </a:r>
            <a:endParaRPr lang="en-US" sz="1600" dirty="0"/>
          </a:p>
        </p:txBody>
      </p:sp>
      <p:sp>
        <p:nvSpPr>
          <p:cNvPr id="14" name="Shape 12"/>
          <p:cNvSpPr/>
          <p:nvPr/>
        </p:nvSpPr>
        <p:spPr>
          <a:xfrm>
            <a:off x="8121650" y="124023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15" name="Text 13"/>
          <p:cNvSpPr/>
          <p:nvPr/>
        </p:nvSpPr>
        <p:spPr>
          <a:xfrm>
            <a:off x="8312150" y="1164035"/>
            <a:ext cx="3276600" cy="5334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Time Inefficiency:</a:t>
            </a:r>
            <a:r>
              <a:rPr lang="en-US" sz="1350" dirty="0">
                <a:solidFill>
                  <a:srgbClr val="B8B8B8"/>
                </a:solidFill>
                <a:latin typeface="Quattrocento Sans" pitchFamily="34" charset="0"/>
                <a:ea typeface="Quattrocento Sans" pitchFamily="34" charset="-122"/>
                <a:cs typeface="Quattrocento Sans" pitchFamily="34" charset="-120"/>
              </a:rPr>
              <a:t> Manual processes consume 5-10 minutes per class</a:t>
            </a:r>
            <a:endParaRPr lang="en-US" sz="1600" dirty="0"/>
          </a:p>
        </p:txBody>
      </p:sp>
      <p:sp>
        <p:nvSpPr>
          <p:cNvPr id="16" name="Shape 14"/>
          <p:cNvSpPr/>
          <p:nvPr/>
        </p:nvSpPr>
        <p:spPr>
          <a:xfrm>
            <a:off x="8121650" y="192603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17" name="Text 15"/>
          <p:cNvSpPr/>
          <p:nvPr/>
        </p:nvSpPr>
        <p:spPr>
          <a:xfrm>
            <a:off x="8312150" y="1849835"/>
            <a:ext cx="3276600" cy="5334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Proxy Attendance:</a:t>
            </a:r>
            <a:r>
              <a:rPr lang="en-US" sz="1350" dirty="0">
                <a:solidFill>
                  <a:srgbClr val="B8B8B8"/>
                </a:solidFill>
                <a:latin typeface="Quattrocento Sans" pitchFamily="34" charset="0"/>
                <a:ea typeface="Quattrocento Sans" pitchFamily="34" charset="-122"/>
                <a:cs typeface="Quattrocento Sans" pitchFamily="34" charset="-120"/>
              </a:rPr>
              <a:t> Students can easily manipulate the system</a:t>
            </a:r>
            <a:endParaRPr lang="en-US" sz="1600" dirty="0"/>
          </a:p>
        </p:txBody>
      </p:sp>
      <p:sp>
        <p:nvSpPr>
          <p:cNvPr id="18" name="Shape 16"/>
          <p:cNvSpPr/>
          <p:nvPr/>
        </p:nvSpPr>
        <p:spPr>
          <a:xfrm>
            <a:off x="8121650" y="261183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19" name="Text 17"/>
          <p:cNvSpPr/>
          <p:nvPr/>
        </p:nvSpPr>
        <p:spPr>
          <a:xfrm>
            <a:off x="8312150" y="2535635"/>
            <a:ext cx="3276600" cy="5334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Data Errors:</a:t>
            </a:r>
            <a:r>
              <a:rPr lang="en-US" sz="1350" dirty="0">
                <a:solidFill>
                  <a:srgbClr val="B8B8B8"/>
                </a:solidFill>
                <a:latin typeface="Quattrocento Sans" pitchFamily="34" charset="0"/>
                <a:ea typeface="Quattrocento Sans" pitchFamily="34" charset="-122"/>
                <a:cs typeface="Quattrocento Sans" pitchFamily="34" charset="-120"/>
              </a:rPr>
              <a:t> Manual entry leads to inaccuracies in records</a:t>
            </a:r>
            <a:endParaRPr lang="en-US" sz="1600" dirty="0"/>
          </a:p>
        </p:txBody>
      </p:sp>
      <p:sp>
        <p:nvSpPr>
          <p:cNvPr id="20" name="Shape 18"/>
          <p:cNvSpPr/>
          <p:nvPr/>
        </p:nvSpPr>
        <p:spPr>
          <a:xfrm>
            <a:off x="8121650" y="329763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21" name="Text 19"/>
          <p:cNvSpPr/>
          <p:nvPr/>
        </p:nvSpPr>
        <p:spPr>
          <a:xfrm>
            <a:off x="8312150" y="3221435"/>
            <a:ext cx="3276600" cy="5334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Lack of Security:</a:t>
            </a:r>
            <a:r>
              <a:rPr lang="en-US" sz="1350" dirty="0">
                <a:solidFill>
                  <a:srgbClr val="B8B8B8"/>
                </a:solidFill>
                <a:latin typeface="Quattrocento Sans" pitchFamily="34" charset="0"/>
                <a:ea typeface="Quattrocento Sans" pitchFamily="34" charset="-122"/>
                <a:cs typeface="Quattrocento Sans" pitchFamily="34" charset="-120"/>
              </a:rPr>
              <a:t> No verification mechanism in place</a:t>
            </a:r>
            <a:endParaRPr lang="en-US" sz="1600" dirty="0"/>
          </a:p>
        </p:txBody>
      </p:sp>
      <p:sp>
        <p:nvSpPr>
          <p:cNvPr id="22" name="Shape 20"/>
          <p:cNvSpPr/>
          <p:nvPr/>
        </p:nvSpPr>
        <p:spPr>
          <a:xfrm>
            <a:off x="7813675" y="4297759"/>
            <a:ext cx="3997325" cy="2235200"/>
          </a:xfrm>
          <a:custGeom>
            <a:avLst/>
            <a:gdLst/>
            <a:ahLst/>
            <a:cxnLst/>
            <a:rect l="l" t="t" r="r" b="b"/>
            <a:pathLst>
              <a:path w="3997325" h="2235200">
                <a:moveTo>
                  <a:pt x="0" y="0"/>
                </a:moveTo>
                <a:lnTo>
                  <a:pt x="3997325" y="0"/>
                </a:lnTo>
                <a:lnTo>
                  <a:pt x="3997325" y="2235200"/>
                </a:lnTo>
                <a:lnTo>
                  <a:pt x="0" y="223520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23" name="Shape 21"/>
          <p:cNvSpPr/>
          <p:nvPr/>
        </p:nvSpPr>
        <p:spPr>
          <a:xfrm>
            <a:off x="8102600" y="4548585"/>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C9A36A"/>
          </a:solidFill>
          <a:ln/>
        </p:spPr>
        <p:txBody>
          <a:bodyPr/>
          <a:lstStyle/>
          <a:p>
            <a:endParaRPr lang="en-IN"/>
          </a:p>
        </p:txBody>
      </p:sp>
      <p:sp>
        <p:nvSpPr>
          <p:cNvPr id="24" name="Text 22"/>
          <p:cNvSpPr/>
          <p:nvPr/>
        </p:nvSpPr>
        <p:spPr>
          <a:xfrm>
            <a:off x="8445500" y="4529535"/>
            <a:ext cx="1133475" cy="266700"/>
          </a:xfrm>
          <a:prstGeom prst="rect">
            <a:avLst/>
          </a:prstGeom>
          <a:noFill/>
          <a:ln/>
        </p:spPr>
        <p:txBody>
          <a:bodyPr wrap="square" lIns="0" tIns="0" rIns="0" bIns="0" rtlCol="0" anchor="ctr"/>
          <a:lstStyle/>
          <a:p>
            <a:pPr>
              <a:lnSpc>
                <a:spcPct val="120000"/>
              </a:lnSpc>
            </a:pPr>
            <a:r>
              <a:rPr lang="en-US" sz="1500" b="1" dirty="0">
                <a:solidFill>
                  <a:srgbClr val="C9A36A"/>
                </a:solidFill>
                <a:latin typeface="Quattrocento Sans" pitchFamily="34" charset="0"/>
                <a:ea typeface="Quattrocento Sans" pitchFamily="34" charset="-122"/>
                <a:cs typeface="Quattrocento Sans" pitchFamily="34" charset="-120"/>
              </a:rPr>
              <a:t>Our Solution</a:t>
            </a:r>
            <a:endParaRPr lang="en-US" sz="1600" dirty="0"/>
          </a:p>
        </p:txBody>
      </p:sp>
      <p:sp>
        <p:nvSpPr>
          <p:cNvPr id="25" name="Text 23"/>
          <p:cNvSpPr/>
          <p:nvPr/>
        </p:nvSpPr>
        <p:spPr>
          <a:xfrm>
            <a:off x="8045450" y="4910535"/>
            <a:ext cx="3619500" cy="1390650"/>
          </a:xfrm>
          <a:prstGeom prst="rect">
            <a:avLst/>
          </a:prstGeom>
          <a:noFill/>
          <a:ln/>
        </p:spPr>
        <p:txBody>
          <a:bodyPr wrap="square" lIns="0" tIns="0" rIns="0" bIns="0" rtlCol="0" anchor="ctr"/>
          <a:lstStyle/>
          <a:p>
            <a:pPr>
              <a:lnSpc>
                <a:spcPct val="140000"/>
              </a:lnSpc>
            </a:pPr>
            <a:r>
              <a:rPr lang="en-US" sz="1350" dirty="0">
                <a:solidFill>
                  <a:srgbClr val="F2F2F2"/>
                </a:solidFill>
                <a:latin typeface="Quattrocento Sans" pitchFamily="34" charset="0"/>
                <a:ea typeface="Quattrocento Sans" pitchFamily="34" charset="-122"/>
                <a:cs typeface="Quattrocento Sans" pitchFamily="34" charset="-120"/>
              </a:rPr>
              <a:t>A </a:t>
            </a:r>
            <a:r>
              <a:rPr lang="en-US" sz="1350" b="1" dirty="0">
                <a:solidFill>
                  <a:srgbClr val="F2F2F2"/>
                </a:solidFill>
                <a:latin typeface="Quattrocento Sans" pitchFamily="34" charset="0"/>
                <a:ea typeface="Quattrocento Sans" pitchFamily="34" charset="-122"/>
                <a:cs typeface="Quattrocento Sans" pitchFamily="34" charset="-120"/>
              </a:rPr>
              <a:t>Face Recognition-based Attendance System</a:t>
            </a:r>
            <a:r>
              <a:rPr lang="en-US" sz="1350" dirty="0">
                <a:solidFill>
                  <a:srgbClr val="F2F2F2"/>
                </a:solidFill>
                <a:latin typeface="Quattrocento Sans" pitchFamily="34" charset="0"/>
                <a:ea typeface="Quattrocento Sans" pitchFamily="34" charset="-122"/>
                <a:cs typeface="Quattrocento Sans" pitchFamily="34" charset="-120"/>
              </a:rPr>
              <a:t> that automates the entire process, eliminates manual errors, prevents proxy attendance, and operates securely without requiring physical contact.</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02 / Problem Statement</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Critical Challenges</a:t>
            </a:r>
            <a:endParaRPr lang="en-US" sz="1600" dirty="0"/>
          </a:p>
        </p:txBody>
      </p:sp>
      <p:sp>
        <p:nvSpPr>
          <p:cNvPr id="4" name="Shape 2"/>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384175" y="1527175"/>
            <a:ext cx="5597525" cy="2435225"/>
          </a:xfrm>
          <a:custGeom>
            <a:avLst/>
            <a:gdLst/>
            <a:ahLst/>
            <a:cxnLst/>
            <a:rect l="l" t="t" r="r" b="b"/>
            <a:pathLst>
              <a:path w="5597525" h="2435225">
                <a:moveTo>
                  <a:pt x="0" y="0"/>
                </a:moveTo>
                <a:lnTo>
                  <a:pt x="5597525" y="0"/>
                </a:lnTo>
                <a:lnTo>
                  <a:pt x="5597525" y="2435225"/>
                </a:lnTo>
                <a:lnTo>
                  <a:pt x="0" y="2435225"/>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615950" y="185896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7" name="Shape 5"/>
          <p:cNvSpPr/>
          <p:nvPr/>
        </p:nvSpPr>
        <p:spPr>
          <a:xfrm>
            <a:off x="768350" y="2011363"/>
            <a:ext cx="228600" cy="228600"/>
          </a:xfrm>
          <a:custGeom>
            <a:avLst/>
            <a:gdLst/>
            <a:ahLst/>
            <a:cxnLst/>
            <a:rect l="l" t="t" r="r" b="b"/>
            <a:pathLst>
              <a:path w="228600" h="228600">
                <a:moveTo>
                  <a:pt x="114300" y="0"/>
                </a:moveTo>
                <a:cubicBezTo>
                  <a:pt x="177384" y="0"/>
                  <a:pt x="228600" y="51216"/>
                  <a:pt x="228600" y="114300"/>
                </a:cubicBezTo>
                <a:cubicBezTo>
                  <a:pt x="228600" y="177384"/>
                  <a:pt x="177384" y="228600"/>
                  <a:pt x="114300" y="228600"/>
                </a:cubicBezTo>
                <a:cubicBezTo>
                  <a:pt x="51216" y="228600"/>
                  <a:pt x="0" y="177384"/>
                  <a:pt x="0" y="114300"/>
                </a:cubicBezTo>
                <a:cubicBezTo>
                  <a:pt x="0" y="51216"/>
                  <a:pt x="51216" y="0"/>
                  <a:pt x="114300" y="0"/>
                </a:cubicBezTo>
                <a:close/>
                <a:moveTo>
                  <a:pt x="103584" y="53578"/>
                </a:moveTo>
                <a:lnTo>
                  <a:pt x="103584" y="114300"/>
                </a:lnTo>
                <a:cubicBezTo>
                  <a:pt x="103584" y="117872"/>
                  <a:pt x="105370" y="121221"/>
                  <a:pt x="108362" y="123230"/>
                </a:cubicBezTo>
                <a:lnTo>
                  <a:pt x="151224" y="151805"/>
                </a:lnTo>
                <a:cubicBezTo>
                  <a:pt x="156136" y="155109"/>
                  <a:pt x="162788" y="153769"/>
                  <a:pt x="166092" y="148813"/>
                </a:cubicBezTo>
                <a:cubicBezTo>
                  <a:pt x="169396" y="143857"/>
                  <a:pt x="168057" y="137249"/>
                  <a:pt x="163101" y="133945"/>
                </a:cubicBezTo>
                <a:lnTo>
                  <a:pt x="125016" y="108585"/>
                </a:lnTo>
                <a:lnTo>
                  <a:pt x="125016" y="53578"/>
                </a:lnTo>
                <a:cubicBezTo>
                  <a:pt x="125016" y="47640"/>
                  <a:pt x="120238" y="42863"/>
                  <a:pt x="114300" y="42863"/>
                </a:cubicBezTo>
                <a:cubicBezTo>
                  <a:pt x="108362" y="42863"/>
                  <a:pt x="103584" y="47640"/>
                  <a:pt x="103584" y="53578"/>
                </a:cubicBezTo>
                <a:close/>
              </a:path>
            </a:pathLst>
          </a:custGeom>
          <a:solidFill>
            <a:srgbClr val="C9A36A"/>
          </a:solidFill>
          <a:ln/>
        </p:spPr>
        <p:txBody>
          <a:bodyPr/>
          <a:lstStyle/>
          <a:p>
            <a:endParaRPr lang="en-IN"/>
          </a:p>
        </p:txBody>
      </p:sp>
      <p:sp>
        <p:nvSpPr>
          <p:cNvPr id="8" name="Text 6"/>
          <p:cNvSpPr/>
          <p:nvPr/>
        </p:nvSpPr>
        <p:spPr>
          <a:xfrm>
            <a:off x="1301750" y="1973263"/>
            <a:ext cx="18288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Time-Consuming</a:t>
            </a:r>
            <a:endParaRPr lang="en-US" sz="1600" dirty="0"/>
          </a:p>
        </p:txBody>
      </p:sp>
      <p:sp>
        <p:nvSpPr>
          <p:cNvPr id="9" name="Text 7"/>
          <p:cNvSpPr/>
          <p:nvPr/>
        </p:nvSpPr>
        <p:spPr>
          <a:xfrm>
            <a:off x="615950" y="2544763"/>
            <a:ext cx="521017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Manual attendance marking takes 5-10 minutes per class session, significantly reducing effective teaching time. In a typical semester, this accumulates to hours of lost instructional time.</a:t>
            </a:r>
            <a:endParaRPr lang="en-US" sz="1600" dirty="0"/>
          </a:p>
        </p:txBody>
      </p:sp>
      <p:sp>
        <p:nvSpPr>
          <p:cNvPr id="10" name="Text 8"/>
          <p:cNvSpPr/>
          <p:nvPr/>
        </p:nvSpPr>
        <p:spPr>
          <a:xfrm>
            <a:off x="615950" y="3402013"/>
            <a:ext cx="521017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Impact:</a:t>
            </a:r>
            <a:r>
              <a:rPr lang="en-US" sz="1200" dirty="0">
                <a:solidFill>
                  <a:srgbClr val="A3A3A3"/>
                </a:solidFill>
                <a:latin typeface="Quattrocento Sans" pitchFamily="34" charset="0"/>
                <a:ea typeface="Quattrocento Sans" pitchFamily="34" charset="-122"/>
                <a:cs typeface="Quattrocento Sans" pitchFamily="34" charset="-120"/>
              </a:rPr>
              <a:t> Reduced learning efficiency and instructor productivity</a:t>
            </a:r>
            <a:endParaRPr lang="en-US" sz="1600" dirty="0"/>
          </a:p>
        </p:txBody>
      </p:sp>
      <p:sp>
        <p:nvSpPr>
          <p:cNvPr id="11" name="Shape 9"/>
          <p:cNvSpPr/>
          <p:nvPr/>
        </p:nvSpPr>
        <p:spPr>
          <a:xfrm>
            <a:off x="384175" y="4121152"/>
            <a:ext cx="5597525" cy="2435225"/>
          </a:xfrm>
          <a:custGeom>
            <a:avLst/>
            <a:gdLst/>
            <a:ahLst/>
            <a:cxnLst/>
            <a:rect l="l" t="t" r="r" b="b"/>
            <a:pathLst>
              <a:path w="5597525" h="2435225">
                <a:moveTo>
                  <a:pt x="0" y="0"/>
                </a:moveTo>
                <a:lnTo>
                  <a:pt x="5597525" y="0"/>
                </a:lnTo>
                <a:lnTo>
                  <a:pt x="5597525" y="2435225"/>
                </a:lnTo>
                <a:lnTo>
                  <a:pt x="0" y="2435225"/>
                </a:lnTo>
                <a:lnTo>
                  <a:pt x="0" y="0"/>
                </a:lnTo>
                <a:close/>
              </a:path>
            </a:pathLst>
          </a:custGeom>
          <a:solidFill>
            <a:srgbClr val="1A1A1A"/>
          </a:solidFill>
          <a:ln w="8467">
            <a:solidFill>
              <a:srgbClr val="2B2B2B"/>
            </a:solidFill>
            <a:prstDash val="solid"/>
          </a:ln>
        </p:spPr>
        <p:txBody>
          <a:bodyPr/>
          <a:lstStyle/>
          <a:p>
            <a:endParaRPr lang="en-IN"/>
          </a:p>
        </p:txBody>
      </p:sp>
      <p:sp>
        <p:nvSpPr>
          <p:cNvPr id="12" name="Shape 10"/>
          <p:cNvSpPr/>
          <p:nvPr/>
        </p:nvSpPr>
        <p:spPr>
          <a:xfrm>
            <a:off x="615950" y="4452938"/>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13" name="Shape 11"/>
          <p:cNvSpPr/>
          <p:nvPr/>
        </p:nvSpPr>
        <p:spPr>
          <a:xfrm>
            <a:off x="782638" y="4605338"/>
            <a:ext cx="200025" cy="228600"/>
          </a:xfrm>
          <a:custGeom>
            <a:avLst/>
            <a:gdLst/>
            <a:ahLst/>
            <a:cxnLst/>
            <a:rect l="l" t="t" r="r" b="b"/>
            <a:pathLst>
              <a:path w="200025" h="228600">
                <a:moveTo>
                  <a:pt x="76349" y="-7144"/>
                </a:moveTo>
                <a:cubicBezTo>
                  <a:pt x="60097" y="-7144"/>
                  <a:pt x="50542" y="18886"/>
                  <a:pt x="45854" y="42863"/>
                </a:cubicBezTo>
                <a:lnTo>
                  <a:pt x="32147" y="42863"/>
                </a:lnTo>
                <a:cubicBezTo>
                  <a:pt x="26209" y="42863"/>
                  <a:pt x="21431" y="47640"/>
                  <a:pt x="21431" y="53578"/>
                </a:cubicBezTo>
                <a:cubicBezTo>
                  <a:pt x="21431" y="59516"/>
                  <a:pt x="26209" y="64294"/>
                  <a:pt x="32147" y="64294"/>
                </a:cubicBezTo>
                <a:lnTo>
                  <a:pt x="42863" y="64294"/>
                </a:lnTo>
                <a:lnTo>
                  <a:pt x="42863" y="78581"/>
                </a:lnTo>
                <a:cubicBezTo>
                  <a:pt x="42863" y="86171"/>
                  <a:pt x="44336" y="93405"/>
                  <a:pt x="47015" y="100013"/>
                </a:cubicBezTo>
                <a:lnTo>
                  <a:pt x="42863" y="100013"/>
                </a:lnTo>
                <a:lnTo>
                  <a:pt x="42863" y="100013"/>
                </a:lnTo>
                <a:lnTo>
                  <a:pt x="33710" y="100013"/>
                </a:lnTo>
                <a:cubicBezTo>
                  <a:pt x="26923" y="100013"/>
                  <a:pt x="21431" y="105504"/>
                  <a:pt x="21431" y="112291"/>
                </a:cubicBezTo>
                <a:cubicBezTo>
                  <a:pt x="21431" y="113630"/>
                  <a:pt x="21654" y="114925"/>
                  <a:pt x="22056" y="116175"/>
                </a:cubicBezTo>
                <a:lnTo>
                  <a:pt x="34960" y="154841"/>
                </a:lnTo>
                <a:cubicBezTo>
                  <a:pt x="17949" y="169485"/>
                  <a:pt x="7144" y="191140"/>
                  <a:pt x="7144" y="215339"/>
                </a:cubicBezTo>
                <a:cubicBezTo>
                  <a:pt x="7144" y="222662"/>
                  <a:pt x="13082" y="228600"/>
                  <a:pt x="20404" y="228600"/>
                </a:cubicBezTo>
                <a:lnTo>
                  <a:pt x="179621" y="228600"/>
                </a:lnTo>
                <a:cubicBezTo>
                  <a:pt x="186943" y="228600"/>
                  <a:pt x="192881" y="222662"/>
                  <a:pt x="192881" y="215339"/>
                </a:cubicBezTo>
                <a:cubicBezTo>
                  <a:pt x="192881" y="191140"/>
                  <a:pt x="182076" y="169485"/>
                  <a:pt x="165065" y="154885"/>
                </a:cubicBezTo>
                <a:lnTo>
                  <a:pt x="177969" y="116220"/>
                </a:lnTo>
                <a:cubicBezTo>
                  <a:pt x="178371" y="114970"/>
                  <a:pt x="178594" y="113675"/>
                  <a:pt x="178594" y="112335"/>
                </a:cubicBezTo>
                <a:cubicBezTo>
                  <a:pt x="178594" y="105549"/>
                  <a:pt x="173102" y="100057"/>
                  <a:pt x="166315" y="100057"/>
                </a:cubicBezTo>
                <a:lnTo>
                  <a:pt x="157162" y="100057"/>
                </a:lnTo>
                <a:lnTo>
                  <a:pt x="157162" y="100057"/>
                </a:lnTo>
                <a:lnTo>
                  <a:pt x="153010" y="100057"/>
                </a:lnTo>
                <a:cubicBezTo>
                  <a:pt x="155689" y="93449"/>
                  <a:pt x="157162" y="86216"/>
                  <a:pt x="157162" y="78626"/>
                </a:cubicBezTo>
                <a:lnTo>
                  <a:pt x="157162" y="64338"/>
                </a:lnTo>
                <a:lnTo>
                  <a:pt x="167878" y="64338"/>
                </a:lnTo>
                <a:cubicBezTo>
                  <a:pt x="173816" y="64338"/>
                  <a:pt x="178594" y="59561"/>
                  <a:pt x="178594" y="53623"/>
                </a:cubicBezTo>
                <a:cubicBezTo>
                  <a:pt x="178594" y="47685"/>
                  <a:pt x="173816" y="42907"/>
                  <a:pt x="167878" y="42907"/>
                </a:cubicBezTo>
                <a:lnTo>
                  <a:pt x="154171" y="42907"/>
                </a:lnTo>
                <a:cubicBezTo>
                  <a:pt x="149528" y="18931"/>
                  <a:pt x="139928" y="-7099"/>
                  <a:pt x="123676" y="-7099"/>
                </a:cubicBezTo>
                <a:cubicBezTo>
                  <a:pt x="119390" y="-7099"/>
                  <a:pt x="115193" y="-5358"/>
                  <a:pt x="111398" y="-3438"/>
                </a:cubicBezTo>
                <a:cubicBezTo>
                  <a:pt x="107737" y="-1607"/>
                  <a:pt x="103183" y="45"/>
                  <a:pt x="100012" y="45"/>
                </a:cubicBezTo>
                <a:cubicBezTo>
                  <a:pt x="96842" y="45"/>
                  <a:pt x="92288" y="-1607"/>
                  <a:pt x="88627" y="-3438"/>
                </a:cubicBezTo>
                <a:cubicBezTo>
                  <a:pt x="84832" y="-5402"/>
                  <a:pt x="80635" y="-7144"/>
                  <a:pt x="76349" y="-7144"/>
                </a:cubicBezTo>
                <a:close/>
                <a:moveTo>
                  <a:pt x="118184" y="209133"/>
                </a:moveTo>
                <a:lnTo>
                  <a:pt x="107112" y="177478"/>
                </a:lnTo>
                <a:lnTo>
                  <a:pt x="119569" y="162967"/>
                </a:lnTo>
                <a:cubicBezTo>
                  <a:pt x="120774" y="161538"/>
                  <a:pt x="121444" y="159752"/>
                  <a:pt x="121444" y="157877"/>
                </a:cubicBezTo>
                <a:cubicBezTo>
                  <a:pt x="121444" y="153546"/>
                  <a:pt x="117961" y="150063"/>
                  <a:pt x="113630" y="150063"/>
                </a:cubicBezTo>
                <a:lnTo>
                  <a:pt x="86395" y="150063"/>
                </a:lnTo>
                <a:cubicBezTo>
                  <a:pt x="82064" y="150063"/>
                  <a:pt x="78581" y="153546"/>
                  <a:pt x="78581" y="157877"/>
                </a:cubicBezTo>
                <a:cubicBezTo>
                  <a:pt x="78581" y="159752"/>
                  <a:pt x="79251" y="161538"/>
                  <a:pt x="80456" y="162967"/>
                </a:cubicBezTo>
                <a:lnTo>
                  <a:pt x="92913" y="177478"/>
                </a:lnTo>
                <a:lnTo>
                  <a:pt x="81841" y="209133"/>
                </a:lnTo>
                <a:lnTo>
                  <a:pt x="56391" y="128588"/>
                </a:lnTo>
                <a:lnTo>
                  <a:pt x="72330" y="128588"/>
                </a:lnTo>
                <a:cubicBezTo>
                  <a:pt x="80546" y="133142"/>
                  <a:pt x="89967" y="135731"/>
                  <a:pt x="100012" y="135731"/>
                </a:cubicBezTo>
                <a:cubicBezTo>
                  <a:pt x="110058" y="135731"/>
                  <a:pt x="119479" y="133142"/>
                  <a:pt x="127695" y="128588"/>
                </a:cubicBezTo>
                <a:lnTo>
                  <a:pt x="143634" y="128588"/>
                </a:lnTo>
                <a:lnTo>
                  <a:pt x="118184" y="209133"/>
                </a:lnTo>
                <a:close/>
                <a:moveTo>
                  <a:pt x="100013" y="114300"/>
                </a:moveTo>
                <a:cubicBezTo>
                  <a:pt x="84519" y="114300"/>
                  <a:pt x="71348" y="104433"/>
                  <a:pt x="66392" y="90636"/>
                </a:cubicBezTo>
                <a:cubicBezTo>
                  <a:pt x="68937" y="92065"/>
                  <a:pt x="71884" y="92869"/>
                  <a:pt x="75009" y="92869"/>
                </a:cubicBezTo>
                <a:lnTo>
                  <a:pt x="80546" y="92869"/>
                </a:lnTo>
                <a:cubicBezTo>
                  <a:pt x="87913" y="92869"/>
                  <a:pt x="94431" y="88136"/>
                  <a:pt x="96753" y="81171"/>
                </a:cubicBezTo>
                <a:cubicBezTo>
                  <a:pt x="97780" y="78045"/>
                  <a:pt x="102200" y="78045"/>
                  <a:pt x="103227" y="81171"/>
                </a:cubicBezTo>
                <a:cubicBezTo>
                  <a:pt x="105549" y="88136"/>
                  <a:pt x="112112" y="92869"/>
                  <a:pt x="119435" y="92869"/>
                </a:cubicBezTo>
                <a:lnTo>
                  <a:pt x="124971" y="92869"/>
                </a:lnTo>
                <a:cubicBezTo>
                  <a:pt x="128096" y="92869"/>
                  <a:pt x="131043" y="92065"/>
                  <a:pt x="133588" y="90636"/>
                </a:cubicBezTo>
                <a:cubicBezTo>
                  <a:pt x="128632" y="104433"/>
                  <a:pt x="115461" y="114300"/>
                  <a:pt x="99968" y="114300"/>
                </a:cubicBezTo>
                <a:close/>
              </a:path>
            </a:pathLst>
          </a:custGeom>
          <a:solidFill>
            <a:srgbClr val="C9A36A"/>
          </a:solidFill>
          <a:ln/>
        </p:spPr>
        <p:txBody>
          <a:bodyPr/>
          <a:lstStyle/>
          <a:p>
            <a:endParaRPr lang="en-IN"/>
          </a:p>
        </p:txBody>
      </p:sp>
      <p:sp>
        <p:nvSpPr>
          <p:cNvPr id="14" name="Text 12"/>
          <p:cNvSpPr/>
          <p:nvPr/>
        </p:nvSpPr>
        <p:spPr>
          <a:xfrm>
            <a:off x="1301750" y="4567238"/>
            <a:ext cx="1876425"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Proxy Attendance</a:t>
            </a:r>
            <a:endParaRPr lang="en-US" sz="1600" dirty="0"/>
          </a:p>
        </p:txBody>
      </p:sp>
      <p:sp>
        <p:nvSpPr>
          <p:cNvPr id="15" name="Text 13"/>
          <p:cNvSpPr/>
          <p:nvPr/>
        </p:nvSpPr>
        <p:spPr>
          <a:xfrm>
            <a:off x="615950" y="5138738"/>
            <a:ext cx="521017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Traditional methods allow students to mark attendance for absent classmates. This undermines academic integrity and makes it impossible to accurately track actual student participation.</a:t>
            </a:r>
            <a:endParaRPr lang="en-US" sz="1600" dirty="0"/>
          </a:p>
        </p:txBody>
      </p:sp>
      <p:sp>
        <p:nvSpPr>
          <p:cNvPr id="16" name="Text 14"/>
          <p:cNvSpPr/>
          <p:nvPr/>
        </p:nvSpPr>
        <p:spPr>
          <a:xfrm>
            <a:off x="615950" y="5995988"/>
            <a:ext cx="521017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Impact:</a:t>
            </a:r>
            <a:r>
              <a:rPr lang="en-US" sz="1200" dirty="0">
                <a:solidFill>
                  <a:srgbClr val="A3A3A3"/>
                </a:solidFill>
                <a:latin typeface="Quattrocento Sans" pitchFamily="34" charset="0"/>
                <a:ea typeface="Quattrocento Sans" pitchFamily="34" charset="-122"/>
                <a:cs typeface="Quattrocento Sans" pitchFamily="34" charset="-120"/>
              </a:rPr>
              <a:t> Compromised attendance data and institutional credibility</a:t>
            </a:r>
            <a:endParaRPr lang="en-US" sz="1600" dirty="0"/>
          </a:p>
        </p:txBody>
      </p:sp>
      <p:sp>
        <p:nvSpPr>
          <p:cNvPr id="17" name="Shape 15"/>
          <p:cNvSpPr/>
          <p:nvPr/>
        </p:nvSpPr>
        <p:spPr>
          <a:xfrm>
            <a:off x="6213475" y="1527175"/>
            <a:ext cx="5597525" cy="2235200"/>
          </a:xfrm>
          <a:custGeom>
            <a:avLst/>
            <a:gdLst/>
            <a:ahLst/>
            <a:cxnLst/>
            <a:rect l="l" t="t" r="r" b="b"/>
            <a:pathLst>
              <a:path w="5597525" h="2235200">
                <a:moveTo>
                  <a:pt x="0" y="0"/>
                </a:moveTo>
                <a:lnTo>
                  <a:pt x="5597525" y="0"/>
                </a:lnTo>
                <a:lnTo>
                  <a:pt x="5597525" y="2235200"/>
                </a:lnTo>
                <a:lnTo>
                  <a:pt x="0" y="2235200"/>
                </a:lnTo>
                <a:lnTo>
                  <a:pt x="0" y="0"/>
                </a:lnTo>
                <a:close/>
              </a:path>
            </a:pathLst>
          </a:custGeom>
          <a:solidFill>
            <a:srgbClr val="1A1A1A"/>
          </a:solidFill>
          <a:ln w="8467">
            <a:solidFill>
              <a:srgbClr val="2B2B2B"/>
            </a:solidFill>
            <a:prstDash val="solid"/>
          </a:ln>
        </p:spPr>
        <p:txBody>
          <a:bodyPr/>
          <a:lstStyle/>
          <a:p>
            <a:endParaRPr lang="en-IN"/>
          </a:p>
        </p:txBody>
      </p:sp>
      <p:sp>
        <p:nvSpPr>
          <p:cNvPr id="18" name="Shape 16"/>
          <p:cNvSpPr/>
          <p:nvPr/>
        </p:nvSpPr>
        <p:spPr>
          <a:xfrm>
            <a:off x="6445250" y="1758951"/>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19" name="Shape 17"/>
          <p:cNvSpPr/>
          <p:nvPr/>
        </p:nvSpPr>
        <p:spPr>
          <a:xfrm>
            <a:off x="6597650" y="1911351"/>
            <a:ext cx="228600" cy="228600"/>
          </a:xfrm>
          <a:custGeom>
            <a:avLst/>
            <a:gdLst/>
            <a:ahLst/>
            <a:cxnLst/>
            <a:rect l="l" t="t" r="r" b="b"/>
            <a:pathLst>
              <a:path w="228600" h="228600">
                <a:moveTo>
                  <a:pt x="21431" y="114300"/>
                </a:moveTo>
                <a:cubicBezTo>
                  <a:pt x="21431" y="62999"/>
                  <a:pt x="62999" y="21431"/>
                  <a:pt x="114300" y="21431"/>
                </a:cubicBezTo>
                <a:cubicBezTo>
                  <a:pt x="142473" y="21431"/>
                  <a:pt x="167700" y="33977"/>
                  <a:pt x="184755" y="53801"/>
                </a:cubicBezTo>
                <a:cubicBezTo>
                  <a:pt x="188595" y="58311"/>
                  <a:pt x="195382" y="58802"/>
                  <a:pt x="199846" y="54962"/>
                </a:cubicBezTo>
                <a:cubicBezTo>
                  <a:pt x="204311" y="51122"/>
                  <a:pt x="204847" y="44336"/>
                  <a:pt x="201007" y="39871"/>
                </a:cubicBezTo>
                <a:cubicBezTo>
                  <a:pt x="180067" y="15448"/>
                  <a:pt x="148992" y="0"/>
                  <a:pt x="114300" y="0"/>
                </a:cubicBezTo>
                <a:cubicBezTo>
                  <a:pt x="51167" y="0"/>
                  <a:pt x="0" y="51167"/>
                  <a:pt x="0" y="114300"/>
                </a:cubicBezTo>
                <a:lnTo>
                  <a:pt x="0" y="132159"/>
                </a:lnTo>
                <a:cubicBezTo>
                  <a:pt x="0" y="138098"/>
                  <a:pt x="4777" y="142875"/>
                  <a:pt x="10716" y="142875"/>
                </a:cubicBezTo>
                <a:cubicBezTo>
                  <a:pt x="16654" y="142875"/>
                  <a:pt x="21431" y="138098"/>
                  <a:pt x="21431" y="132159"/>
                </a:cubicBezTo>
                <a:lnTo>
                  <a:pt x="21431" y="114300"/>
                </a:lnTo>
                <a:close/>
                <a:moveTo>
                  <a:pt x="226144" y="90681"/>
                </a:moveTo>
                <a:cubicBezTo>
                  <a:pt x="224939" y="84877"/>
                  <a:pt x="219224" y="81171"/>
                  <a:pt x="213464" y="82421"/>
                </a:cubicBezTo>
                <a:cubicBezTo>
                  <a:pt x="207705" y="83671"/>
                  <a:pt x="203954" y="89342"/>
                  <a:pt x="205204" y="95101"/>
                </a:cubicBezTo>
                <a:cubicBezTo>
                  <a:pt x="206499" y="101307"/>
                  <a:pt x="207213" y="107737"/>
                  <a:pt x="207213" y="114345"/>
                </a:cubicBezTo>
                <a:lnTo>
                  <a:pt x="207213" y="132204"/>
                </a:lnTo>
                <a:cubicBezTo>
                  <a:pt x="207213" y="138142"/>
                  <a:pt x="211991" y="142920"/>
                  <a:pt x="217929" y="142920"/>
                </a:cubicBezTo>
                <a:cubicBezTo>
                  <a:pt x="223867" y="142920"/>
                  <a:pt x="228645" y="138142"/>
                  <a:pt x="228645" y="132204"/>
                </a:cubicBezTo>
                <a:lnTo>
                  <a:pt x="228645" y="114345"/>
                </a:lnTo>
                <a:cubicBezTo>
                  <a:pt x="228645" y="106263"/>
                  <a:pt x="227796" y="98361"/>
                  <a:pt x="226189" y="90726"/>
                </a:cubicBezTo>
                <a:close/>
                <a:moveTo>
                  <a:pt x="114300" y="35719"/>
                </a:moveTo>
                <a:cubicBezTo>
                  <a:pt x="105817" y="35719"/>
                  <a:pt x="97601" y="37058"/>
                  <a:pt x="89967" y="39559"/>
                </a:cubicBezTo>
                <a:cubicBezTo>
                  <a:pt x="83180" y="41791"/>
                  <a:pt x="81617" y="50140"/>
                  <a:pt x="86261" y="55587"/>
                </a:cubicBezTo>
                <a:cubicBezTo>
                  <a:pt x="89431" y="59293"/>
                  <a:pt x="94655" y="60409"/>
                  <a:pt x="99387" y="59115"/>
                </a:cubicBezTo>
                <a:cubicBezTo>
                  <a:pt x="104120" y="57820"/>
                  <a:pt x="109121" y="57150"/>
                  <a:pt x="114300" y="57150"/>
                </a:cubicBezTo>
                <a:cubicBezTo>
                  <a:pt x="145866" y="57150"/>
                  <a:pt x="171450" y="82734"/>
                  <a:pt x="171450" y="114300"/>
                </a:cubicBezTo>
                <a:lnTo>
                  <a:pt x="171450" y="125417"/>
                </a:lnTo>
                <a:cubicBezTo>
                  <a:pt x="171450" y="136669"/>
                  <a:pt x="170780" y="147876"/>
                  <a:pt x="169485" y="159038"/>
                </a:cubicBezTo>
                <a:cubicBezTo>
                  <a:pt x="168726" y="165556"/>
                  <a:pt x="173682" y="171450"/>
                  <a:pt x="180290" y="171450"/>
                </a:cubicBezTo>
                <a:cubicBezTo>
                  <a:pt x="185559" y="171450"/>
                  <a:pt x="190068" y="167610"/>
                  <a:pt x="190693" y="162386"/>
                </a:cubicBezTo>
                <a:cubicBezTo>
                  <a:pt x="192167" y="150153"/>
                  <a:pt x="192926" y="137830"/>
                  <a:pt x="192926" y="125462"/>
                </a:cubicBezTo>
                <a:lnTo>
                  <a:pt x="192926" y="114345"/>
                </a:lnTo>
                <a:cubicBezTo>
                  <a:pt x="192926" y="70946"/>
                  <a:pt x="157743" y="35763"/>
                  <a:pt x="114345" y="35763"/>
                </a:cubicBezTo>
                <a:close/>
                <a:moveTo>
                  <a:pt x="67285" y="66392"/>
                </a:moveTo>
                <a:cubicBezTo>
                  <a:pt x="63222" y="61659"/>
                  <a:pt x="55989" y="61302"/>
                  <a:pt x="52149" y="66214"/>
                </a:cubicBezTo>
                <a:cubicBezTo>
                  <a:pt x="41836" y="79519"/>
                  <a:pt x="35719" y="96173"/>
                  <a:pt x="35719" y="114300"/>
                </a:cubicBezTo>
                <a:lnTo>
                  <a:pt x="35719" y="125417"/>
                </a:lnTo>
                <a:cubicBezTo>
                  <a:pt x="35719" y="136222"/>
                  <a:pt x="34558" y="147027"/>
                  <a:pt x="32236" y="157520"/>
                </a:cubicBezTo>
                <a:cubicBezTo>
                  <a:pt x="30718" y="164485"/>
                  <a:pt x="35763" y="171405"/>
                  <a:pt x="42907" y="171405"/>
                </a:cubicBezTo>
                <a:cubicBezTo>
                  <a:pt x="47595" y="171405"/>
                  <a:pt x="51792" y="168280"/>
                  <a:pt x="52819" y="163681"/>
                </a:cubicBezTo>
                <a:cubicBezTo>
                  <a:pt x="55677" y="151135"/>
                  <a:pt x="57150" y="138321"/>
                  <a:pt x="57150" y="125373"/>
                </a:cubicBezTo>
                <a:lnTo>
                  <a:pt x="57150" y="114255"/>
                </a:lnTo>
                <a:cubicBezTo>
                  <a:pt x="57150" y="102111"/>
                  <a:pt x="60945" y="90860"/>
                  <a:pt x="67374" y="81617"/>
                </a:cubicBezTo>
                <a:cubicBezTo>
                  <a:pt x="70589" y="76974"/>
                  <a:pt x="70946" y="70634"/>
                  <a:pt x="67285" y="66348"/>
                </a:cubicBezTo>
                <a:close/>
                <a:moveTo>
                  <a:pt x="114300" y="71438"/>
                </a:moveTo>
                <a:cubicBezTo>
                  <a:pt x="90636" y="71438"/>
                  <a:pt x="71438" y="90636"/>
                  <a:pt x="71438" y="114300"/>
                </a:cubicBezTo>
                <a:lnTo>
                  <a:pt x="71438" y="125417"/>
                </a:lnTo>
                <a:cubicBezTo>
                  <a:pt x="71438" y="141446"/>
                  <a:pt x="69384" y="157341"/>
                  <a:pt x="65276" y="172789"/>
                </a:cubicBezTo>
                <a:cubicBezTo>
                  <a:pt x="63579" y="179174"/>
                  <a:pt x="68267" y="185738"/>
                  <a:pt x="74875" y="185738"/>
                </a:cubicBezTo>
                <a:cubicBezTo>
                  <a:pt x="79117" y="185738"/>
                  <a:pt x="82867" y="182969"/>
                  <a:pt x="83984" y="178862"/>
                </a:cubicBezTo>
                <a:cubicBezTo>
                  <a:pt x="88672" y="161449"/>
                  <a:pt x="91083" y="143500"/>
                  <a:pt x="91083" y="125417"/>
                </a:cubicBezTo>
                <a:lnTo>
                  <a:pt x="91083" y="114300"/>
                </a:lnTo>
                <a:cubicBezTo>
                  <a:pt x="91083" y="101486"/>
                  <a:pt x="101486" y="91083"/>
                  <a:pt x="114300" y="91083"/>
                </a:cubicBezTo>
                <a:cubicBezTo>
                  <a:pt x="127114" y="91083"/>
                  <a:pt x="137517" y="101486"/>
                  <a:pt x="137517" y="114300"/>
                </a:cubicBezTo>
                <a:lnTo>
                  <a:pt x="137517" y="125417"/>
                </a:lnTo>
                <a:cubicBezTo>
                  <a:pt x="137517" y="141625"/>
                  <a:pt x="135954" y="157743"/>
                  <a:pt x="132874" y="173593"/>
                </a:cubicBezTo>
                <a:cubicBezTo>
                  <a:pt x="131668" y="179799"/>
                  <a:pt x="136312" y="185738"/>
                  <a:pt x="142607" y="185738"/>
                </a:cubicBezTo>
                <a:cubicBezTo>
                  <a:pt x="147161" y="185738"/>
                  <a:pt x="151090" y="182612"/>
                  <a:pt x="151983" y="178147"/>
                </a:cubicBezTo>
                <a:cubicBezTo>
                  <a:pt x="155421" y="160824"/>
                  <a:pt x="157163" y="143188"/>
                  <a:pt x="157163" y="125417"/>
                </a:cubicBezTo>
                <a:lnTo>
                  <a:pt x="157163" y="114300"/>
                </a:lnTo>
                <a:cubicBezTo>
                  <a:pt x="157163" y="90636"/>
                  <a:pt x="137964" y="71438"/>
                  <a:pt x="114300" y="71438"/>
                </a:cubicBezTo>
                <a:close/>
                <a:moveTo>
                  <a:pt x="125016" y="114300"/>
                </a:moveTo>
                <a:cubicBezTo>
                  <a:pt x="125016" y="108362"/>
                  <a:pt x="120238" y="103584"/>
                  <a:pt x="114300" y="103584"/>
                </a:cubicBezTo>
                <a:cubicBezTo>
                  <a:pt x="108362" y="103584"/>
                  <a:pt x="103584" y="108362"/>
                  <a:pt x="103584" y="114300"/>
                </a:cubicBezTo>
                <a:lnTo>
                  <a:pt x="103584" y="125417"/>
                </a:lnTo>
                <a:cubicBezTo>
                  <a:pt x="103584" y="152162"/>
                  <a:pt x="98673" y="178683"/>
                  <a:pt x="89074" y="203642"/>
                </a:cubicBezTo>
                <a:lnTo>
                  <a:pt x="86439" y="210473"/>
                </a:lnTo>
                <a:cubicBezTo>
                  <a:pt x="84296" y="216009"/>
                  <a:pt x="87064" y="222215"/>
                  <a:pt x="92601" y="224314"/>
                </a:cubicBezTo>
                <a:cubicBezTo>
                  <a:pt x="98137" y="226412"/>
                  <a:pt x="104343" y="223689"/>
                  <a:pt x="106442" y="218152"/>
                </a:cubicBezTo>
                <a:lnTo>
                  <a:pt x="109076" y="211321"/>
                </a:lnTo>
                <a:cubicBezTo>
                  <a:pt x="119613" y="183907"/>
                  <a:pt x="125016" y="154796"/>
                  <a:pt x="125016" y="125417"/>
                </a:cubicBezTo>
                <a:lnTo>
                  <a:pt x="125016" y="114300"/>
                </a:lnTo>
                <a:close/>
              </a:path>
            </a:pathLst>
          </a:custGeom>
          <a:solidFill>
            <a:srgbClr val="C9A36A"/>
          </a:solidFill>
          <a:ln/>
        </p:spPr>
        <p:txBody>
          <a:bodyPr/>
          <a:lstStyle/>
          <a:p>
            <a:endParaRPr lang="en-IN"/>
          </a:p>
        </p:txBody>
      </p:sp>
      <p:sp>
        <p:nvSpPr>
          <p:cNvPr id="20" name="Text 18"/>
          <p:cNvSpPr/>
          <p:nvPr/>
        </p:nvSpPr>
        <p:spPr>
          <a:xfrm>
            <a:off x="7131050" y="1873251"/>
            <a:ext cx="24765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Contact-Based Systems</a:t>
            </a:r>
            <a:endParaRPr lang="en-US" sz="1600" dirty="0"/>
          </a:p>
        </p:txBody>
      </p:sp>
      <p:sp>
        <p:nvSpPr>
          <p:cNvPr id="21" name="Text 19"/>
          <p:cNvSpPr/>
          <p:nvPr/>
        </p:nvSpPr>
        <p:spPr>
          <a:xfrm>
            <a:off x="6445250" y="2444751"/>
            <a:ext cx="521017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RFID cards and fingerprint scanners require physical contact, raising hygiene concerns especially in post-pandemic scenarios. These systems also have hardware dependencies and maintenance costs.</a:t>
            </a:r>
            <a:endParaRPr lang="en-US" sz="1600" dirty="0"/>
          </a:p>
        </p:txBody>
      </p:sp>
      <p:sp>
        <p:nvSpPr>
          <p:cNvPr id="22" name="Text 20"/>
          <p:cNvSpPr/>
          <p:nvPr/>
        </p:nvSpPr>
        <p:spPr>
          <a:xfrm>
            <a:off x="6445250" y="3302001"/>
            <a:ext cx="521017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Impact:</a:t>
            </a:r>
            <a:r>
              <a:rPr lang="en-US" sz="1200" dirty="0">
                <a:solidFill>
                  <a:srgbClr val="A3A3A3"/>
                </a:solidFill>
                <a:latin typeface="Quattrocento Sans" pitchFamily="34" charset="0"/>
                <a:ea typeface="Quattrocento Sans" pitchFamily="34" charset="-122"/>
                <a:cs typeface="Quattrocento Sans" pitchFamily="34" charset="-120"/>
              </a:rPr>
              <a:t> Health risks and increased operational expenses</a:t>
            </a:r>
            <a:endParaRPr lang="en-US" sz="1600" dirty="0"/>
          </a:p>
        </p:txBody>
      </p:sp>
      <p:sp>
        <p:nvSpPr>
          <p:cNvPr id="23" name="Shape 21"/>
          <p:cNvSpPr/>
          <p:nvPr/>
        </p:nvSpPr>
        <p:spPr>
          <a:xfrm>
            <a:off x="6213475" y="3921127"/>
            <a:ext cx="5597525" cy="2635250"/>
          </a:xfrm>
          <a:custGeom>
            <a:avLst/>
            <a:gdLst/>
            <a:ahLst/>
            <a:cxnLst/>
            <a:rect l="l" t="t" r="r" b="b"/>
            <a:pathLst>
              <a:path w="5597525" h="2635250">
                <a:moveTo>
                  <a:pt x="0" y="0"/>
                </a:moveTo>
                <a:lnTo>
                  <a:pt x="5597525" y="0"/>
                </a:lnTo>
                <a:lnTo>
                  <a:pt x="5597525" y="2635250"/>
                </a:lnTo>
                <a:lnTo>
                  <a:pt x="0" y="263525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24" name="Text 22"/>
          <p:cNvSpPr/>
          <p:nvPr/>
        </p:nvSpPr>
        <p:spPr>
          <a:xfrm>
            <a:off x="6445250" y="4152900"/>
            <a:ext cx="524827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Required Solutions</a:t>
            </a:r>
            <a:endParaRPr lang="en-US" sz="1600" dirty="0"/>
          </a:p>
        </p:txBody>
      </p:sp>
      <p:sp>
        <p:nvSpPr>
          <p:cNvPr id="25" name="Shape 23"/>
          <p:cNvSpPr/>
          <p:nvPr/>
        </p:nvSpPr>
        <p:spPr>
          <a:xfrm>
            <a:off x="6469063" y="46482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9A36A"/>
          </a:solidFill>
          <a:ln/>
        </p:spPr>
        <p:txBody>
          <a:bodyPr/>
          <a:lstStyle/>
          <a:p>
            <a:endParaRPr lang="en-IN"/>
          </a:p>
        </p:txBody>
      </p:sp>
      <p:sp>
        <p:nvSpPr>
          <p:cNvPr id="26" name="Text 24"/>
          <p:cNvSpPr/>
          <p:nvPr/>
        </p:nvSpPr>
        <p:spPr>
          <a:xfrm>
            <a:off x="6797675" y="4610100"/>
            <a:ext cx="219075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Contactless System</a:t>
            </a:r>
            <a:endParaRPr lang="en-US" sz="1600" dirty="0"/>
          </a:p>
        </p:txBody>
      </p:sp>
      <p:sp>
        <p:nvSpPr>
          <p:cNvPr id="27" name="Text 25"/>
          <p:cNvSpPr/>
          <p:nvPr/>
        </p:nvSpPr>
        <p:spPr>
          <a:xfrm>
            <a:off x="6797675" y="4876800"/>
            <a:ext cx="2181225" cy="2286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No physical interaction required</a:t>
            </a:r>
            <a:endParaRPr lang="en-US" sz="1600" dirty="0"/>
          </a:p>
        </p:txBody>
      </p:sp>
      <p:sp>
        <p:nvSpPr>
          <p:cNvPr id="28" name="Shape 26"/>
          <p:cNvSpPr/>
          <p:nvPr/>
        </p:nvSpPr>
        <p:spPr>
          <a:xfrm>
            <a:off x="6469063" y="52578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9A36A"/>
          </a:solidFill>
          <a:ln/>
        </p:spPr>
        <p:txBody>
          <a:bodyPr/>
          <a:lstStyle/>
          <a:p>
            <a:endParaRPr lang="en-IN"/>
          </a:p>
        </p:txBody>
      </p:sp>
      <p:sp>
        <p:nvSpPr>
          <p:cNvPr id="29" name="Text 27"/>
          <p:cNvSpPr/>
          <p:nvPr/>
        </p:nvSpPr>
        <p:spPr>
          <a:xfrm>
            <a:off x="6797675" y="5219700"/>
            <a:ext cx="211455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Accurate Identification</a:t>
            </a:r>
            <a:endParaRPr lang="en-US" sz="1600" dirty="0"/>
          </a:p>
        </p:txBody>
      </p:sp>
      <p:sp>
        <p:nvSpPr>
          <p:cNvPr id="30" name="Text 28"/>
          <p:cNvSpPr/>
          <p:nvPr/>
        </p:nvSpPr>
        <p:spPr>
          <a:xfrm>
            <a:off x="6797675" y="5486400"/>
            <a:ext cx="2105025" cy="2286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Prevent proxy and false entries</a:t>
            </a:r>
            <a:endParaRPr lang="en-US" sz="1600" dirty="0"/>
          </a:p>
        </p:txBody>
      </p:sp>
      <p:sp>
        <p:nvSpPr>
          <p:cNvPr id="31" name="Shape 29"/>
          <p:cNvSpPr/>
          <p:nvPr/>
        </p:nvSpPr>
        <p:spPr>
          <a:xfrm>
            <a:off x="6469063" y="58674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9A36A"/>
          </a:solidFill>
          <a:ln/>
        </p:spPr>
        <p:txBody>
          <a:bodyPr/>
          <a:lstStyle/>
          <a:p>
            <a:endParaRPr lang="en-IN"/>
          </a:p>
        </p:txBody>
      </p:sp>
      <p:sp>
        <p:nvSpPr>
          <p:cNvPr id="32" name="Text 30"/>
          <p:cNvSpPr/>
          <p:nvPr/>
        </p:nvSpPr>
        <p:spPr>
          <a:xfrm>
            <a:off x="6797675" y="5829300"/>
            <a:ext cx="2409825"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Offline Capability</a:t>
            </a:r>
            <a:endParaRPr lang="en-US" sz="1600" dirty="0"/>
          </a:p>
        </p:txBody>
      </p:sp>
      <p:sp>
        <p:nvSpPr>
          <p:cNvPr id="33" name="Text 31"/>
          <p:cNvSpPr/>
          <p:nvPr/>
        </p:nvSpPr>
        <p:spPr>
          <a:xfrm>
            <a:off x="6797675" y="6096000"/>
            <a:ext cx="2400300" cy="2286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Work without internet dependency</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03 / Objectives</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Project Goals</a:t>
            </a:r>
            <a:endParaRPr lang="en-US" sz="1600" dirty="0"/>
          </a:p>
        </p:txBody>
      </p:sp>
      <p:sp>
        <p:nvSpPr>
          <p:cNvPr id="4" name="Shape 2"/>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384175" y="1603375"/>
            <a:ext cx="2130425" cy="4873625"/>
          </a:xfrm>
          <a:custGeom>
            <a:avLst/>
            <a:gdLst/>
            <a:ahLst/>
            <a:cxnLst/>
            <a:rect l="l" t="t" r="r" b="b"/>
            <a:pathLst>
              <a:path w="2130425" h="4873625">
                <a:moveTo>
                  <a:pt x="0" y="0"/>
                </a:moveTo>
                <a:lnTo>
                  <a:pt x="2130425" y="0"/>
                </a:lnTo>
                <a:lnTo>
                  <a:pt x="2130425" y="4873625"/>
                </a:lnTo>
                <a:lnTo>
                  <a:pt x="0" y="4873625"/>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615950" y="183515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36A">
              <a:alpha val="20000"/>
            </a:srgbClr>
          </a:solidFill>
          <a:ln/>
        </p:spPr>
        <p:txBody>
          <a:bodyPr/>
          <a:lstStyle/>
          <a:p>
            <a:endParaRPr lang="en-IN"/>
          </a:p>
        </p:txBody>
      </p:sp>
      <p:sp>
        <p:nvSpPr>
          <p:cNvPr id="7" name="Text 5"/>
          <p:cNvSpPr/>
          <p:nvPr/>
        </p:nvSpPr>
        <p:spPr>
          <a:xfrm>
            <a:off x="804962" y="1968501"/>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8" name="Text 6"/>
          <p:cNvSpPr/>
          <p:nvPr/>
        </p:nvSpPr>
        <p:spPr>
          <a:xfrm>
            <a:off x="615950" y="2635251"/>
            <a:ext cx="1762125" cy="5334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Face Recognition System</a:t>
            </a:r>
            <a:endParaRPr lang="en-US" sz="1600" dirty="0"/>
          </a:p>
        </p:txBody>
      </p:sp>
      <p:sp>
        <p:nvSpPr>
          <p:cNvPr id="9" name="Text 7"/>
          <p:cNvSpPr/>
          <p:nvPr/>
        </p:nvSpPr>
        <p:spPr>
          <a:xfrm>
            <a:off x="615950" y="3321051"/>
            <a:ext cx="1743075" cy="24193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Develop a robust face recognition-based attendance system that automatically identifies students and marks their attendance with high accuracy.</a:t>
            </a:r>
            <a:endParaRPr lang="en-US" sz="1600" dirty="0"/>
          </a:p>
        </p:txBody>
      </p:sp>
      <p:sp>
        <p:nvSpPr>
          <p:cNvPr id="10" name="Shape 8"/>
          <p:cNvSpPr/>
          <p:nvPr/>
        </p:nvSpPr>
        <p:spPr>
          <a:xfrm>
            <a:off x="615950" y="5895976"/>
            <a:ext cx="1666875" cy="6350"/>
          </a:xfrm>
          <a:custGeom>
            <a:avLst/>
            <a:gdLst/>
            <a:ahLst/>
            <a:cxnLst/>
            <a:rect l="l" t="t" r="r" b="b"/>
            <a:pathLst>
              <a:path w="1666875" h="6350">
                <a:moveTo>
                  <a:pt x="0" y="0"/>
                </a:moveTo>
                <a:lnTo>
                  <a:pt x="1666875" y="0"/>
                </a:lnTo>
                <a:lnTo>
                  <a:pt x="1666875" y="6350"/>
                </a:lnTo>
                <a:lnTo>
                  <a:pt x="0" y="6350"/>
                </a:lnTo>
                <a:lnTo>
                  <a:pt x="0" y="0"/>
                </a:lnTo>
                <a:close/>
              </a:path>
            </a:pathLst>
          </a:custGeom>
          <a:solidFill>
            <a:srgbClr val="2B2B2B"/>
          </a:solidFill>
          <a:ln/>
        </p:spPr>
        <p:txBody>
          <a:bodyPr/>
          <a:lstStyle/>
          <a:p>
            <a:endParaRPr lang="en-IN"/>
          </a:p>
        </p:txBody>
      </p:sp>
      <p:sp>
        <p:nvSpPr>
          <p:cNvPr id="11" name="Shape 9"/>
          <p:cNvSpPr/>
          <p:nvPr/>
        </p:nvSpPr>
        <p:spPr>
          <a:xfrm>
            <a:off x="635000" y="6076950"/>
            <a:ext cx="133350" cy="133350"/>
          </a:xfrm>
          <a:custGeom>
            <a:avLst/>
            <a:gdLst/>
            <a:ahLst/>
            <a:cxnLst/>
            <a:rect l="l" t="t" r="r" b="b"/>
            <a:pathLst>
              <a:path w="133350" h="133350">
                <a:moveTo>
                  <a:pt x="116681" y="66675"/>
                </a:moveTo>
                <a:cubicBezTo>
                  <a:pt x="116681" y="39076"/>
                  <a:pt x="94274" y="16669"/>
                  <a:pt x="66675" y="16669"/>
                </a:cubicBezTo>
                <a:cubicBezTo>
                  <a:pt x="39076" y="16669"/>
                  <a:pt x="16669" y="39076"/>
                  <a:pt x="16669" y="66675"/>
                </a:cubicBezTo>
                <a:cubicBezTo>
                  <a:pt x="16669" y="94274"/>
                  <a:pt x="39076" y="116681"/>
                  <a:pt x="66675" y="116681"/>
                </a:cubicBezTo>
                <a:cubicBezTo>
                  <a:pt x="94274" y="116681"/>
                  <a:pt x="116681" y="94274"/>
                  <a:pt x="116681" y="66675"/>
                </a:cubicBezTo>
                <a:close/>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moveTo>
                  <a:pt x="66675" y="87511"/>
                </a:moveTo>
                <a:cubicBezTo>
                  <a:pt x="78175" y="87511"/>
                  <a:pt x="87511" y="78175"/>
                  <a:pt x="87511" y="66675"/>
                </a:cubicBezTo>
                <a:cubicBezTo>
                  <a:pt x="87511" y="55175"/>
                  <a:pt x="78175" y="45839"/>
                  <a:pt x="66675" y="45839"/>
                </a:cubicBezTo>
                <a:cubicBezTo>
                  <a:pt x="55175" y="45839"/>
                  <a:pt x="45839" y="55175"/>
                  <a:pt x="45839" y="66675"/>
                </a:cubicBezTo>
                <a:cubicBezTo>
                  <a:pt x="45839" y="78175"/>
                  <a:pt x="55175" y="87511"/>
                  <a:pt x="66675" y="87511"/>
                </a:cubicBezTo>
                <a:close/>
                <a:moveTo>
                  <a:pt x="66675" y="29170"/>
                </a:moveTo>
                <a:cubicBezTo>
                  <a:pt x="87374" y="29170"/>
                  <a:pt x="104180" y="45976"/>
                  <a:pt x="104180" y="66675"/>
                </a:cubicBezTo>
                <a:cubicBezTo>
                  <a:pt x="104180" y="87374"/>
                  <a:pt x="87374" y="104180"/>
                  <a:pt x="66675" y="104180"/>
                </a:cubicBezTo>
                <a:cubicBezTo>
                  <a:pt x="45976" y="104180"/>
                  <a:pt x="29170" y="87374"/>
                  <a:pt x="29170" y="66675"/>
                </a:cubicBezTo>
                <a:cubicBezTo>
                  <a:pt x="29170" y="45976"/>
                  <a:pt x="45976" y="29170"/>
                  <a:pt x="66675" y="29170"/>
                </a:cubicBezTo>
                <a:close/>
                <a:moveTo>
                  <a:pt x="58341" y="66675"/>
                </a:moveTo>
                <a:cubicBezTo>
                  <a:pt x="58341" y="62075"/>
                  <a:pt x="62075" y="58341"/>
                  <a:pt x="66675" y="58341"/>
                </a:cubicBezTo>
                <a:cubicBezTo>
                  <a:pt x="71275" y="58341"/>
                  <a:pt x="75009" y="62075"/>
                  <a:pt x="75009" y="66675"/>
                </a:cubicBezTo>
                <a:cubicBezTo>
                  <a:pt x="75009" y="71275"/>
                  <a:pt x="71275" y="75009"/>
                  <a:pt x="66675" y="75009"/>
                </a:cubicBezTo>
                <a:cubicBezTo>
                  <a:pt x="62075" y="75009"/>
                  <a:pt x="58341" y="71275"/>
                  <a:pt x="58341" y="66675"/>
                </a:cubicBezTo>
                <a:close/>
              </a:path>
            </a:pathLst>
          </a:custGeom>
          <a:solidFill>
            <a:srgbClr val="C9A36A"/>
          </a:solidFill>
          <a:ln/>
        </p:spPr>
        <p:txBody>
          <a:bodyPr/>
          <a:lstStyle/>
          <a:p>
            <a:endParaRPr lang="en-IN"/>
          </a:p>
        </p:txBody>
      </p:sp>
      <p:sp>
        <p:nvSpPr>
          <p:cNvPr id="12" name="Text 10"/>
          <p:cNvSpPr/>
          <p:nvPr/>
        </p:nvSpPr>
        <p:spPr>
          <a:xfrm>
            <a:off x="844550" y="6051552"/>
            <a:ext cx="1504950" cy="190500"/>
          </a:xfrm>
          <a:prstGeom prst="rect">
            <a:avLst/>
          </a:prstGeom>
          <a:noFill/>
          <a:ln/>
        </p:spPr>
        <p:txBody>
          <a:bodyPr wrap="square" lIns="0" tIns="0" rIns="0" bIns="0" rtlCol="0" anchor="ctr"/>
          <a:lstStyle/>
          <a:p>
            <a:pP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Primary Goal</a:t>
            </a:r>
            <a:endParaRPr lang="en-US" sz="1600" dirty="0"/>
          </a:p>
        </p:txBody>
      </p:sp>
      <p:sp>
        <p:nvSpPr>
          <p:cNvPr id="13" name="Shape 11"/>
          <p:cNvSpPr/>
          <p:nvPr/>
        </p:nvSpPr>
        <p:spPr>
          <a:xfrm>
            <a:off x="2708275" y="1603375"/>
            <a:ext cx="2130425" cy="4873625"/>
          </a:xfrm>
          <a:custGeom>
            <a:avLst/>
            <a:gdLst/>
            <a:ahLst/>
            <a:cxnLst/>
            <a:rect l="l" t="t" r="r" b="b"/>
            <a:pathLst>
              <a:path w="2130425" h="4873625">
                <a:moveTo>
                  <a:pt x="0" y="0"/>
                </a:moveTo>
                <a:lnTo>
                  <a:pt x="2130425" y="0"/>
                </a:lnTo>
                <a:lnTo>
                  <a:pt x="2130425" y="4873625"/>
                </a:lnTo>
                <a:lnTo>
                  <a:pt x="0" y="4873625"/>
                </a:lnTo>
                <a:lnTo>
                  <a:pt x="0" y="0"/>
                </a:lnTo>
                <a:close/>
              </a:path>
            </a:pathLst>
          </a:custGeom>
          <a:solidFill>
            <a:srgbClr val="1A1A1A"/>
          </a:solidFill>
          <a:ln w="8467">
            <a:solidFill>
              <a:srgbClr val="2B2B2B"/>
            </a:solidFill>
            <a:prstDash val="solid"/>
          </a:ln>
        </p:spPr>
        <p:txBody>
          <a:bodyPr/>
          <a:lstStyle/>
          <a:p>
            <a:endParaRPr lang="en-IN"/>
          </a:p>
        </p:txBody>
      </p:sp>
      <p:sp>
        <p:nvSpPr>
          <p:cNvPr id="14" name="Shape 12"/>
          <p:cNvSpPr/>
          <p:nvPr/>
        </p:nvSpPr>
        <p:spPr>
          <a:xfrm>
            <a:off x="2940050" y="183515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36A">
              <a:alpha val="20000"/>
            </a:srgbClr>
          </a:solidFill>
          <a:ln/>
        </p:spPr>
        <p:txBody>
          <a:bodyPr/>
          <a:lstStyle/>
          <a:p>
            <a:endParaRPr lang="en-IN"/>
          </a:p>
        </p:txBody>
      </p:sp>
      <p:sp>
        <p:nvSpPr>
          <p:cNvPr id="15" name="Text 13"/>
          <p:cNvSpPr/>
          <p:nvPr/>
        </p:nvSpPr>
        <p:spPr>
          <a:xfrm>
            <a:off x="3102670" y="1968501"/>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6" name="Text 14"/>
          <p:cNvSpPr/>
          <p:nvPr/>
        </p:nvSpPr>
        <p:spPr>
          <a:xfrm>
            <a:off x="2940050" y="2635251"/>
            <a:ext cx="17621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Mask Detection</a:t>
            </a:r>
            <a:endParaRPr lang="en-US" sz="1600" dirty="0"/>
          </a:p>
        </p:txBody>
      </p:sp>
      <p:sp>
        <p:nvSpPr>
          <p:cNvPr id="17" name="Text 15"/>
          <p:cNvSpPr/>
          <p:nvPr/>
        </p:nvSpPr>
        <p:spPr>
          <a:xfrm>
            <a:off x="2940050" y="3054351"/>
            <a:ext cx="1743075" cy="26860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Implement mask detection capability to identify whether a person is wearing a face mask, ensuring compliance with health protocols.</a:t>
            </a:r>
            <a:endParaRPr lang="en-US" sz="1600" dirty="0"/>
          </a:p>
        </p:txBody>
      </p:sp>
      <p:sp>
        <p:nvSpPr>
          <p:cNvPr id="18" name="Shape 16"/>
          <p:cNvSpPr/>
          <p:nvPr/>
        </p:nvSpPr>
        <p:spPr>
          <a:xfrm>
            <a:off x="2940050" y="5895976"/>
            <a:ext cx="1666875" cy="6350"/>
          </a:xfrm>
          <a:custGeom>
            <a:avLst/>
            <a:gdLst/>
            <a:ahLst/>
            <a:cxnLst/>
            <a:rect l="l" t="t" r="r" b="b"/>
            <a:pathLst>
              <a:path w="1666875" h="6350">
                <a:moveTo>
                  <a:pt x="0" y="0"/>
                </a:moveTo>
                <a:lnTo>
                  <a:pt x="1666875" y="0"/>
                </a:lnTo>
                <a:lnTo>
                  <a:pt x="1666875" y="6350"/>
                </a:lnTo>
                <a:lnTo>
                  <a:pt x="0" y="6350"/>
                </a:lnTo>
                <a:lnTo>
                  <a:pt x="0" y="0"/>
                </a:lnTo>
                <a:close/>
              </a:path>
            </a:pathLst>
          </a:custGeom>
          <a:solidFill>
            <a:srgbClr val="2B2B2B"/>
          </a:solidFill>
          <a:ln/>
        </p:spPr>
        <p:txBody>
          <a:bodyPr/>
          <a:lstStyle/>
          <a:p>
            <a:endParaRPr lang="en-IN"/>
          </a:p>
        </p:txBody>
      </p:sp>
      <p:sp>
        <p:nvSpPr>
          <p:cNvPr id="19" name="Shape 17"/>
          <p:cNvSpPr/>
          <p:nvPr/>
        </p:nvSpPr>
        <p:spPr>
          <a:xfrm>
            <a:off x="2959100" y="6076950"/>
            <a:ext cx="133350" cy="133350"/>
          </a:xfrm>
          <a:custGeom>
            <a:avLst/>
            <a:gdLst/>
            <a:ahLst/>
            <a:cxnLst/>
            <a:rect l="l" t="t" r="r" b="b"/>
            <a:pathLst>
              <a:path w="133350" h="133350">
                <a:moveTo>
                  <a:pt x="65998" y="755"/>
                </a:moveTo>
                <a:cubicBezTo>
                  <a:pt x="64904" y="260"/>
                  <a:pt x="63732" y="0"/>
                  <a:pt x="62508" y="0"/>
                </a:cubicBezTo>
                <a:cubicBezTo>
                  <a:pt x="61284" y="0"/>
                  <a:pt x="60112" y="260"/>
                  <a:pt x="59018" y="755"/>
                </a:cubicBezTo>
                <a:lnTo>
                  <a:pt x="9975" y="21565"/>
                </a:lnTo>
                <a:cubicBezTo>
                  <a:pt x="4245" y="23987"/>
                  <a:pt x="-26" y="29639"/>
                  <a:pt x="0" y="36463"/>
                </a:cubicBezTo>
                <a:cubicBezTo>
                  <a:pt x="130" y="62299"/>
                  <a:pt x="10757" y="109571"/>
                  <a:pt x="55632" y="131058"/>
                </a:cubicBezTo>
                <a:cubicBezTo>
                  <a:pt x="59981" y="133142"/>
                  <a:pt x="65034" y="133142"/>
                  <a:pt x="69384" y="131058"/>
                </a:cubicBezTo>
                <a:cubicBezTo>
                  <a:pt x="114285" y="109571"/>
                  <a:pt x="124911" y="62299"/>
                  <a:pt x="125016" y="36463"/>
                </a:cubicBezTo>
                <a:cubicBezTo>
                  <a:pt x="125042" y="29639"/>
                  <a:pt x="120770" y="23987"/>
                  <a:pt x="115040" y="21565"/>
                </a:cubicBezTo>
                <a:lnTo>
                  <a:pt x="65998" y="755"/>
                </a:lnTo>
                <a:close/>
                <a:moveTo>
                  <a:pt x="62508" y="33337"/>
                </a:moveTo>
                <a:cubicBezTo>
                  <a:pt x="65972" y="33337"/>
                  <a:pt x="68759" y="36124"/>
                  <a:pt x="68759" y="39588"/>
                </a:cubicBezTo>
                <a:cubicBezTo>
                  <a:pt x="68759" y="45553"/>
                  <a:pt x="75973" y="48548"/>
                  <a:pt x="80192" y="44328"/>
                </a:cubicBezTo>
                <a:cubicBezTo>
                  <a:pt x="82641" y="41880"/>
                  <a:pt x="86599" y="41880"/>
                  <a:pt x="89022" y="44328"/>
                </a:cubicBezTo>
                <a:cubicBezTo>
                  <a:pt x="91444" y="46777"/>
                  <a:pt x="91470" y="50736"/>
                  <a:pt x="89022" y="53158"/>
                </a:cubicBezTo>
                <a:cubicBezTo>
                  <a:pt x="84802" y="57377"/>
                  <a:pt x="87797" y="64591"/>
                  <a:pt x="93762" y="64591"/>
                </a:cubicBezTo>
                <a:cubicBezTo>
                  <a:pt x="97226" y="64591"/>
                  <a:pt x="100012" y="67378"/>
                  <a:pt x="100012" y="70842"/>
                </a:cubicBezTo>
                <a:cubicBezTo>
                  <a:pt x="100012" y="74306"/>
                  <a:pt x="97226" y="77093"/>
                  <a:pt x="93762" y="77093"/>
                </a:cubicBezTo>
                <a:cubicBezTo>
                  <a:pt x="87797" y="77093"/>
                  <a:pt x="84802" y="84307"/>
                  <a:pt x="89022" y="88527"/>
                </a:cubicBezTo>
                <a:cubicBezTo>
                  <a:pt x="91470" y="90975"/>
                  <a:pt x="91470" y="94934"/>
                  <a:pt x="89022" y="97356"/>
                </a:cubicBezTo>
                <a:cubicBezTo>
                  <a:pt x="86573" y="99778"/>
                  <a:pt x="82614" y="99804"/>
                  <a:pt x="80192" y="97356"/>
                </a:cubicBezTo>
                <a:cubicBezTo>
                  <a:pt x="75973" y="93137"/>
                  <a:pt x="68759" y="96132"/>
                  <a:pt x="68759" y="102096"/>
                </a:cubicBezTo>
                <a:cubicBezTo>
                  <a:pt x="68759" y="105560"/>
                  <a:pt x="65972" y="108347"/>
                  <a:pt x="62508" y="108347"/>
                </a:cubicBezTo>
                <a:cubicBezTo>
                  <a:pt x="59044" y="108347"/>
                  <a:pt x="56257" y="105560"/>
                  <a:pt x="56257" y="102096"/>
                </a:cubicBezTo>
                <a:cubicBezTo>
                  <a:pt x="56257" y="96132"/>
                  <a:pt x="49043" y="93137"/>
                  <a:pt x="44823" y="97356"/>
                </a:cubicBezTo>
                <a:cubicBezTo>
                  <a:pt x="42375" y="99804"/>
                  <a:pt x="38416" y="99804"/>
                  <a:pt x="35994" y="97356"/>
                </a:cubicBezTo>
                <a:cubicBezTo>
                  <a:pt x="33572" y="94908"/>
                  <a:pt x="33546" y="90949"/>
                  <a:pt x="35994" y="88527"/>
                </a:cubicBezTo>
                <a:cubicBezTo>
                  <a:pt x="40213" y="84307"/>
                  <a:pt x="37218" y="77093"/>
                  <a:pt x="31254" y="77093"/>
                </a:cubicBezTo>
                <a:cubicBezTo>
                  <a:pt x="27790" y="77093"/>
                  <a:pt x="25003" y="74306"/>
                  <a:pt x="25003" y="70842"/>
                </a:cubicBezTo>
                <a:cubicBezTo>
                  <a:pt x="25003" y="67378"/>
                  <a:pt x="27790" y="64591"/>
                  <a:pt x="31254" y="64591"/>
                </a:cubicBezTo>
                <a:cubicBezTo>
                  <a:pt x="37218" y="64591"/>
                  <a:pt x="40213" y="57377"/>
                  <a:pt x="35994" y="53158"/>
                </a:cubicBezTo>
                <a:cubicBezTo>
                  <a:pt x="33546" y="50709"/>
                  <a:pt x="33546" y="46751"/>
                  <a:pt x="35994" y="44328"/>
                </a:cubicBezTo>
                <a:cubicBezTo>
                  <a:pt x="38442" y="41906"/>
                  <a:pt x="42401" y="41880"/>
                  <a:pt x="44823" y="44328"/>
                </a:cubicBezTo>
                <a:cubicBezTo>
                  <a:pt x="49043" y="48548"/>
                  <a:pt x="56257" y="45553"/>
                  <a:pt x="56257" y="39588"/>
                </a:cubicBezTo>
                <a:cubicBezTo>
                  <a:pt x="56257" y="36124"/>
                  <a:pt x="59044" y="33337"/>
                  <a:pt x="62508" y="33337"/>
                </a:cubicBezTo>
                <a:close/>
                <a:moveTo>
                  <a:pt x="54173" y="68759"/>
                </a:moveTo>
                <a:cubicBezTo>
                  <a:pt x="57623" y="68759"/>
                  <a:pt x="60424" y="65958"/>
                  <a:pt x="60424" y="62508"/>
                </a:cubicBezTo>
                <a:cubicBezTo>
                  <a:pt x="60424" y="59058"/>
                  <a:pt x="57623" y="56257"/>
                  <a:pt x="54173" y="56257"/>
                </a:cubicBezTo>
                <a:cubicBezTo>
                  <a:pt x="50724" y="56257"/>
                  <a:pt x="47923" y="59058"/>
                  <a:pt x="47923" y="62508"/>
                </a:cubicBezTo>
                <a:cubicBezTo>
                  <a:pt x="47923" y="65958"/>
                  <a:pt x="50724" y="68759"/>
                  <a:pt x="54173" y="68759"/>
                </a:cubicBezTo>
                <a:close/>
                <a:moveTo>
                  <a:pt x="77093" y="79177"/>
                </a:moveTo>
                <a:cubicBezTo>
                  <a:pt x="77093" y="75727"/>
                  <a:pt x="74292" y="72926"/>
                  <a:pt x="70842" y="72926"/>
                </a:cubicBezTo>
                <a:cubicBezTo>
                  <a:pt x="67392" y="72926"/>
                  <a:pt x="64591" y="75727"/>
                  <a:pt x="64591" y="79177"/>
                </a:cubicBezTo>
                <a:cubicBezTo>
                  <a:pt x="64591" y="82626"/>
                  <a:pt x="67392" y="85427"/>
                  <a:pt x="70842" y="85427"/>
                </a:cubicBezTo>
                <a:cubicBezTo>
                  <a:pt x="74292" y="85427"/>
                  <a:pt x="77093" y="82626"/>
                  <a:pt x="77093" y="79177"/>
                </a:cubicBezTo>
                <a:close/>
              </a:path>
            </a:pathLst>
          </a:custGeom>
          <a:solidFill>
            <a:srgbClr val="C9A36A"/>
          </a:solidFill>
          <a:ln/>
        </p:spPr>
        <p:txBody>
          <a:bodyPr/>
          <a:lstStyle/>
          <a:p>
            <a:endParaRPr lang="en-IN"/>
          </a:p>
        </p:txBody>
      </p:sp>
      <p:sp>
        <p:nvSpPr>
          <p:cNvPr id="20" name="Text 18"/>
          <p:cNvSpPr/>
          <p:nvPr/>
        </p:nvSpPr>
        <p:spPr>
          <a:xfrm>
            <a:off x="3168650" y="6051552"/>
            <a:ext cx="1504950" cy="190500"/>
          </a:xfrm>
          <a:prstGeom prst="rect">
            <a:avLst/>
          </a:prstGeom>
          <a:noFill/>
          <a:ln/>
        </p:spPr>
        <p:txBody>
          <a:bodyPr wrap="square" lIns="0" tIns="0" rIns="0" bIns="0" rtlCol="0" anchor="ctr"/>
          <a:lstStyle/>
          <a:p>
            <a:pP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Health Safety</a:t>
            </a:r>
            <a:endParaRPr lang="en-US" sz="1600" dirty="0"/>
          </a:p>
        </p:txBody>
      </p:sp>
      <p:sp>
        <p:nvSpPr>
          <p:cNvPr id="21" name="Shape 19"/>
          <p:cNvSpPr/>
          <p:nvPr/>
        </p:nvSpPr>
        <p:spPr>
          <a:xfrm>
            <a:off x="5032375" y="1603375"/>
            <a:ext cx="2130425" cy="4873625"/>
          </a:xfrm>
          <a:custGeom>
            <a:avLst/>
            <a:gdLst/>
            <a:ahLst/>
            <a:cxnLst/>
            <a:rect l="l" t="t" r="r" b="b"/>
            <a:pathLst>
              <a:path w="2130425" h="4873625">
                <a:moveTo>
                  <a:pt x="0" y="0"/>
                </a:moveTo>
                <a:lnTo>
                  <a:pt x="2130425" y="0"/>
                </a:lnTo>
                <a:lnTo>
                  <a:pt x="2130425" y="4873625"/>
                </a:lnTo>
                <a:lnTo>
                  <a:pt x="0" y="4873625"/>
                </a:lnTo>
                <a:lnTo>
                  <a:pt x="0" y="0"/>
                </a:lnTo>
                <a:close/>
              </a:path>
            </a:pathLst>
          </a:custGeom>
          <a:solidFill>
            <a:srgbClr val="1A1A1A"/>
          </a:solidFill>
          <a:ln w="8467">
            <a:solidFill>
              <a:srgbClr val="2B2B2B"/>
            </a:solidFill>
            <a:prstDash val="solid"/>
          </a:ln>
        </p:spPr>
        <p:txBody>
          <a:bodyPr/>
          <a:lstStyle/>
          <a:p>
            <a:endParaRPr lang="en-IN"/>
          </a:p>
        </p:txBody>
      </p:sp>
      <p:sp>
        <p:nvSpPr>
          <p:cNvPr id="22" name="Shape 20"/>
          <p:cNvSpPr/>
          <p:nvPr/>
        </p:nvSpPr>
        <p:spPr>
          <a:xfrm>
            <a:off x="5264150" y="183515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36A">
              <a:alpha val="20000"/>
            </a:srgbClr>
          </a:solidFill>
          <a:ln/>
        </p:spPr>
        <p:txBody>
          <a:bodyPr/>
          <a:lstStyle/>
          <a:p>
            <a:endParaRPr lang="en-IN"/>
          </a:p>
        </p:txBody>
      </p:sp>
      <p:sp>
        <p:nvSpPr>
          <p:cNvPr id="23" name="Text 21"/>
          <p:cNvSpPr/>
          <p:nvPr/>
        </p:nvSpPr>
        <p:spPr>
          <a:xfrm>
            <a:off x="5426075" y="1968501"/>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4" name="Text 22"/>
          <p:cNvSpPr/>
          <p:nvPr/>
        </p:nvSpPr>
        <p:spPr>
          <a:xfrm>
            <a:off x="5264150" y="2635251"/>
            <a:ext cx="17621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Accurate Marking</a:t>
            </a:r>
            <a:endParaRPr lang="en-US" sz="1600" dirty="0"/>
          </a:p>
        </p:txBody>
      </p:sp>
      <p:sp>
        <p:nvSpPr>
          <p:cNvPr id="25" name="Text 23"/>
          <p:cNvSpPr/>
          <p:nvPr/>
        </p:nvSpPr>
        <p:spPr>
          <a:xfrm>
            <a:off x="5264150" y="3054351"/>
            <a:ext cx="1743075" cy="26860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Ensure precise attendance marking with confidence level verification to eliminate false positives and maintain data integrity.</a:t>
            </a:r>
            <a:endParaRPr lang="en-US" sz="1600" dirty="0"/>
          </a:p>
        </p:txBody>
      </p:sp>
      <p:sp>
        <p:nvSpPr>
          <p:cNvPr id="26" name="Shape 24"/>
          <p:cNvSpPr/>
          <p:nvPr/>
        </p:nvSpPr>
        <p:spPr>
          <a:xfrm>
            <a:off x="5264150" y="5895976"/>
            <a:ext cx="1666875" cy="6350"/>
          </a:xfrm>
          <a:custGeom>
            <a:avLst/>
            <a:gdLst/>
            <a:ahLst/>
            <a:cxnLst/>
            <a:rect l="l" t="t" r="r" b="b"/>
            <a:pathLst>
              <a:path w="1666875" h="6350">
                <a:moveTo>
                  <a:pt x="0" y="0"/>
                </a:moveTo>
                <a:lnTo>
                  <a:pt x="1666875" y="0"/>
                </a:lnTo>
                <a:lnTo>
                  <a:pt x="1666875" y="6350"/>
                </a:lnTo>
                <a:lnTo>
                  <a:pt x="0" y="6350"/>
                </a:lnTo>
                <a:lnTo>
                  <a:pt x="0" y="0"/>
                </a:lnTo>
                <a:close/>
              </a:path>
            </a:pathLst>
          </a:custGeom>
          <a:solidFill>
            <a:srgbClr val="2B2B2B"/>
          </a:solidFill>
          <a:ln/>
        </p:spPr>
        <p:txBody>
          <a:bodyPr/>
          <a:lstStyle/>
          <a:p>
            <a:endParaRPr lang="en-IN"/>
          </a:p>
        </p:txBody>
      </p:sp>
      <p:sp>
        <p:nvSpPr>
          <p:cNvPr id="27" name="Shape 25"/>
          <p:cNvSpPr/>
          <p:nvPr/>
        </p:nvSpPr>
        <p:spPr>
          <a:xfrm>
            <a:off x="5299869" y="6076950"/>
            <a:ext cx="100013" cy="133350"/>
          </a:xfrm>
          <a:custGeom>
            <a:avLst/>
            <a:gdLst/>
            <a:ahLst/>
            <a:cxnLst/>
            <a:rect l="l" t="t" r="r" b="b"/>
            <a:pathLst>
              <a:path w="100013" h="133350">
                <a:moveTo>
                  <a:pt x="65086" y="17398"/>
                </a:moveTo>
                <a:cubicBezTo>
                  <a:pt x="67795" y="13674"/>
                  <a:pt x="66961" y="8465"/>
                  <a:pt x="63237" y="5756"/>
                </a:cubicBezTo>
                <a:cubicBezTo>
                  <a:pt x="59513" y="3047"/>
                  <a:pt x="54304" y="3881"/>
                  <a:pt x="51595" y="7605"/>
                </a:cubicBezTo>
                <a:lnTo>
                  <a:pt x="23987" y="45553"/>
                </a:lnTo>
                <a:lnTo>
                  <a:pt x="14221" y="35786"/>
                </a:lnTo>
                <a:cubicBezTo>
                  <a:pt x="10965" y="32530"/>
                  <a:pt x="5678" y="32530"/>
                  <a:pt x="2422" y="35786"/>
                </a:cubicBezTo>
                <a:cubicBezTo>
                  <a:pt x="-833" y="39041"/>
                  <a:pt x="-833" y="44328"/>
                  <a:pt x="2422" y="47584"/>
                </a:cubicBezTo>
                <a:lnTo>
                  <a:pt x="19091" y="64253"/>
                </a:lnTo>
                <a:cubicBezTo>
                  <a:pt x="20810" y="65972"/>
                  <a:pt x="23206" y="66857"/>
                  <a:pt x="25628" y="66675"/>
                </a:cubicBezTo>
                <a:cubicBezTo>
                  <a:pt x="28050" y="66493"/>
                  <a:pt x="30290" y="65243"/>
                  <a:pt x="31723" y="63263"/>
                </a:cubicBezTo>
                <a:lnTo>
                  <a:pt x="65060" y="17424"/>
                </a:lnTo>
                <a:close/>
                <a:moveTo>
                  <a:pt x="98424" y="52819"/>
                </a:moveTo>
                <a:cubicBezTo>
                  <a:pt x="101132" y="49095"/>
                  <a:pt x="100299" y="43886"/>
                  <a:pt x="96575" y="41177"/>
                </a:cubicBezTo>
                <a:cubicBezTo>
                  <a:pt x="92850" y="38468"/>
                  <a:pt x="87641" y="39302"/>
                  <a:pt x="84932" y="43026"/>
                </a:cubicBezTo>
                <a:lnTo>
                  <a:pt x="40656" y="103893"/>
                </a:lnTo>
                <a:lnTo>
                  <a:pt x="22555" y="85792"/>
                </a:lnTo>
                <a:cubicBezTo>
                  <a:pt x="19299" y="82536"/>
                  <a:pt x="14012" y="82536"/>
                  <a:pt x="10757" y="85792"/>
                </a:cubicBezTo>
                <a:cubicBezTo>
                  <a:pt x="7501" y="89048"/>
                  <a:pt x="7501" y="94335"/>
                  <a:pt x="10757" y="97590"/>
                </a:cubicBezTo>
                <a:lnTo>
                  <a:pt x="35760" y="122593"/>
                </a:lnTo>
                <a:cubicBezTo>
                  <a:pt x="37479" y="124312"/>
                  <a:pt x="39875" y="125198"/>
                  <a:pt x="42297" y="125016"/>
                </a:cubicBezTo>
                <a:cubicBezTo>
                  <a:pt x="44719" y="124833"/>
                  <a:pt x="46959" y="123583"/>
                  <a:pt x="48391" y="121604"/>
                </a:cubicBezTo>
                <a:lnTo>
                  <a:pt x="98398" y="52845"/>
                </a:lnTo>
                <a:close/>
              </a:path>
            </a:pathLst>
          </a:custGeom>
          <a:solidFill>
            <a:srgbClr val="C9A36A"/>
          </a:solidFill>
          <a:ln/>
        </p:spPr>
        <p:txBody>
          <a:bodyPr/>
          <a:lstStyle/>
          <a:p>
            <a:endParaRPr lang="en-IN"/>
          </a:p>
        </p:txBody>
      </p:sp>
      <p:sp>
        <p:nvSpPr>
          <p:cNvPr id="28" name="Text 26"/>
          <p:cNvSpPr/>
          <p:nvPr/>
        </p:nvSpPr>
        <p:spPr>
          <a:xfrm>
            <a:off x="5492750" y="6051552"/>
            <a:ext cx="1504950" cy="190500"/>
          </a:xfrm>
          <a:prstGeom prst="rect">
            <a:avLst/>
          </a:prstGeom>
          <a:noFill/>
          <a:ln/>
        </p:spPr>
        <p:txBody>
          <a:bodyPr wrap="square" lIns="0" tIns="0" rIns="0" bIns="0" rtlCol="0" anchor="ctr"/>
          <a:lstStyle/>
          <a:p>
            <a:pP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Data Integrity</a:t>
            </a:r>
            <a:endParaRPr lang="en-US" sz="1600" dirty="0"/>
          </a:p>
        </p:txBody>
      </p:sp>
      <p:sp>
        <p:nvSpPr>
          <p:cNvPr id="29" name="Shape 27"/>
          <p:cNvSpPr/>
          <p:nvPr/>
        </p:nvSpPr>
        <p:spPr>
          <a:xfrm>
            <a:off x="7356475" y="1603375"/>
            <a:ext cx="2130425" cy="4873625"/>
          </a:xfrm>
          <a:custGeom>
            <a:avLst/>
            <a:gdLst/>
            <a:ahLst/>
            <a:cxnLst/>
            <a:rect l="l" t="t" r="r" b="b"/>
            <a:pathLst>
              <a:path w="2130425" h="4873625">
                <a:moveTo>
                  <a:pt x="0" y="0"/>
                </a:moveTo>
                <a:lnTo>
                  <a:pt x="2130425" y="0"/>
                </a:lnTo>
                <a:lnTo>
                  <a:pt x="2130425" y="4873625"/>
                </a:lnTo>
                <a:lnTo>
                  <a:pt x="0" y="4873625"/>
                </a:lnTo>
                <a:lnTo>
                  <a:pt x="0" y="0"/>
                </a:lnTo>
                <a:close/>
              </a:path>
            </a:pathLst>
          </a:custGeom>
          <a:solidFill>
            <a:srgbClr val="1A1A1A"/>
          </a:solidFill>
          <a:ln w="8467">
            <a:solidFill>
              <a:srgbClr val="2B2B2B"/>
            </a:solidFill>
            <a:prstDash val="solid"/>
          </a:ln>
        </p:spPr>
        <p:txBody>
          <a:bodyPr/>
          <a:lstStyle/>
          <a:p>
            <a:endParaRPr lang="en-IN"/>
          </a:p>
        </p:txBody>
      </p:sp>
      <p:sp>
        <p:nvSpPr>
          <p:cNvPr id="30" name="Shape 28"/>
          <p:cNvSpPr/>
          <p:nvPr/>
        </p:nvSpPr>
        <p:spPr>
          <a:xfrm>
            <a:off x="7588250" y="183515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36A">
              <a:alpha val="20000"/>
            </a:srgbClr>
          </a:solidFill>
          <a:ln/>
        </p:spPr>
        <p:txBody>
          <a:bodyPr/>
          <a:lstStyle/>
          <a:p>
            <a:endParaRPr lang="en-IN"/>
          </a:p>
        </p:txBody>
      </p:sp>
      <p:sp>
        <p:nvSpPr>
          <p:cNvPr id="31" name="Text 29"/>
          <p:cNvSpPr/>
          <p:nvPr/>
        </p:nvSpPr>
        <p:spPr>
          <a:xfrm>
            <a:off x="7743726" y="1968501"/>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32" name="Text 30"/>
          <p:cNvSpPr/>
          <p:nvPr/>
        </p:nvSpPr>
        <p:spPr>
          <a:xfrm>
            <a:off x="7588250" y="2635251"/>
            <a:ext cx="17621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Offline Operation</a:t>
            </a:r>
            <a:endParaRPr lang="en-US" sz="1600" dirty="0"/>
          </a:p>
        </p:txBody>
      </p:sp>
      <p:sp>
        <p:nvSpPr>
          <p:cNvPr id="33" name="Text 31"/>
          <p:cNvSpPr/>
          <p:nvPr/>
        </p:nvSpPr>
        <p:spPr>
          <a:xfrm>
            <a:off x="7588250" y="3054351"/>
            <a:ext cx="1743075" cy="26860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Enable the system to function completely offline without internet dependency, ensuring reliability and accessibility in all environments.</a:t>
            </a:r>
            <a:endParaRPr lang="en-US" sz="1600" dirty="0"/>
          </a:p>
        </p:txBody>
      </p:sp>
      <p:sp>
        <p:nvSpPr>
          <p:cNvPr id="34" name="Shape 32"/>
          <p:cNvSpPr/>
          <p:nvPr/>
        </p:nvSpPr>
        <p:spPr>
          <a:xfrm>
            <a:off x="7588250" y="5895976"/>
            <a:ext cx="1666875" cy="6350"/>
          </a:xfrm>
          <a:custGeom>
            <a:avLst/>
            <a:gdLst/>
            <a:ahLst/>
            <a:cxnLst/>
            <a:rect l="l" t="t" r="r" b="b"/>
            <a:pathLst>
              <a:path w="1666875" h="6350">
                <a:moveTo>
                  <a:pt x="0" y="0"/>
                </a:moveTo>
                <a:lnTo>
                  <a:pt x="1666875" y="0"/>
                </a:lnTo>
                <a:lnTo>
                  <a:pt x="1666875" y="6350"/>
                </a:lnTo>
                <a:lnTo>
                  <a:pt x="0" y="6350"/>
                </a:lnTo>
                <a:lnTo>
                  <a:pt x="0" y="0"/>
                </a:lnTo>
                <a:close/>
              </a:path>
            </a:pathLst>
          </a:custGeom>
          <a:solidFill>
            <a:srgbClr val="2B2B2B"/>
          </a:solidFill>
          <a:ln/>
        </p:spPr>
        <p:txBody>
          <a:bodyPr/>
          <a:lstStyle/>
          <a:p>
            <a:endParaRPr lang="en-IN"/>
          </a:p>
        </p:txBody>
      </p:sp>
      <p:sp>
        <p:nvSpPr>
          <p:cNvPr id="35" name="Shape 33"/>
          <p:cNvSpPr/>
          <p:nvPr/>
        </p:nvSpPr>
        <p:spPr>
          <a:xfrm>
            <a:off x="7598966" y="6076950"/>
            <a:ext cx="150019" cy="133350"/>
          </a:xfrm>
          <a:custGeom>
            <a:avLst/>
            <a:gdLst/>
            <a:ahLst/>
            <a:cxnLst/>
            <a:rect l="l" t="t" r="r" b="b"/>
            <a:pathLst>
              <a:path w="150019" h="133350">
                <a:moveTo>
                  <a:pt x="75009" y="25003"/>
                </a:moveTo>
                <a:cubicBezTo>
                  <a:pt x="51335" y="25003"/>
                  <a:pt x="29900" y="34379"/>
                  <a:pt x="14142" y="49642"/>
                </a:cubicBezTo>
                <a:cubicBezTo>
                  <a:pt x="10835" y="52845"/>
                  <a:pt x="5548" y="52767"/>
                  <a:pt x="2370" y="49459"/>
                </a:cubicBezTo>
                <a:cubicBezTo>
                  <a:pt x="-807" y="46152"/>
                  <a:pt x="-755" y="40864"/>
                  <a:pt x="2552" y="37687"/>
                </a:cubicBezTo>
                <a:cubicBezTo>
                  <a:pt x="21279" y="19508"/>
                  <a:pt x="46855" y="8334"/>
                  <a:pt x="75009" y="8334"/>
                </a:cubicBezTo>
                <a:cubicBezTo>
                  <a:pt x="103164" y="8334"/>
                  <a:pt x="128740" y="19508"/>
                  <a:pt x="147492" y="37687"/>
                </a:cubicBezTo>
                <a:cubicBezTo>
                  <a:pt x="150800" y="40891"/>
                  <a:pt x="150878" y="46178"/>
                  <a:pt x="147675" y="49459"/>
                </a:cubicBezTo>
                <a:cubicBezTo>
                  <a:pt x="144471" y="52741"/>
                  <a:pt x="139184" y="52845"/>
                  <a:pt x="135902" y="49642"/>
                </a:cubicBezTo>
                <a:cubicBezTo>
                  <a:pt x="120119" y="34379"/>
                  <a:pt x="98684" y="25003"/>
                  <a:pt x="75009" y="25003"/>
                </a:cubicBezTo>
                <a:close/>
                <a:moveTo>
                  <a:pt x="62508" y="112514"/>
                </a:moveTo>
                <a:cubicBezTo>
                  <a:pt x="62508" y="105614"/>
                  <a:pt x="68110" y="100013"/>
                  <a:pt x="75009" y="100013"/>
                </a:cubicBezTo>
                <a:cubicBezTo>
                  <a:pt x="81909" y="100013"/>
                  <a:pt x="87511" y="105614"/>
                  <a:pt x="87511" y="112514"/>
                </a:cubicBezTo>
                <a:cubicBezTo>
                  <a:pt x="87511" y="119414"/>
                  <a:pt x="81909" y="125016"/>
                  <a:pt x="75009" y="125016"/>
                </a:cubicBezTo>
                <a:cubicBezTo>
                  <a:pt x="68110" y="125016"/>
                  <a:pt x="62508" y="119414"/>
                  <a:pt x="62508" y="112514"/>
                </a:cubicBezTo>
                <a:close/>
                <a:moveTo>
                  <a:pt x="43755" y="84959"/>
                </a:moveTo>
                <a:cubicBezTo>
                  <a:pt x="40708" y="88423"/>
                  <a:pt x="35447" y="88735"/>
                  <a:pt x="31983" y="85688"/>
                </a:cubicBezTo>
                <a:cubicBezTo>
                  <a:pt x="28519" y="82641"/>
                  <a:pt x="28207" y="77379"/>
                  <a:pt x="31254" y="73915"/>
                </a:cubicBezTo>
                <a:cubicBezTo>
                  <a:pt x="41932" y="61831"/>
                  <a:pt x="57585" y="54173"/>
                  <a:pt x="75009" y="54173"/>
                </a:cubicBezTo>
                <a:cubicBezTo>
                  <a:pt x="92433" y="54173"/>
                  <a:pt x="108086" y="61831"/>
                  <a:pt x="118765" y="73915"/>
                </a:cubicBezTo>
                <a:cubicBezTo>
                  <a:pt x="121812" y="77379"/>
                  <a:pt x="121474" y="82641"/>
                  <a:pt x="118036" y="85688"/>
                </a:cubicBezTo>
                <a:cubicBezTo>
                  <a:pt x="114598" y="88735"/>
                  <a:pt x="109311" y="88396"/>
                  <a:pt x="106263" y="84959"/>
                </a:cubicBezTo>
                <a:cubicBezTo>
                  <a:pt x="98606" y="76286"/>
                  <a:pt x="87459" y="70842"/>
                  <a:pt x="75009" y="70842"/>
                </a:cubicBezTo>
                <a:cubicBezTo>
                  <a:pt x="62560" y="70842"/>
                  <a:pt x="51413" y="76286"/>
                  <a:pt x="43755" y="84959"/>
                </a:cubicBezTo>
                <a:close/>
              </a:path>
            </a:pathLst>
          </a:custGeom>
          <a:solidFill>
            <a:srgbClr val="C9A36A"/>
          </a:solidFill>
          <a:ln/>
        </p:spPr>
        <p:txBody>
          <a:bodyPr/>
          <a:lstStyle/>
          <a:p>
            <a:endParaRPr lang="en-IN"/>
          </a:p>
        </p:txBody>
      </p:sp>
      <p:sp>
        <p:nvSpPr>
          <p:cNvPr id="36" name="Text 34"/>
          <p:cNvSpPr/>
          <p:nvPr/>
        </p:nvSpPr>
        <p:spPr>
          <a:xfrm>
            <a:off x="7816850" y="6051552"/>
            <a:ext cx="1504950" cy="190500"/>
          </a:xfrm>
          <a:prstGeom prst="rect">
            <a:avLst/>
          </a:prstGeom>
          <a:noFill/>
          <a:ln/>
        </p:spPr>
        <p:txBody>
          <a:bodyPr wrap="square" lIns="0" tIns="0" rIns="0" bIns="0" rtlCol="0" anchor="ctr"/>
          <a:lstStyle/>
          <a:p>
            <a:pP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Independence</a:t>
            </a:r>
            <a:endParaRPr lang="en-US" sz="1600" dirty="0"/>
          </a:p>
        </p:txBody>
      </p:sp>
      <p:sp>
        <p:nvSpPr>
          <p:cNvPr id="37" name="Shape 35"/>
          <p:cNvSpPr/>
          <p:nvPr/>
        </p:nvSpPr>
        <p:spPr>
          <a:xfrm>
            <a:off x="9680575" y="1603375"/>
            <a:ext cx="2130425" cy="4873625"/>
          </a:xfrm>
          <a:custGeom>
            <a:avLst/>
            <a:gdLst/>
            <a:ahLst/>
            <a:cxnLst/>
            <a:rect l="l" t="t" r="r" b="b"/>
            <a:pathLst>
              <a:path w="2130425" h="4873625">
                <a:moveTo>
                  <a:pt x="0" y="0"/>
                </a:moveTo>
                <a:lnTo>
                  <a:pt x="2130425" y="0"/>
                </a:lnTo>
                <a:lnTo>
                  <a:pt x="2130425" y="4873625"/>
                </a:lnTo>
                <a:lnTo>
                  <a:pt x="0" y="4873625"/>
                </a:lnTo>
                <a:lnTo>
                  <a:pt x="0" y="0"/>
                </a:lnTo>
                <a:close/>
              </a:path>
            </a:pathLst>
          </a:custGeom>
          <a:solidFill>
            <a:srgbClr val="1A1A1A"/>
          </a:solidFill>
          <a:ln w="8467">
            <a:solidFill>
              <a:srgbClr val="2B2B2B"/>
            </a:solidFill>
            <a:prstDash val="solid"/>
          </a:ln>
        </p:spPr>
        <p:txBody>
          <a:bodyPr/>
          <a:lstStyle/>
          <a:p>
            <a:endParaRPr lang="en-IN"/>
          </a:p>
        </p:txBody>
      </p:sp>
      <p:sp>
        <p:nvSpPr>
          <p:cNvPr id="38" name="Shape 36"/>
          <p:cNvSpPr/>
          <p:nvPr/>
        </p:nvSpPr>
        <p:spPr>
          <a:xfrm>
            <a:off x="9912351" y="183515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36A">
              <a:alpha val="20000"/>
            </a:srgbClr>
          </a:solidFill>
          <a:ln/>
        </p:spPr>
        <p:txBody>
          <a:bodyPr/>
          <a:lstStyle/>
          <a:p>
            <a:endParaRPr lang="en-IN"/>
          </a:p>
        </p:txBody>
      </p:sp>
      <p:sp>
        <p:nvSpPr>
          <p:cNvPr id="39" name="Text 37"/>
          <p:cNvSpPr/>
          <p:nvPr/>
        </p:nvSpPr>
        <p:spPr>
          <a:xfrm>
            <a:off x="10075664" y="1968501"/>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40" name="Text 38"/>
          <p:cNvSpPr/>
          <p:nvPr/>
        </p:nvSpPr>
        <p:spPr>
          <a:xfrm>
            <a:off x="9912351" y="2635251"/>
            <a:ext cx="17621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Secure Storage</a:t>
            </a:r>
            <a:endParaRPr lang="en-US" sz="1600" dirty="0"/>
          </a:p>
        </p:txBody>
      </p:sp>
      <p:sp>
        <p:nvSpPr>
          <p:cNvPr id="41" name="Text 39"/>
          <p:cNvSpPr/>
          <p:nvPr/>
        </p:nvSpPr>
        <p:spPr>
          <a:xfrm>
            <a:off x="9912351" y="3054351"/>
            <a:ext cx="1743075" cy="26860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Store attendance data securely in both CSV and MySQL database formats, providing redundancy and easy data management capabilities.</a:t>
            </a:r>
            <a:endParaRPr lang="en-US" sz="1600" dirty="0"/>
          </a:p>
        </p:txBody>
      </p:sp>
      <p:sp>
        <p:nvSpPr>
          <p:cNvPr id="42" name="Shape 40"/>
          <p:cNvSpPr/>
          <p:nvPr/>
        </p:nvSpPr>
        <p:spPr>
          <a:xfrm>
            <a:off x="9912351" y="5895976"/>
            <a:ext cx="1666875" cy="6350"/>
          </a:xfrm>
          <a:custGeom>
            <a:avLst/>
            <a:gdLst/>
            <a:ahLst/>
            <a:cxnLst/>
            <a:rect l="l" t="t" r="r" b="b"/>
            <a:pathLst>
              <a:path w="1666875" h="6350">
                <a:moveTo>
                  <a:pt x="0" y="0"/>
                </a:moveTo>
                <a:lnTo>
                  <a:pt x="1666875" y="0"/>
                </a:lnTo>
                <a:lnTo>
                  <a:pt x="1666875" y="6350"/>
                </a:lnTo>
                <a:lnTo>
                  <a:pt x="0" y="6350"/>
                </a:lnTo>
                <a:lnTo>
                  <a:pt x="0" y="0"/>
                </a:lnTo>
                <a:close/>
              </a:path>
            </a:pathLst>
          </a:custGeom>
          <a:solidFill>
            <a:srgbClr val="2B2B2B"/>
          </a:solidFill>
          <a:ln/>
        </p:spPr>
        <p:txBody>
          <a:bodyPr/>
          <a:lstStyle/>
          <a:p>
            <a:endParaRPr lang="en-IN"/>
          </a:p>
        </p:txBody>
      </p:sp>
      <p:sp>
        <p:nvSpPr>
          <p:cNvPr id="43" name="Shape 41"/>
          <p:cNvSpPr/>
          <p:nvPr/>
        </p:nvSpPr>
        <p:spPr>
          <a:xfrm>
            <a:off x="9948070" y="6076950"/>
            <a:ext cx="100013" cy="133350"/>
          </a:xfrm>
          <a:custGeom>
            <a:avLst/>
            <a:gdLst/>
            <a:ahLst/>
            <a:cxnLst/>
            <a:rect l="l" t="t" r="r" b="b"/>
            <a:pathLst>
              <a:path w="100013" h="133350">
                <a:moveTo>
                  <a:pt x="33337" y="25003"/>
                </a:moveTo>
                <a:lnTo>
                  <a:pt x="33337" y="41672"/>
                </a:lnTo>
                <a:lnTo>
                  <a:pt x="66675" y="41672"/>
                </a:lnTo>
                <a:lnTo>
                  <a:pt x="66675" y="25003"/>
                </a:lnTo>
                <a:cubicBezTo>
                  <a:pt x="66675" y="15809"/>
                  <a:pt x="59200" y="8334"/>
                  <a:pt x="50006" y="8334"/>
                </a:cubicBezTo>
                <a:cubicBezTo>
                  <a:pt x="40812" y="8334"/>
                  <a:pt x="33337" y="15809"/>
                  <a:pt x="33337" y="25003"/>
                </a:cubicBezTo>
                <a:close/>
                <a:moveTo>
                  <a:pt x="16669" y="41672"/>
                </a:moveTo>
                <a:lnTo>
                  <a:pt x="16669" y="25003"/>
                </a:lnTo>
                <a:cubicBezTo>
                  <a:pt x="16669" y="6589"/>
                  <a:pt x="31592" y="-8334"/>
                  <a:pt x="50006" y="-8334"/>
                </a:cubicBezTo>
                <a:cubicBezTo>
                  <a:pt x="68420" y="-8334"/>
                  <a:pt x="83344" y="6589"/>
                  <a:pt x="83344" y="25003"/>
                </a:cubicBezTo>
                <a:lnTo>
                  <a:pt x="83344" y="41672"/>
                </a:lnTo>
                <a:cubicBezTo>
                  <a:pt x="92538" y="41672"/>
                  <a:pt x="100013" y="49147"/>
                  <a:pt x="100013" y="58341"/>
                </a:cubicBezTo>
                <a:lnTo>
                  <a:pt x="100013" y="116681"/>
                </a:lnTo>
                <a:cubicBezTo>
                  <a:pt x="100013" y="125875"/>
                  <a:pt x="92538" y="133350"/>
                  <a:pt x="83344" y="133350"/>
                </a:cubicBezTo>
                <a:lnTo>
                  <a:pt x="16669" y="133350"/>
                </a:lnTo>
                <a:cubicBezTo>
                  <a:pt x="7475" y="133350"/>
                  <a:pt x="0" y="125875"/>
                  <a:pt x="0" y="116681"/>
                </a:cubicBezTo>
                <a:lnTo>
                  <a:pt x="0" y="58341"/>
                </a:lnTo>
                <a:cubicBezTo>
                  <a:pt x="0" y="49147"/>
                  <a:pt x="7475" y="41672"/>
                  <a:pt x="16669" y="41672"/>
                </a:cubicBezTo>
                <a:close/>
              </a:path>
            </a:pathLst>
          </a:custGeom>
          <a:solidFill>
            <a:srgbClr val="C9A36A"/>
          </a:solidFill>
          <a:ln/>
        </p:spPr>
        <p:txBody>
          <a:bodyPr/>
          <a:lstStyle/>
          <a:p>
            <a:endParaRPr lang="en-IN"/>
          </a:p>
        </p:txBody>
      </p:sp>
      <p:sp>
        <p:nvSpPr>
          <p:cNvPr id="44" name="Text 42"/>
          <p:cNvSpPr/>
          <p:nvPr/>
        </p:nvSpPr>
        <p:spPr>
          <a:xfrm>
            <a:off x="10140951" y="6051552"/>
            <a:ext cx="1504950" cy="190500"/>
          </a:xfrm>
          <a:prstGeom prst="rect">
            <a:avLst/>
          </a:prstGeom>
          <a:noFill/>
          <a:ln/>
        </p:spPr>
        <p:txBody>
          <a:bodyPr wrap="square" lIns="0" tIns="0" rIns="0" bIns="0" rtlCol="0" anchor="ctr"/>
          <a:lstStyle/>
          <a:p>
            <a:pP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Data Security</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04 / Technologies</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Technology Stack</a:t>
            </a:r>
            <a:endParaRPr lang="en-US" sz="1600" dirty="0"/>
          </a:p>
        </p:txBody>
      </p:sp>
      <p:sp>
        <p:nvSpPr>
          <p:cNvPr id="4" name="Shape 2"/>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384175" y="1527175"/>
            <a:ext cx="3673475" cy="2273300"/>
          </a:xfrm>
          <a:custGeom>
            <a:avLst/>
            <a:gdLst/>
            <a:ahLst/>
            <a:cxnLst/>
            <a:rect l="l" t="t" r="r" b="b"/>
            <a:pathLst>
              <a:path w="3673475" h="2273300">
                <a:moveTo>
                  <a:pt x="0" y="0"/>
                </a:moveTo>
                <a:lnTo>
                  <a:pt x="3673475" y="0"/>
                </a:lnTo>
                <a:lnTo>
                  <a:pt x="3673475" y="2273300"/>
                </a:lnTo>
                <a:lnTo>
                  <a:pt x="0" y="2273300"/>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633809" y="1720851"/>
            <a:ext cx="250031" cy="285750"/>
          </a:xfrm>
          <a:custGeom>
            <a:avLst/>
            <a:gdLst/>
            <a:ahLst/>
            <a:cxnLst/>
            <a:rect l="l" t="t" r="r" b="b"/>
            <a:pathLst>
              <a:path w="250031" h="285750">
                <a:moveTo>
                  <a:pt x="245455" y="111900"/>
                </a:moveTo>
                <a:cubicBezTo>
                  <a:pt x="241157" y="94655"/>
                  <a:pt x="233009" y="81651"/>
                  <a:pt x="215652" y="81651"/>
                </a:cubicBezTo>
                <a:lnTo>
                  <a:pt x="193272" y="81651"/>
                </a:lnTo>
                <a:lnTo>
                  <a:pt x="193272" y="108105"/>
                </a:lnTo>
                <a:cubicBezTo>
                  <a:pt x="193272" y="128643"/>
                  <a:pt x="175859" y="145945"/>
                  <a:pt x="155990" y="145945"/>
                </a:cubicBezTo>
                <a:lnTo>
                  <a:pt x="96385" y="145945"/>
                </a:lnTo>
                <a:cubicBezTo>
                  <a:pt x="80088" y="145945"/>
                  <a:pt x="66582" y="159897"/>
                  <a:pt x="66582" y="176250"/>
                </a:cubicBezTo>
                <a:lnTo>
                  <a:pt x="66582" y="233065"/>
                </a:lnTo>
                <a:cubicBezTo>
                  <a:pt x="66582" y="249250"/>
                  <a:pt x="80646" y="258738"/>
                  <a:pt x="96385" y="263370"/>
                </a:cubicBezTo>
                <a:cubicBezTo>
                  <a:pt x="115249" y="268895"/>
                  <a:pt x="133387" y="269900"/>
                  <a:pt x="155990" y="263370"/>
                </a:cubicBezTo>
                <a:cubicBezTo>
                  <a:pt x="171004" y="259017"/>
                  <a:pt x="185793" y="250254"/>
                  <a:pt x="185793" y="233065"/>
                </a:cubicBezTo>
                <a:lnTo>
                  <a:pt x="185793" y="210350"/>
                </a:lnTo>
                <a:lnTo>
                  <a:pt x="126243" y="210350"/>
                </a:lnTo>
                <a:lnTo>
                  <a:pt x="126243" y="202760"/>
                </a:lnTo>
                <a:lnTo>
                  <a:pt x="215652" y="202760"/>
                </a:lnTo>
                <a:cubicBezTo>
                  <a:pt x="233009" y="202760"/>
                  <a:pt x="239427" y="190649"/>
                  <a:pt x="245455" y="172510"/>
                </a:cubicBezTo>
                <a:cubicBezTo>
                  <a:pt x="251706" y="153814"/>
                  <a:pt x="251427" y="135843"/>
                  <a:pt x="245455" y="111900"/>
                </a:cubicBezTo>
                <a:close/>
                <a:moveTo>
                  <a:pt x="159730" y="248190"/>
                </a:moveTo>
                <a:cubicBezTo>
                  <a:pt x="155482" y="248487"/>
                  <a:pt x="151423" y="246390"/>
                  <a:pt x="149209" y="242753"/>
                </a:cubicBezTo>
                <a:cubicBezTo>
                  <a:pt x="146994" y="239116"/>
                  <a:pt x="146994" y="234548"/>
                  <a:pt x="149209" y="230911"/>
                </a:cubicBezTo>
                <a:cubicBezTo>
                  <a:pt x="151423" y="227274"/>
                  <a:pt x="155482" y="225177"/>
                  <a:pt x="159730" y="225475"/>
                </a:cubicBezTo>
                <a:cubicBezTo>
                  <a:pt x="163977" y="225177"/>
                  <a:pt x="168036" y="227274"/>
                  <a:pt x="170251" y="230911"/>
                </a:cubicBezTo>
                <a:cubicBezTo>
                  <a:pt x="172465" y="234548"/>
                  <a:pt x="172465" y="239116"/>
                  <a:pt x="170251" y="242753"/>
                </a:cubicBezTo>
                <a:cubicBezTo>
                  <a:pt x="168036" y="246390"/>
                  <a:pt x="163977" y="248487"/>
                  <a:pt x="159730" y="248190"/>
                </a:cubicBezTo>
                <a:close/>
                <a:moveTo>
                  <a:pt x="93650" y="138466"/>
                </a:moveTo>
                <a:lnTo>
                  <a:pt x="153256" y="138466"/>
                </a:lnTo>
                <a:cubicBezTo>
                  <a:pt x="169831" y="138466"/>
                  <a:pt x="183059" y="124792"/>
                  <a:pt x="183059" y="108161"/>
                </a:cubicBezTo>
                <a:lnTo>
                  <a:pt x="183059" y="51290"/>
                </a:lnTo>
                <a:cubicBezTo>
                  <a:pt x="183059" y="35105"/>
                  <a:pt x="169441" y="22994"/>
                  <a:pt x="153256" y="20259"/>
                </a:cubicBezTo>
                <a:cubicBezTo>
                  <a:pt x="133276" y="16966"/>
                  <a:pt x="111565" y="17134"/>
                  <a:pt x="93650" y="20315"/>
                </a:cubicBezTo>
                <a:cubicBezTo>
                  <a:pt x="68424" y="24780"/>
                  <a:pt x="63847" y="34100"/>
                  <a:pt x="63847" y="51346"/>
                </a:cubicBezTo>
                <a:lnTo>
                  <a:pt x="63847" y="74061"/>
                </a:lnTo>
                <a:lnTo>
                  <a:pt x="123509" y="74061"/>
                </a:lnTo>
                <a:lnTo>
                  <a:pt x="123509" y="81651"/>
                </a:lnTo>
                <a:lnTo>
                  <a:pt x="41467" y="81651"/>
                </a:lnTo>
                <a:cubicBezTo>
                  <a:pt x="24110" y="81651"/>
                  <a:pt x="8930" y="92087"/>
                  <a:pt x="4186" y="111900"/>
                </a:cubicBezTo>
                <a:cubicBezTo>
                  <a:pt x="-1284" y="134615"/>
                  <a:pt x="-1507" y="148791"/>
                  <a:pt x="4186" y="172510"/>
                </a:cubicBezTo>
                <a:cubicBezTo>
                  <a:pt x="8427" y="190147"/>
                  <a:pt x="18529" y="202760"/>
                  <a:pt x="35886" y="202760"/>
                </a:cubicBezTo>
                <a:lnTo>
                  <a:pt x="56369" y="202760"/>
                </a:lnTo>
                <a:lnTo>
                  <a:pt x="56369" y="175524"/>
                </a:lnTo>
                <a:cubicBezTo>
                  <a:pt x="56369" y="155823"/>
                  <a:pt x="73391" y="138466"/>
                  <a:pt x="93650" y="138466"/>
                </a:cubicBezTo>
                <a:close/>
                <a:moveTo>
                  <a:pt x="89967" y="36109"/>
                </a:moveTo>
                <a:cubicBezTo>
                  <a:pt x="96250" y="36109"/>
                  <a:pt x="101352" y="41211"/>
                  <a:pt x="101352" y="47495"/>
                </a:cubicBezTo>
                <a:cubicBezTo>
                  <a:pt x="101352" y="53779"/>
                  <a:pt x="96250" y="58880"/>
                  <a:pt x="89967" y="58880"/>
                </a:cubicBezTo>
                <a:cubicBezTo>
                  <a:pt x="83683" y="58880"/>
                  <a:pt x="78581" y="53779"/>
                  <a:pt x="78581" y="47495"/>
                </a:cubicBezTo>
                <a:cubicBezTo>
                  <a:pt x="78581" y="41211"/>
                  <a:pt x="83683" y="36109"/>
                  <a:pt x="89967" y="36109"/>
                </a:cubicBezTo>
                <a:close/>
              </a:path>
            </a:pathLst>
          </a:custGeom>
          <a:solidFill>
            <a:srgbClr val="C9A36A"/>
          </a:solidFill>
          <a:ln/>
        </p:spPr>
        <p:txBody>
          <a:bodyPr/>
          <a:lstStyle/>
          <a:p>
            <a:endParaRPr lang="en-IN"/>
          </a:p>
        </p:txBody>
      </p:sp>
      <p:sp>
        <p:nvSpPr>
          <p:cNvPr id="7" name="Text 5"/>
          <p:cNvSpPr/>
          <p:nvPr/>
        </p:nvSpPr>
        <p:spPr>
          <a:xfrm>
            <a:off x="1049338" y="1730376"/>
            <a:ext cx="666750"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Python</a:t>
            </a:r>
            <a:endParaRPr lang="en-US" sz="1600" dirty="0"/>
          </a:p>
        </p:txBody>
      </p:sp>
      <p:sp>
        <p:nvSpPr>
          <p:cNvPr id="8" name="Text 6"/>
          <p:cNvSpPr/>
          <p:nvPr/>
        </p:nvSpPr>
        <p:spPr>
          <a:xfrm>
            <a:off x="577850" y="2159001"/>
            <a:ext cx="3362325" cy="9906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Primary programming language chosen for its extensive libraries, ease of use, and strong community support in computer vision applications.</a:t>
            </a:r>
            <a:endParaRPr lang="en-US" sz="1600" dirty="0"/>
          </a:p>
        </p:txBody>
      </p:sp>
      <p:sp>
        <p:nvSpPr>
          <p:cNvPr id="9" name="Shape 7"/>
          <p:cNvSpPr/>
          <p:nvPr/>
        </p:nvSpPr>
        <p:spPr>
          <a:xfrm>
            <a:off x="577850" y="3263903"/>
            <a:ext cx="723900" cy="266700"/>
          </a:xfrm>
          <a:custGeom>
            <a:avLst/>
            <a:gdLst/>
            <a:ahLst/>
            <a:cxnLst/>
            <a:rect l="l" t="t" r="r" b="b"/>
            <a:pathLst>
              <a:path w="723900" h="266700">
                <a:moveTo>
                  <a:pt x="133350" y="0"/>
                </a:moveTo>
                <a:lnTo>
                  <a:pt x="590550" y="0"/>
                </a:lnTo>
                <a:cubicBezTo>
                  <a:pt x="664148" y="0"/>
                  <a:pt x="723900" y="59752"/>
                  <a:pt x="723900" y="133350"/>
                </a:cubicBezTo>
                <a:lnTo>
                  <a:pt x="723900" y="133350"/>
                </a:lnTo>
                <a:cubicBezTo>
                  <a:pt x="723900" y="206948"/>
                  <a:pt x="664148" y="266700"/>
                  <a:pt x="5905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10" name="Text 8"/>
          <p:cNvSpPr/>
          <p:nvPr/>
        </p:nvSpPr>
        <p:spPr>
          <a:xfrm>
            <a:off x="577850" y="3263903"/>
            <a:ext cx="7905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OpenCV</a:t>
            </a:r>
            <a:endParaRPr lang="en-US" sz="1600" dirty="0"/>
          </a:p>
        </p:txBody>
      </p:sp>
      <p:sp>
        <p:nvSpPr>
          <p:cNvPr id="11" name="Shape 9"/>
          <p:cNvSpPr/>
          <p:nvPr/>
        </p:nvSpPr>
        <p:spPr>
          <a:xfrm>
            <a:off x="1373287" y="3263903"/>
            <a:ext cx="647700" cy="266700"/>
          </a:xfrm>
          <a:custGeom>
            <a:avLst/>
            <a:gdLst/>
            <a:ahLst/>
            <a:cxnLst/>
            <a:rect l="l" t="t" r="r" b="b"/>
            <a:pathLst>
              <a:path w="647700" h="266700">
                <a:moveTo>
                  <a:pt x="133350" y="0"/>
                </a:moveTo>
                <a:lnTo>
                  <a:pt x="514350" y="0"/>
                </a:lnTo>
                <a:cubicBezTo>
                  <a:pt x="587948" y="0"/>
                  <a:pt x="647700" y="59752"/>
                  <a:pt x="647700" y="133350"/>
                </a:cubicBezTo>
                <a:lnTo>
                  <a:pt x="647700" y="133350"/>
                </a:lnTo>
                <a:cubicBezTo>
                  <a:pt x="647700" y="206948"/>
                  <a:pt x="587948" y="266700"/>
                  <a:pt x="5143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12" name="Text 10"/>
          <p:cNvSpPr/>
          <p:nvPr/>
        </p:nvSpPr>
        <p:spPr>
          <a:xfrm>
            <a:off x="1373287" y="3263903"/>
            <a:ext cx="7143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NumPy</a:t>
            </a:r>
            <a:endParaRPr lang="en-US" sz="1600" dirty="0"/>
          </a:p>
        </p:txBody>
      </p:sp>
      <p:sp>
        <p:nvSpPr>
          <p:cNvPr id="13" name="Shape 11"/>
          <p:cNvSpPr/>
          <p:nvPr/>
        </p:nvSpPr>
        <p:spPr>
          <a:xfrm>
            <a:off x="2098873" y="3263903"/>
            <a:ext cx="638175" cy="266700"/>
          </a:xfrm>
          <a:custGeom>
            <a:avLst/>
            <a:gdLst/>
            <a:ahLst/>
            <a:cxnLst/>
            <a:rect l="l" t="t" r="r" b="b"/>
            <a:pathLst>
              <a:path w="638175" h="266700">
                <a:moveTo>
                  <a:pt x="133350" y="0"/>
                </a:moveTo>
                <a:lnTo>
                  <a:pt x="504825" y="0"/>
                </a:lnTo>
                <a:cubicBezTo>
                  <a:pt x="578423" y="0"/>
                  <a:pt x="638175" y="59752"/>
                  <a:pt x="638175" y="133350"/>
                </a:cubicBezTo>
                <a:lnTo>
                  <a:pt x="638175" y="133350"/>
                </a:lnTo>
                <a:cubicBezTo>
                  <a:pt x="638175" y="206948"/>
                  <a:pt x="578423" y="266700"/>
                  <a:pt x="504825"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14" name="Text 12"/>
          <p:cNvSpPr/>
          <p:nvPr/>
        </p:nvSpPr>
        <p:spPr>
          <a:xfrm>
            <a:off x="2098873" y="3263903"/>
            <a:ext cx="704850"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Pandas</a:t>
            </a:r>
            <a:endParaRPr lang="en-US" sz="1600" dirty="0"/>
          </a:p>
        </p:txBody>
      </p:sp>
      <p:sp>
        <p:nvSpPr>
          <p:cNvPr id="15" name="Shape 13"/>
          <p:cNvSpPr/>
          <p:nvPr/>
        </p:nvSpPr>
        <p:spPr>
          <a:xfrm>
            <a:off x="4257675" y="1527175"/>
            <a:ext cx="3673475" cy="2273300"/>
          </a:xfrm>
          <a:custGeom>
            <a:avLst/>
            <a:gdLst/>
            <a:ahLst/>
            <a:cxnLst/>
            <a:rect l="l" t="t" r="r" b="b"/>
            <a:pathLst>
              <a:path w="3673475" h="2273300">
                <a:moveTo>
                  <a:pt x="0" y="0"/>
                </a:moveTo>
                <a:lnTo>
                  <a:pt x="3673475" y="0"/>
                </a:lnTo>
                <a:lnTo>
                  <a:pt x="3673475" y="2273300"/>
                </a:lnTo>
                <a:lnTo>
                  <a:pt x="0" y="2273300"/>
                </a:lnTo>
                <a:lnTo>
                  <a:pt x="0" y="0"/>
                </a:lnTo>
                <a:close/>
              </a:path>
            </a:pathLst>
          </a:custGeom>
          <a:solidFill>
            <a:srgbClr val="1A1A1A"/>
          </a:solidFill>
          <a:ln w="8467">
            <a:solidFill>
              <a:srgbClr val="2B2B2B"/>
            </a:solidFill>
            <a:prstDash val="solid"/>
          </a:ln>
        </p:spPr>
        <p:txBody>
          <a:bodyPr/>
          <a:lstStyle/>
          <a:p>
            <a:endParaRPr lang="en-IN"/>
          </a:p>
        </p:txBody>
      </p:sp>
      <p:sp>
        <p:nvSpPr>
          <p:cNvPr id="16" name="Shape 14"/>
          <p:cNvSpPr/>
          <p:nvPr/>
        </p:nvSpPr>
        <p:spPr>
          <a:xfrm>
            <a:off x="4471591" y="1720851"/>
            <a:ext cx="321469" cy="285750"/>
          </a:xfrm>
          <a:custGeom>
            <a:avLst/>
            <a:gdLst/>
            <a:ahLst/>
            <a:cxnLst/>
            <a:rect l="l" t="t" r="r" b="b"/>
            <a:pathLst>
              <a:path w="321469" h="285750">
                <a:moveTo>
                  <a:pt x="160734" y="17859"/>
                </a:moveTo>
                <a:cubicBezTo>
                  <a:pt x="115639" y="17859"/>
                  <a:pt x="79530" y="38398"/>
                  <a:pt x="53243" y="62843"/>
                </a:cubicBezTo>
                <a:cubicBezTo>
                  <a:pt x="27124" y="87120"/>
                  <a:pt x="9655" y="116086"/>
                  <a:pt x="1339" y="136010"/>
                </a:cubicBezTo>
                <a:cubicBezTo>
                  <a:pt x="-502" y="140419"/>
                  <a:pt x="-502" y="145331"/>
                  <a:pt x="1339" y="149740"/>
                </a:cubicBezTo>
                <a:cubicBezTo>
                  <a:pt x="9655" y="169664"/>
                  <a:pt x="27124" y="198686"/>
                  <a:pt x="53243" y="222907"/>
                </a:cubicBezTo>
                <a:cubicBezTo>
                  <a:pt x="79530" y="247297"/>
                  <a:pt x="115639" y="267891"/>
                  <a:pt x="160734" y="267891"/>
                </a:cubicBezTo>
                <a:cubicBezTo>
                  <a:pt x="205829" y="267891"/>
                  <a:pt x="241939" y="247352"/>
                  <a:pt x="268225" y="222907"/>
                </a:cubicBezTo>
                <a:cubicBezTo>
                  <a:pt x="294345" y="198630"/>
                  <a:pt x="311814" y="169664"/>
                  <a:pt x="320129" y="149740"/>
                </a:cubicBezTo>
                <a:cubicBezTo>
                  <a:pt x="321971" y="145331"/>
                  <a:pt x="321971" y="140419"/>
                  <a:pt x="320129" y="136010"/>
                </a:cubicBezTo>
                <a:cubicBezTo>
                  <a:pt x="311814" y="116086"/>
                  <a:pt x="294345" y="87064"/>
                  <a:pt x="268225" y="62843"/>
                </a:cubicBezTo>
                <a:cubicBezTo>
                  <a:pt x="241939" y="38453"/>
                  <a:pt x="205829" y="17859"/>
                  <a:pt x="160734" y="17859"/>
                </a:cubicBezTo>
                <a:close/>
                <a:moveTo>
                  <a:pt x="80367" y="142875"/>
                </a:moveTo>
                <a:cubicBezTo>
                  <a:pt x="80367" y="98519"/>
                  <a:pt x="116379" y="62508"/>
                  <a:pt x="160734" y="62508"/>
                </a:cubicBezTo>
                <a:cubicBezTo>
                  <a:pt x="205090" y="62508"/>
                  <a:pt x="241102" y="98519"/>
                  <a:pt x="241102" y="142875"/>
                </a:cubicBezTo>
                <a:cubicBezTo>
                  <a:pt x="241102" y="187231"/>
                  <a:pt x="205090" y="223242"/>
                  <a:pt x="160734" y="223242"/>
                </a:cubicBezTo>
                <a:cubicBezTo>
                  <a:pt x="116379" y="223242"/>
                  <a:pt x="80367" y="187231"/>
                  <a:pt x="80367" y="142875"/>
                </a:cubicBezTo>
                <a:close/>
                <a:moveTo>
                  <a:pt x="160734" y="107156"/>
                </a:moveTo>
                <a:cubicBezTo>
                  <a:pt x="160734" y="126857"/>
                  <a:pt x="144717" y="142875"/>
                  <a:pt x="125016" y="142875"/>
                </a:cubicBezTo>
                <a:cubicBezTo>
                  <a:pt x="118597" y="142875"/>
                  <a:pt x="112570" y="141201"/>
                  <a:pt x="107324" y="138187"/>
                </a:cubicBezTo>
                <a:cubicBezTo>
                  <a:pt x="106766" y="144270"/>
                  <a:pt x="107268" y="150521"/>
                  <a:pt x="108942" y="156716"/>
                </a:cubicBezTo>
                <a:cubicBezTo>
                  <a:pt x="116588" y="185291"/>
                  <a:pt x="146000" y="202257"/>
                  <a:pt x="174575" y="194611"/>
                </a:cubicBezTo>
                <a:cubicBezTo>
                  <a:pt x="203150" y="186965"/>
                  <a:pt x="220117" y="157553"/>
                  <a:pt x="212471" y="128978"/>
                </a:cubicBezTo>
                <a:cubicBezTo>
                  <a:pt x="205662" y="103473"/>
                  <a:pt x="181496" y="87232"/>
                  <a:pt x="156046" y="89464"/>
                </a:cubicBezTo>
                <a:cubicBezTo>
                  <a:pt x="159004" y="94655"/>
                  <a:pt x="160734" y="100682"/>
                  <a:pt x="160734" y="107156"/>
                </a:cubicBezTo>
                <a:close/>
              </a:path>
            </a:pathLst>
          </a:custGeom>
          <a:solidFill>
            <a:srgbClr val="C9A36A"/>
          </a:solidFill>
          <a:ln/>
        </p:spPr>
        <p:txBody>
          <a:bodyPr/>
          <a:lstStyle/>
          <a:p>
            <a:endParaRPr lang="en-IN"/>
          </a:p>
        </p:txBody>
      </p:sp>
      <p:sp>
        <p:nvSpPr>
          <p:cNvPr id="17" name="Text 15"/>
          <p:cNvSpPr/>
          <p:nvPr/>
        </p:nvSpPr>
        <p:spPr>
          <a:xfrm>
            <a:off x="4922838" y="1730376"/>
            <a:ext cx="132397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Face Detection</a:t>
            </a:r>
            <a:endParaRPr lang="en-US" sz="1600" dirty="0"/>
          </a:p>
        </p:txBody>
      </p:sp>
      <p:sp>
        <p:nvSpPr>
          <p:cNvPr id="18" name="Text 16"/>
          <p:cNvSpPr/>
          <p:nvPr/>
        </p:nvSpPr>
        <p:spPr>
          <a:xfrm>
            <a:off x="4451350" y="2159001"/>
            <a:ext cx="3362325" cy="9906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Haar Cascade classifier used for rapid face detection in real-time video streams with pre-trained models optimized for frontal face detection.</a:t>
            </a:r>
            <a:endParaRPr lang="en-US" sz="1600" dirty="0"/>
          </a:p>
        </p:txBody>
      </p:sp>
      <p:sp>
        <p:nvSpPr>
          <p:cNvPr id="19" name="Shape 17"/>
          <p:cNvSpPr/>
          <p:nvPr/>
        </p:nvSpPr>
        <p:spPr>
          <a:xfrm>
            <a:off x="4451350" y="3263903"/>
            <a:ext cx="790575" cy="266700"/>
          </a:xfrm>
          <a:custGeom>
            <a:avLst/>
            <a:gdLst/>
            <a:ahLst/>
            <a:cxnLst/>
            <a:rect l="l" t="t" r="r" b="b"/>
            <a:pathLst>
              <a:path w="790575" h="266700">
                <a:moveTo>
                  <a:pt x="133350" y="0"/>
                </a:moveTo>
                <a:lnTo>
                  <a:pt x="657225" y="0"/>
                </a:lnTo>
                <a:cubicBezTo>
                  <a:pt x="730823" y="0"/>
                  <a:pt x="790575" y="59752"/>
                  <a:pt x="790575" y="133350"/>
                </a:cubicBezTo>
                <a:lnTo>
                  <a:pt x="790575" y="133350"/>
                </a:lnTo>
                <a:cubicBezTo>
                  <a:pt x="790575" y="206948"/>
                  <a:pt x="730823" y="266700"/>
                  <a:pt x="657225"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20" name="Text 18"/>
          <p:cNvSpPr/>
          <p:nvPr/>
        </p:nvSpPr>
        <p:spPr>
          <a:xfrm>
            <a:off x="4451350" y="3263903"/>
            <a:ext cx="857250"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Real-time</a:t>
            </a:r>
            <a:endParaRPr lang="en-US" sz="1600" dirty="0"/>
          </a:p>
        </p:txBody>
      </p:sp>
      <p:sp>
        <p:nvSpPr>
          <p:cNvPr id="21" name="Shape 19"/>
          <p:cNvSpPr/>
          <p:nvPr/>
        </p:nvSpPr>
        <p:spPr>
          <a:xfrm>
            <a:off x="5322788" y="3263903"/>
            <a:ext cx="685800" cy="266700"/>
          </a:xfrm>
          <a:custGeom>
            <a:avLst/>
            <a:gdLst/>
            <a:ahLst/>
            <a:cxnLst/>
            <a:rect l="l" t="t" r="r" b="b"/>
            <a:pathLst>
              <a:path w="685800" h="266700">
                <a:moveTo>
                  <a:pt x="133350" y="0"/>
                </a:moveTo>
                <a:lnTo>
                  <a:pt x="552450" y="0"/>
                </a:lnTo>
                <a:cubicBezTo>
                  <a:pt x="626048" y="0"/>
                  <a:pt x="685800" y="59752"/>
                  <a:pt x="685800" y="133350"/>
                </a:cubicBezTo>
                <a:lnTo>
                  <a:pt x="685800" y="133350"/>
                </a:lnTo>
                <a:cubicBezTo>
                  <a:pt x="685800" y="206948"/>
                  <a:pt x="626048" y="266700"/>
                  <a:pt x="5524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22" name="Text 20"/>
          <p:cNvSpPr/>
          <p:nvPr/>
        </p:nvSpPr>
        <p:spPr>
          <a:xfrm>
            <a:off x="5322788" y="3263903"/>
            <a:ext cx="7524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Efficient</a:t>
            </a:r>
            <a:endParaRPr lang="en-US" sz="1600" dirty="0"/>
          </a:p>
        </p:txBody>
      </p:sp>
      <p:sp>
        <p:nvSpPr>
          <p:cNvPr id="23" name="Shape 21"/>
          <p:cNvSpPr/>
          <p:nvPr/>
        </p:nvSpPr>
        <p:spPr>
          <a:xfrm>
            <a:off x="6086872" y="3263903"/>
            <a:ext cx="895350" cy="266700"/>
          </a:xfrm>
          <a:custGeom>
            <a:avLst/>
            <a:gdLst/>
            <a:ahLst/>
            <a:cxnLst/>
            <a:rect l="l" t="t" r="r" b="b"/>
            <a:pathLst>
              <a:path w="895350" h="266700">
                <a:moveTo>
                  <a:pt x="133350" y="0"/>
                </a:moveTo>
                <a:lnTo>
                  <a:pt x="762000" y="0"/>
                </a:lnTo>
                <a:cubicBezTo>
                  <a:pt x="835598" y="0"/>
                  <a:pt x="895350" y="59752"/>
                  <a:pt x="895350" y="133350"/>
                </a:cubicBezTo>
                <a:lnTo>
                  <a:pt x="895350" y="133350"/>
                </a:lnTo>
                <a:cubicBezTo>
                  <a:pt x="895350" y="206948"/>
                  <a:pt x="835598" y="266700"/>
                  <a:pt x="76200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24" name="Text 22"/>
          <p:cNvSpPr/>
          <p:nvPr/>
        </p:nvSpPr>
        <p:spPr>
          <a:xfrm>
            <a:off x="6086872" y="3263903"/>
            <a:ext cx="96202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Lightweight</a:t>
            </a:r>
            <a:endParaRPr lang="en-US" sz="1600" dirty="0"/>
          </a:p>
        </p:txBody>
      </p:sp>
      <p:sp>
        <p:nvSpPr>
          <p:cNvPr id="25" name="Shape 23"/>
          <p:cNvSpPr/>
          <p:nvPr/>
        </p:nvSpPr>
        <p:spPr>
          <a:xfrm>
            <a:off x="8131175" y="1527175"/>
            <a:ext cx="3673475" cy="2273300"/>
          </a:xfrm>
          <a:custGeom>
            <a:avLst/>
            <a:gdLst/>
            <a:ahLst/>
            <a:cxnLst/>
            <a:rect l="l" t="t" r="r" b="b"/>
            <a:pathLst>
              <a:path w="3673475" h="2273300">
                <a:moveTo>
                  <a:pt x="0" y="0"/>
                </a:moveTo>
                <a:lnTo>
                  <a:pt x="3673475" y="0"/>
                </a:lnTo>
                <a:lnTo>
                  <a:pt x="3673475" y="2273300"/>
                </a:lnTo>
                <a:lnTo>
                  <a:pt x="0" y="2273300"/>
                </a:lnTo>
                <a:lnTo>
                  <a:pt x="0" y="0"/>
                </a:lnTo>
                <a:close/>
              </a:path>
            </a:pathLst>
          </a:custGeom>
          <a:solidFill>
            <a:srgbClr val="1A1A1A"/>
          </a:solidFill>
          <a:ln w="8467">
            <a:solidFill>
              <a:srgbClr val="2B2B2B"/>
            </a:solidFill>
            <a:prstDash val="solid"/>
          </a:ln>
        </p:spPr>
        <p:txBody>
          <a:bodyPr/>
          <a:lstStyle/>
          <a:p>
            <a:endParaRPr lang="en-IN"/>
          </a:p>
        </p:txBody>
      </p:sp>
      <p:sp>
        <p:nvSpPr>
          <p:cNvPr id="26" name="Shape 24"/>
          <p:cNvSpPr/>
          <p:nvPr/>
        </p:nvSpPr>
        <p:spPr>
          <a:xfrm>
            <a:off x="8362950" y="1720851"/>
            <a:ext cx="285750" cy="285750"/>
          </a:xfrm>
          <a:custGeom>
            <a:avLst/>
            <a:gdLst/>
            <a:ahLst/>
            <a:cxnLst/>
            <a:rect l="l" t="t" r="r" b="b"/>
            <a:pathLst>
              <a:path w="285750" h="285750">
                <a:moveTo>
                  <a:pt x="66973" y="31254"/>
                </a:moveTo>
                <a:cubicBezTo>
                  <a:pt x="66973" y="14008"/>
                  <a:pt x="80981" y="0"/>
                  <a:pt x="98227" y="0"/>
                </a:cubicBezTo>
                <a:lnTo>
                  <a:pt x="111621" y="0"/>
                </a:lnTo>
                <a:cubicBezTo>
                  <a:pt x="121500" y="0"/>
                  <a:pt x="129480" y="7981"/>
                  <a:pt x="129480" y="17859"/>
                </a:cubicBezTo>
                <a:lnTo>
                  <a:pt x="129480" y="267891"/>
                </a:lnTo>
                <a:cubicBezTo>
                  <a:pt x="129480" y="277769"/>
                  <a:pt x="121500" y="285750"/>
                  <a:pt x="111621" y="285750"/>
                </a:cubicBezTo>
                <a:lnTo>
                  <a:pt x="93762" y="285750"/>
                </a:lnTo>
                <a:cubicBezTo>
                  <a:pt x="77130" y="285750"/>
                  <a:pt x="63122" y="274365"/>
                  <a:pt x="59159" y="258961"/>
                </a:cubicBezTo>
                <a:cubicBezTo>
                  <a:pt x="58769" y="258961"/>
                  <a:pt x="58434" y="258961"/>
                  <a:pt x="58043" y="258961"/>
                </a:cubicBezTo>
                <a:cubicBezTo>
                  <a:pt x="33375" y="258961"/>
                  <a:pt x="13395" y="238981"/>
                  <a:pt x="13395" y="214313"/>
                </a:cubicBezTo>
                <a:cubicBezTo>
                  <a:pt x="13395" y="204267"/>
                  <a:pt x="16743" y="195002"/>
                  <a:pt x="22324" y="187523"/>
                </a:cubicBezTo>
                <a:cubicBezTo>
                  <a:pt x="11497" y="179375"/>
                  <a:pt x="4465" y="166427"/>
                  <a:pt x="4465" y="151805"/>
                </a:cubicBezTo>
                <a:cubicBezTo>
                  <a:pt x="4465" y="134559"/>
                  <a:pt x="14288" y="119546"/>
                  <a:pt x="28575" y="112123"/>
                </a:cubicBezTo>
                <a:cubicBezTo>
                  <a:pt x="24612" y="105426"/>
                  <a:pt x="22324" y="97613"/>
                  <a:pt x="22324" y="89297"/>
                </a:cubicBezTo>
                <a:cubicBezTo>
                  <a:pt x="22324" y="64629"/>
                  <a:pt x="42304" y="44648"/>
                  <a:pt x="66973" y="44648"/>
                </a:cubicBezTo>
                <a:lnTo>
                  <a:pt x="66973" y="31254"/>
                </a:lnTo>
                <a:close/>
                <a:moveTo>
                  <a:pt x="218777" y="31254"/>
                </a:moveTo>
                <a:lnTo>
                  <a:pt x="218777" y="44648"/>
                </a:lnTo>
                <a:cubicBezTo>
                  <a:pt x="243446" y="44648"/>
                  <a:pt x="263426" y="64629"/>
                  <a:pt x="263426" y="89297"/>
                </a:cubicBezTo>
                <a:cubicBezTo>
                  <a:pt x="263426" y="97668"/>
                  <a:pt x="261138" y="105482"/>
                  <a:pt x="257175" y="112123"/>
                </a:cubicBezTo>
                <a:cubicBezTo>
                  <a:pt x="271518" y="119546"/>
                  <a:pt x="281285" y="134503"/>
                  <a:pt x="281285" y="151805"/>
                </a:cubicBezTo>
                <a:cubicBezTo>
                  <a:pt x="281285" y="166427"/>
                  <a:pt x="274253" y="179375"/>
                  <a:pt x="263426" y="187523"/>
                </a:cubicBezTo>
                <a:cubicBezTo>
                  <a:pt x="269007" y="195002"/>
                  <a:pt x="272355" y="204267"/>
                  <a:pt x="272355" y="214313"/>
                </a:cubicBezTo>
                <a:cubicBezTo>
                  <a:pt x="272355" y="238981"/>
                  <a:pt x="252375" y="258961"/>
                  <a:pt x="227707" y="258961"/>
                </a:cubicBezTo>
                <a:cubicBezTo>
                  <a:pt x="227316" y="258961"/>
                  <a:pt x="226981" y="258961"/>
                  <a:pt x="226591" y="258961"/>
                </a:cubicBezTo>
                <a:cubicBezTo>
                  <a:pt x="222628" y="274365"/>
                  <a:pt x="208620" y="285750"/>
                  <a:pt x="191988" y="285750"/>
                </a:cubicBezTo>
                <a:lnTo>
                  <a:pt x="174129" y="285750"/>
                </a:lnTo>
                <a:cubicBezTo>
                  <a:pt x="164250" y="285750"/>
                  <a:pt x="156270" y="277769"/>
                  <a:pt x="156270" y="267891"/>
                </a:cubicBezTo>
                <a:lnTo>
                  <a:pt x="156270" y="17859"/>
                </a:lnTo>
                <a:cubicBezTo>
                  <a:pt x="156270" y="7981"/>
                  <a:pt x="164250" y="0"/>
                  <a:pt x="174129" y="0"/>
                </a:cubicBezTo>
                <a:lnTo>
                  <a:pt x="187523" y="0"/>
                </a:lnTo>
                <a:cubicBezTo>
                  <a:pt x="204769" y="0"/>
                  <a:pt x="218777" y="14008"/>
                  <a:pt x="218777" y="31254"/>
                </a:cubicBezTo>
                <a:close/>
              </a:path>
            </a:pathLst>
          </a:custGeom>
          <a:solidFill>
            <a:srgbClr val="C9A36A"/>
          </a:solidFill>
          <a:ln/>
        </p:spPr>
        <p:txBody>
          <a:bodyPr/>
          <a:lstStyle/>
          <a:p>
            <a:endParaRPr lang="en-IN"/>
          </a:p>
        </p:txBody>
      </p:sp>
      <p:sp>
        <p:nvSpPr>
          <p:cNvPr id="27" name="Text 25"/>
          <p:cNvSpPr/>
          <p:nvPr/>
        </p:nvSpPr>
        <p:spPr>
          <a:xfrm>
            <a:off x="8796338" y="1730376"/>
            <a:ext cx="14954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Face Recognition</a:t>
            </a:r>
            <a:endParaRPr lang="en-US" sz="1600" dirty="0"/>
          </a:p>
        </p:txBody>
      </p:sp>
      <p:sp>
        <p:nvSpPr>
          <p:cNvPr id="28" name="Text 26"/>
          <p:cNvSpPr/>
          <p:nvPr/>
        </p:nvSpPr>
        <p:spPr>
          <a:xfrm>
            <a:off x="8324850" y="2159001"/>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LBPH (Local Binary Patterns Histograms) algorithm for robust face recognition that works well with varying lighting conditions and angles.</a:t>
            </a:r>
            <a:endParaRPr lang="en-US" sz="1600" dirty="0"/>
          </a:p>
        </p:txBody>
      </p:sp>
      <p:sp>
        <p:nvSpPr>
          <p:cNvPr id="29" name="Shape 27"/>
          <p:cNvSpPr/>
          <p:nvPr/>
        </p:nvSpPr>
        <p:spPr>
          <a:xfrm>
            <a:off x="8324850" y="3016253"/>
            <a:ext cx="533400" cy="266700"/>
          </a:xfrm>
          <a:custGeom>
            <a:avLst/>
            <a:gdLst/>
            <a:ahLst/>
            <a:cxnLst/>
            <a:rect l="l" t="t" r="r" b="b"/>
            <a:pathLst>
              <a:path w="533400" h="266700">
                <a:moveTo>
                  <a:pt x="133350" y="0"/>
                </a:moveTo>
                <a:lnTo>
                  <a:pt x="400050" y="0"/>
                </a:lnTo>
                <a:cubicBezTo>
                  <a:pt x="473648" y="0"/>
                  <a:pt x="533400" y="59752"/>
                  <a:pt x="533400" y="133350"/>
                </a:cubicBezTo>
                <a:lnTo>
                  <a:pt x="533400" y="133350"/>
                </a:lnTo>
                <a:cubicBezTo>
                  <a:pt x="533400" y="206948"/>
                  <a:pt x="473648" y="266700"/>
                  <a:pt x="4000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30" name="Text 28"/>
          <p:cNvSpPr/>
          <p:nvPr/>
        </p:nvSpPr>
        <p:spPr>
          <a:xfrm>
            <a:off x="8324850" y="3016253"/>
            <a:ext cx="6000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LBPH</a:t>
            </a:r>
            <a:endParaRPr lang="en-US" sz="1600" dirty="0"/>
          </a:p>
        </p:txBody>
      </p:sp>
      <p:sp>
        <p:nvSpPr>
          <p:cNvPr id="31" name="Shape 29"/>
          <p:cNvSpPr/>
          <p:nvPr/>
        </p:nvSpPr>
        <p:spPr>
          <a:xfrm>
            <a:off x="8933458" y="3016253"/>
            <a:ext cx="628650" cy="266700"/>
          </a:xfrm>
          <a:custGeom>
            <a:avLst/>
            <a:gdLst/>
            <a:ahLst/>
            <a:cxnLst/>
            <a:rect l="l" t="t" r="r" b="b"/>
            <a:pathLst>
              <a:path w="628650" h="266700">
                <a:moveTo>
                  <a:pt x="133350" y="0"/>
                </a:moveTo>
                <a:lnTo>
                  <a:pt x="495300" y="0"/>
                </a:lnTo>
                <a:cubicBezTo>
                  <a:pt x="568898" y="0"/>
                  <a:pt x="628650" y="59752"/>
                  <a:pt x="628650" y="133350"/>
                </a:cubicBezTo>
                <a:lnTo>
                  <a:pt x="628650" y="133350"/>
                </a:lnTo>
                <a:cubicBezTo>
                  <a:pt x="628650" y="206948"/>
                  <a:pt x="568898" y="266700"/>
                  <a:pt x="49530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32" name="Text 30"/>
          <p:cNvSpPr/>
          <p:nvPr/>
        </p:nvSpPr>
        <p:spPr>
          <a:xfrm>
            <a:off x="8933458" y="3016253"/>
            <a:ext cx="69532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Robust</a:t>
            </a:r>
            <a:endParaRPr lang="en-US" sz="1600" dirty="0"/>
          </a:p>
        </p:txBody>
      </p:sp>
      <p:sp>
        <p:nvSpPr>
          <p:cNvPr id="33" name="Shape 31"/>
          <p:cNvSpPr/>
          <p:nvPr/>
        </p:nvSpPr>
        <p:spPr>
          <a:xfrm>
            <a:off x="9642178" y="3016253"/>
            <a:ext cx="714375" cy="266700"/>
          </a:xfrm>
          <a:custGeom>
            <a:avLst/>
            <a:gdLst/>
            <a:ahLst/>
            <a:cxnLst/>
            <a:rect l="l" t="t" r="r" b="b"/>
            <a:pathLst>
              <a:path w="714375" h="266700">
                <a:moveTo>
                  <a:pt x="133350" y="0"/>
                </a:moveTo>
                <a:lnTo>
                  <a:pt x="581025" y="0"/>
                </a:lnTo>
                <a:cubicBezTo>
                  <a:pt x="654623" y="0"/>
                  <a:pt x="714375" y="59752"/>
                  <a:pt x="714375" y="133350"/>
                </a:cubicBezTo>
                <a:lnTo>
                  <a:pt x="714375" y="133350"/>
                </a:lnTo>
                <a:cubicBezTo>
                  <a:pt x="714375" y="206948"/>
                  <a:pt x="654623" y="266700"/>
                  <a:pt x="581025"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34" name="Text 32"/>
          <p:cNvSpPr/>
          <p:nvPr/>
        </p:nvSpPr>
        <p:spPr>
          <a:xfrm>
            <a:off x="9642178" y="3016253"/>
            <a:ext cx="781050"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Scalable</a:t>
            </a:r>
            <a:endParaRPr lang="en-US" sz="1600" dirty="0"/>
          </a:p>
        </p:txBody>
      </p:sp>
      <p:sp>
        <p:nvSpPr>
          <p:cNvPr id="35" name="Shape 33"/>
          <p:cNvSpPr/>
          <p:nvPr/>
        </p:nvSpPr>
        <p:spPr>
          <a:xfrm>
            <a:off x="384175" y="3994150"/>
            <a:ext cx="3673475" cy="2482850"/>
          </a:xfrm>
          <a:custGeom>
            <a:avLst/>
            <a:gdLst/>
            <a:ahLst/>
            <a:cxnLst/>
            <a:rect l="l" t="t" r="r" b="b"/>
            <a:pathLst>
              <a:path w="3673475" h="2482850">
                <a:moveTo>
                  <a:pt x="0" y="0"/>
                </a:moveTo>
                <a:lnTo>
                  <a:pt x="3673475" y="0"/>
                </a:lnTo>
                <a:lnTo>
                  <a:pt x="3673475" y="2482850"/>
                </a:lnTo>
                <a:lnTo>
                  <a:pt x="0" y="2482850"/>
                </a:lnTo>
                <a:lnTo>
                  <a:pt x="0" y="0"/>
                </a:lnTo>
                <a:close/>
              </a:path>
            </a:pathLst>
          </a:custGeom>
          <a:solidFill>
            <a:srgbClr val="1A1A1A"/>
          </a:solidFill>
          <a:ln w="8467">
            <a:solidFill>
              <a:srgbClr val="2B2B2B"/>
            </a:solidFill>
            <a:prstDash val="solid"/>
          </a:ln>
        </p:spPr>
        <p:txBody>
          <a:bodyPr/>
          <a:lstStyle/>
          <a:p>
            <a:endParaRPr lang="en-IN"/>
          </a:p>
        </p:txBody>
      </p:sp>
      <p:sp>
        <p:nvSpPr>
          <p:cNvPr id="36" name="Shape 34"/>
          <p:cNvSpPr/>
          <p:nvPr/>
        </p:nvSpPr>
        <p:spPr>
          <a:xfrm>
            <a:off x="633809" y="4187828"/>
            <a:ext cx="250031" cy="2857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C9A36A"/>
          </a:solidFill>
          <a:ln/>
        </p:spPr>
        <p:txBody>
          <a:bodyPr/>
          <a:lstStyle/>
          <a:p>
            <a:endParaRPr lang="en-IN"/>
          </a:p>
        </p:txBody>
      </p:sp>
      <p:sp>
        <p:nvSpPr>
          <p:cNvPr id="37" name="Text 35"/>
          <p:cNvSpPr/>
          <p:nvPr/>
        </p:nvSpPr>
        <p:spPr>
          <a:xfrm>
            <a:off x="1049338" y="4197353"/>
            <a:ext cx="86677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Database</a:t>
            </a:r>
            <a:endParaRPr lang="en-US" sz="1600" dirty="0"/>
          </a:p>
        </p:txBody>
      </p:sp>
      <p:sp>
        <p:nvSpPr>
          <p:cNvPr id="38" name="Text 36"/>
          <p:cNvSpPr/>
          <p:nvPr/>
        </p:nvSpPr>
        <p:spPr>
          <a:xfrm>
            <a:off x="577850" y="4625978"/>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MySQL relational database for structured storage of attendance records with support for complex queries and data analysis.</a:t>
            </a:r>
            <a:endParaRPr lang="en-US" sz="1600" dirty="0"/>
          </a:p>
        </p:txBody>
      </p:sp>
      <p:sp>
        <p:nvSpPr>
          <p:cNvPr id="39" name="Shape 37"/>
          <p:cNvSpPr/>
          <p:nvPr/>
        </p:nvSpPr>
        <p:spPr>
          <a:xfrm>
            <a:off x="577850" y="5483228"/>
            <a:ext cx="647700" cy="266700"/>
          </a:xfrm>
          <a:custGeom>
            <a:avLst/>
            <a:gdLst/>
            <a:ahLst/>
            <a:cxnLst/>
            <a:rect l="l" t="t" r="r" b="b"/>
            <a:pathLst>
              <a:path w="647700" h="266700">
                <a:moveTo>
                  <a:pt x="133350" y="0"/>
                </a:moveTo>
                <a:lnTo>
                  <a:pt x="514350" y="0"/>
                </a:lnTo>
                <a:cubicBezTo>
                  <a:pt x="587948" y="0"/>
                  <a:pt x="647700" y="59752"/>
                  <a:pt x="647700" y="133350"/>
                </a:cubicBezTo>
                <a:lnTo>
                  <a:pt x="647700" y="133350"/>
                </a:lnTo>
                <a:cubicBezTo>
                  <a:pt x="647700" y="206948"/>
                  <a:pt x="587948" y="266700"/>
                  <a:pt x="5143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40" name="Text 38"/>
          <p:cNvSpPr/>
          <p:nvPr/>
        </p:nvSpPr>
        <p:spPr>
          <a:xfrm>
            <a:off x="577850" y="5483228"/>
            <a:ext cx="7143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MySQL</a:t>
            </a:r>
            <a:endParaRPr lang="en-US" sz="1600" dirty="0"/>
          </a:p>
        </p:txBody>
      </p:sp>
      <p:sp>
        <p:nvSpPr>
          <p:cNvPr id="41" name="Shape 39"/>
          <p:cNvSpPr/>
          <p:nvPr/>
        </p:nvSpPr>
        <p:spPr>
          <a:xfrm>
            <a:off x="1303834" y="5483228"/>
            <a:ext cx="838200" cy="266700"/>
          </a:xfrm>
          <a:custGeom>
            <a:avLst/>
            <a:gdLst/>
            <a:ahLst/>
            <a:cxnLst/>
            <a:rect l="l" t="t" r="r" b="b"/>
            <a:pathLst>
              <a:path w="838200" h="266700">
                <a:moveTo>
                  <a:pt x="133350" y="0"/>
                </a:moveTo>
                <a:lnTo>
                  <a:pt x="704850" y="0"/>
                </a:lnTo>
                <a:cubicBezTo>
                  <a:pt x="778448" y="0"/>
                  <a:pt x="838200" y="59752"/>
                  <a:pt x="838200" y="133350"/>
                </a:cubicBezTo>
                <a:lnTo>
                  <a:pt x="838200" y="133350"/>
                </a:lnTo>
                <a:cubicBezTo>
                  <a:pt x="838200" y="206948"/>
                  <a:pt x="778448" y="266700"/>
                  <a:pt x="7048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42" name="Text 40"/>
          <p:cNvSpPr/>
          <p:nvPr/>
        </p:nvSpPr>
        <p:spPr>
          <a:xfrm>
            <a:off x="1303834" y="5483228"/>
            <a:ext cx="9048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Structured</a:t>
            </a:r>
            <a:endParaRPr lang="en-US" sz="1600" dirty="0"/>
          </a:p>
        </p:txBody>
      </p:sp>
      <p:sp>
        <p:nvSpPr>
          <p:cNvPr id="43" name="Shape 41"/>
          <p:cNvSpPr/>
          <p:nvPr/>
        </p:nvSpPr>
        <p:spPr>
          <a:xfrm>
            <a:off x="2218234" y="5483228"/>
            <a:ext cx="685800" cy="266700"/>
          </a:xfrm>
          <a:custGeom>
            <a:avLst/>
            <a:gdLst/>
            <a:ahLst/>
            <a:cxnLst/>
            <a:rect l="l" t="t" r="r" b="b"/>
            <a:pathLst>
              <a:path w="685800" h="266700">
                <a:moveTo>
                  <a:pt x="133350" y="0"/>
                </a:moveTo>
                <a:lnTo>
                  <a:pt x="552450" y="0"/>
                </a:lnTo>
                <a:cubicBezTo>
                  <a:pt x="626048" y="0"/>
                  <a:pt x="685800" y="59752"/>
                  <a:pt x="685800" y="133350"/>
                </a:cubicBezTo>
                <a:lnTo>
                  <a:pt x="685800" y="133350"/>
                </a:lnTo>
                <a:cubicBezTo>
                  <a:pt x="685800" y="206948"/>
                  <a:pt x="626048" y="266700"/>
                  <a:pt x="552450" y="266700"/>
                </a:cubicBezTo>
                <a:lnTo>
                  <a:pt x="133350" y="266700"/>
                </a:lnTo>
                <a:cubicBezTo>
                  <a:pt x="59752" y="266700"/>
                  <a:pt x="0" y="206948"/>
                  <a:pt x="0" y="133350"/>
                </a:cubicBezTo>
                <a:lnTo>
                  <a:pt x="0" y="133350"/>
                </a:lnTo>
                <a:cubicBezTo>
                  <a:pt x="0" y="59752"/>
                  <a:pt x="59752" y="0"/>
                  <a:pt x="133350" y="0"/>
                </a:cubicBezTo>
                <a:close/>
              </a:path>
            </a:pathLst>
          </a:custGeom>
          <a:solidFill>
            <a:srgbClr val="C9A36A">
              <a:alpha val="20000"/>
            </a:srgbClr>
          </a:solidFill>
          <a:ln/>
        </p:spPr>
        <p:txBody>
          <a:bodyPr/>
          <a:lstStyle/>
          <a:p>
            <a:endParaRPr lang="en-IN"/>
          </a:p>
        </p:txBody>
      </p:sp>
      <p:sp>
        <p:nvSpPr>
          <p:cNvPr id="44" name="Text 42"/>
          <p:cNvSpPr/>
          <p:nvPr/>
        </p:nvSpPr>
        <p:spPr>
          <a:xfrm>
            <a:off x="2218234" y="5483228"/>
            <a:ext cx="752475" cy="266700"/>
          </a:xfrm>
          <a:prstGeom prst="rect">
            <a:avLst/>
          </a:prstGeom>
          <a:noFill/>
          <a:ln/>
        </p:spPr>
        <p:txBody>
          <a:bodyPr wrap="square" lIns="114300" tIns="38100" rIns="114300" bIns="38100" rtlCol="0" anchor="ctr"/>
          <a:lstStyle/>
          <a:p>
            <a:pPr>
              <a:lnSpc>
                <a:spcPct val="120000"/>
              </a:lnSpc>
            </a:pPr>
            <a:r>
              <a:rPr lang="en-US" sz="1050" dirty="0">
                <a:solidFill>
                  <a:srgbClr val="C9A36A"/>
                </a:solidFill>
                <a:latin typeface="Quattrocento Sans" pitchFamily="34" charset="0"/>
                <a:ea typeface="Quattrocento Sans" pitchFamily="34" charset="-122"/>
                <a:cs typeface="Quattrocento Sans" pitchFamily="34" charset="-120"/>
              </a:rPr>
              <a:t>Reliable</a:t>
            </a:r>
            <a:endParaRPr lang="en-US" sz="1600" dirty="0"/>
          </a:p>
        </p:txBody>
      </p:sp>
      <p:sp>
        <p:nvSpPr>
          <p:cNvPr id="45" name="Shape 43"/>
          <p:cNvSpPr/>
          <p:nvPr/>
        </p:nvSpPr>
        <p:spPr>
          <a:xfrm>
            <a:off x="4257675" y="3994150"/>
            <a:ext cx="3673475" cy="2482850"/>
          </a:xfrm>
          <a:custGeom>
            <a:avLst/>
            <a:gdLst/>
            <a:ahLst/>
            <a:cxnLst/>
            <a:rect l="l" t="t" r="r" b="b"/>
            <a:pathLst>
              <a:path w="3673475" h="2482850">
                <a:moveTo>
                  <a:pt x="0" y="0"/>
                </a:moveTo>
                <a:lnTo>
                  <a:pt x="3673475" y="0"/>
                </a:lnTo>
                <a:lnTo>
                  <a:pt x="3673475" y="2482850"/>
                </a:lnTo>
                <a:lnTo>
                  <a:pt x="0" y="2482850"/>
                </a:lnTo>
                <a:lnTo>
                  <a:pt x="0" y="0"/>
                </a:lnTo>
                <a:close/>
              </a:path>
            </a:pathLst>
          </a:custGeom>
          <a:solidFill>
            <a:srgbClr val="1A1A1A"/>
          </a:solidFill>
          <a:ln w="8467">
            <a:solidFill>
              <a:srgbClr val="2B2B2B"/>
            </a:solidFill>
            <a:prstDash val="solid"/>
          </a:ln>
        </p:spPr>
        <p:txBody>
          <a:bodyPr/>
          <a:lstStyle/>
          <a:p>
            <a:endParaRPr lang="en-IN"/>
          </a:p>
        </p:txBody>
      </p:sp>
      <p:sp>
        <p:nvSpPr>
          <p:cNvPr id="46" name="Shape 44"/>
          <p:cNvSpPr/>
          <p:nvPr/>
        </p:nvSpPr>
        <p:spPr>
          <a:xfrm>
            <a:off x="4453731" y="4187828"/>
            <a:ext cx="357188" cy="285750"/>
          </a:xfrm>
          <a:custGeom>
            <a:avLst/>
            <a:gdLst/>
            <a:ahLst/>
            <a:cxnLst/>
            <a:rect l="l" t="t" r="r" b="b"/>
            <a:pathLst>
              <a:path w="357188" h="285750">
                <a:moveTo>
                  <a:pt x="35719" y="53578"/>
                </a:moveTo>
                <a:cubicBezTo>
                  <a:pt x="35719" y="33877"/>
                  <a:pt x="51736" y="17859"/>
                  <a:pt x="71438" y="17859"/>
                </a:cubicBezTo>
                <a:lnTo>
                  <a:pt x="285750" y="17859"/>
                </a:lnTo>
                <a:cubicBezTo>
                  <a:pt x="305451" y="17859"/>
                  <a:pt x="321469" y="33877"/>
                  <a:pt x="321469" y="53578"/>
                </a:cubicBezTo>
                <a:lnTo>
                  <a:pt x="321469" y="187523"/>
                </a:lnTo>
                <a:lnTo>
                  <a:pt x="285750" y="187523"/>
                </a:lnTo>
                <a:lnTo>
                  <a:pt x="285750" y="53578"/>
                </a:lnTo>
                <a:lnTo>
                  <a:pt x="71438" y="53578"/>
                </a:lnTo>
                <a:lnTo>
                  <a:pt x="71438" y="187523"/>
                </a:lnTo>
                <a:lnTo>
                  <a:pt x="35719" y="187523"/>
                </a:lnTo>
                <a:lnTo>
                  <a:pt x="35719" y="53578"/>
                </a:lnTo>
                <a:close/>
                <a:moveTo>
                  <a:pt x="0" y="225028"/>
                </a:moveTo>
                <a:cubicBezTo>
                  <a:pt x="0" y="219112"/>
                  <a:pt x="4800" y="214313"/>
                  <a:pt x="10716" y="214313"/>
                </a:cubicBezTo>
                <a:lnTo>
                  <a:pt x="346472" y="214313"/>
                </a:lnTo>
                <a:cubicBezTo>
                  <a:pt x="352388" y="214313"/>
                  <a:pt x="357188" y="219112"/>
                  <a:pt x="357188" y="225028"/>
                </a:cubicBezTo>
                <a:cubicBezTo>
                  <a:pt x="357188" y="248692"/>
                  <a:pt x="337989" y="267891"/>
                  <a:pt x="314325" y="267891"/>
                </a:cubicBezTo>
                <a:lnTo>
                  <a:pt x="42863" y="267891"/>
                </a:lnTo>
                <a:cubicBezTo>
                  <a:pt x="19199" y="267891"/>
                  <a:pt x="0" y="248692"/>
                  <a:pt x="0" y="225028"/>
                </a:cubicBezTo>
                <a:close/>
                <a:moveTo>
                  <a:pt x="156828" y="116644"/>
                </a:moveTo>
                <a:lnTo>
                  <a:pt x="139526" y="133945"/>
                </a:lnTo>
                <a:lnTo>
                  <a:pt x="156828" y="151247"/>
                </a:lnTo>
                <a:cubicBezTo>
                  <a:pt x="162074" y="156493"/>
                  <a:pt x="162074" y="164976"/>
                  <a:pt x="156828" y="170166"/>
                </a:cubicBezTo>
                <a:cubicBezTo>
                  <a:pt x="151581" y="175357"/>
                  <a:pt x="143098" y="175413"/>
                  <a:pt x="137908" y="170166"/>
                </a:cubicBezTo>
                <a:lnTo>
                  <a:pt x="111119" y="143377"/>
                </a:lnTo>
                <a:cubicBezTo>
                  <a:pt x="105873" y="138131"/>
                  <a:pt x="105873" y="129648"/>
                  <a:pt x="111119" y="124458"/>
                </a:cubicBezTo>
                <a:lnTo>
                  <a:pt x="137908" y="97668"/>
                </a:lnTo>
                <a:cubicBezTo>
                  <a:pt x="143154" y="92422"/>
                  <a:pt x="151637" y="92422"/>
                  <a:pt x="156828" y="97668"/>
                </a:cubicBezTo>
                <a:cubicBezTo>
                  <a:pt x="162018" y="102915"/>
                  <a:pt x="162074" y="111398"/>
                  <a:pt x="156828" y="116588"/>
                </a:cubicBezTo>
                <a:close/>
                <a:moveTo>
                  <a:pt x="219335" y="97668"/>
                </a:moveTo>
                <a:lnTo>
                  <a:pt x="246125" y="124458"/>
                </a:lnTo>
                <a:cubicBezTo>
                  <a:pt x="251371" y="129704"/>
                  <a:pt x="251371" y="138187"/>
                  <a:pt x="246125" y="143377"/>
                </a:cubicBezTo>
                <a:lnTo>
                  <a:pt x="219335" y="170166"/>
                </a:lnTo>
                <a:cubicBezTo>
                  <a:pt x="214089" y="175413"/>
                  <a:pt x="205606" y="175413"/>
                  <a:pt x="200416" y="170166"/>
                </a:cubicBezTo>
                <a:cubicBezTo>
                  <a:pt x="195225" y="164920"/>
                  <a:pt x="195169" y="156437"/>
                  <a:pt x="200416" y="151247"/>
                </a:cubicBezTo>
                <a:lnTo>
                  <a:pt x="217717" y="133945"/>
                </a:lnTo>
                <a:lnTo>
                  <a:pt x="200416" y="116644"/>
                </a:lnTo>
                <a:cubicBezTo>
                  <a:pt x="195169" y="111398"/>
                  <a:pt x="195169" y="102915"/>
                  <a:pt x="200416" y="97724"/>
                </a:cubicBezTo>
                <a:cubicBezTo>
                  <a:pt x="205662" y="92534"/>
                  <a:pt x="214145" y="92478"/>
                  <a:pt x="219335" y="97724"/>
                </a:cubicBezTo>
                <a:close/>
              </a:path>
            </a:pathLst>
          </a:custGeom>
          <a:solidFill>
            <a:srgbClr val="C9A36A"/>
          </a:solidFill>
          <a:ln/>
        </p:spPr>
        <p:txBody>
          <a:bodyPr/>
          <a:lstStyle/>
          <a:p>
            <a:endParaRPr lang="en-IN"/>
          </a:p>
        </p:txBody>
      </p:sp>
      <p:sp>
        <p:nvSpPr>
          <p:cNvPr id="47" name="Text 45"/>
          <p:cNvSpPr/>
          <p:nvPr/>
        </p:nvSpPr>
        <p:spPr>
          <a:xfrm>
            <a:off x="4922838" y="4197353"/>
            <a:ext cx="800100"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Libraries</a:t>
            </a:r>
            <a:endParaRPr lang="en-US" sz="1600" dirty="0"/>
          </a:p>
        </p:txBody>
      </p:sp>
      <p:sp>
        <p:nvSpPr>
          <p:cNvPr id="48" name="Text 46"/>
          <p:cNvSpPr/>
          <p:nvPr/>
        </p:nvSpPr>
        <p:spPr>
          <a:xfrm>
            <a:off x="4451350" y="4625978"/>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Essential Python libraries for image processing, numerical operations, and data manipulation to support the complete pipeline.</a:t>
            </a:r>
            <a:endParaRPr lang="en-US" sz="1600" dirty="0"/>
          </a:p>
        </p:txBody>
      </p:sp>
      <p:sp>
        <p:nvSpPr>
          <p:cNvPr id="49" name="Shape 47"/>
          <p:cNvSpPr/>
          <p:nvPr/>
        </p:nvSpPr>
        <p:spPr>
          <a:xfrm>
            <a:off x="4451350" y="5540378"/>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50" name="Text 48"/>
          <p:cNvSpPr/>
          <p:nvPr/>
        </p:nvSpPr>
        <p:spPr>
          <a:xfrm>
            <a:off x="4603750" y="5483228"/>
            <a:ext cx="2857500"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OpenCV:</a:t>
            </a:r>
            <a:r>
              <a:rPr lang="en-US" sz="1050" dirty="0">
                <a:solidFill>
                  <a:srgbClr val="B8B8B8"/>
                </a:solidFill>
                <a:latin typeface="Quattrocento Sans" pitchFamily="34" charset="0"/>
                <a:ea typeface="Quattrocento Sans" pitchFamily="34" charset="-122"/>
                <a:cs typeface="Quattrocento Sans" pitchFamily="34" charset="-120"/>
              </a:rPr>
              <a:t> Computer vision and image processing</a:t>
            </a:r>
            <a:endParaRPr lang="en-US" sz="1600" dirty="0"/>
          </a:p>
        </p:txBody>
      </p:sp>
      <p:sp>
        <p:nvSpPr>
          <p:cNvPr id="51" name="Shape 49"/>
          <p:cNvSpPr/>
          <p:nvPr/>
        </p:nvSpPr>
        <p:spPr>
          <a:xfrm>
            <a:off x="4451350" y="5807078"/>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52" name="Text 50"/>
          <p:cNvSpPr/>
          <p:nvPr/>
        </p:nvSpPr>
        <p:spPr>
          <a:xfrm>
            <a:off x="4603750" y="5749928"/>
            <a:ext cx="1971675"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NumPy:</a:t>
            </a:r>
            <a:r>
              <a:rPr lang="en-US" sz="1050" dirty="0">
                <a:solidFill>
                  <a:srgbClr val="B8B8B8"/>
                </a:solidFill>
                <a:latin typeface="Quattrocento Sans" pitchFamily="34" charset="0"/>
                <a:ea typeface="Quattrocento Sans" pitchFamily="34" charset="-122"/>
                <a:cs typeface="Quattrocento Sans" pitchFamily="34" charset="-120"/>
              </a:rPr>
              <a:t> Numerical computations</a:t>
            </a:r>
            <a:endParaRPr lang="en-US" sz="1600" dirty="0"/>
          </a:p>
        </p:txBody>
      </p:sp>
      <p:sp>
        <p:nvSpPr>
          <p:cNvPr id="53" name="Shape 51"/>
          <p:cNvSpPr/>
          <p:nvPr/>
        </p:nvSpPr>
        <p:spPr>
          <a:xfrm>
            <a:off x="4451350" y="6073778"/>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C9A36A"/>
          </a:solidFill>
          <a:ln/>
        </p:spPr>
        <p:txBody>
          <a:bodyPr/>
          <a:lstStyle/>
          <a:p>
            <a:endParaRPr lang="en-IN"/>
          </a:p>
        </p:txBody>
      </p:sp>
      <p:sp>
        <p:nvSpPr>
          <p:cNvPr id="54" name="Text 52"/>
          <p:cNvSpPr/>
          <p:nvPr/>
        </p:nvSpPr>
        <p:spPr>
          <a:xfrm>
            <a:off x="4603750" y="6016628"/>
            <a:ext cx="2333625"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Pandas:</a:t>
            </a:r>
            <a:r>
              <a:rPr lang="en-US" sz="1050" dirty="0">
                <a:solidFill>
                  <a:srgbClr val="B8B8B8"/>
                </a:solidFill>
                <a:latin typeface="Quattrocento Sans" pitchFamily="34" charset="0"/>
                <a:ea typeface="Quattrocento Sans" pitchFamily="34" charset="-122"/>
                <a:cs typeface="Quattrocento Sans" pitchFamily="34" charset="-120"/>
              </a:rPr>
              <a:t> Data manipulation and analysis</a:t>
            </a:r>
            <a:endParaRPr lang="en-US" sz="1600" dirty="0"/>
          </a:p>
        </p:txBody>
      </p:sp>
      <p:sp>
        <p:nvSpPr>
          <p:cNvPr id="55" name="Shape 53"/>
          <p:cNvSpPr/>
          <p:nvPr/>
        </p:nvSpPr>
        <p:spPr>
          <a:xfrm>
            <a:off x="8131175" y="3994150"/>
            <a:ext cx="3673475" cy="2482850"/>
          </a:xfrm>
          <a:custGeom>
            <a:avLst/>
            <a:gdLst/>
            <a:ahLst/>
            <a:cxnLst/>
            <a:rect l="l" t="t" r="r" b="b"/>
            <a:pathLst>
              <a:path w="3673475" h="2482850">
                <a:moveTo>
                  <a:pt x="0" y="0"/>
                </a:moveTo>
                <a:lnTo>
                  <a:pt x="3673475" y="0"/>
                </a:lnTo>
                <a:lnTo>
                  <a:pt x="3673475" y="2482850"/>
                </a:lnTo>
                <a:lnTo>
                  <a:pt x="0" y="2482850"/>
                </a:lnTo>
                <a:lnTo>
                  <a:pt x="0" y="0"/>
                </a:lnTo>
                <a:close/>
              </a:path>
            </a:pathLst>
          </a:custGeom>
          <a:solidFill>
            <a:srgbClr val="1A1A1A"/>
          </a:solidFill>
          <a:ln w="8467">
            <a:solidFill>
              <a:srgbClr val="2B2B2B"/>
            </a:solidFill>
            <a:prstDash val="solid"/>
          </a:ln>
        </p:spPr>
        <p:txBody>
          <a:bodyPr/>
          <a:lstStyle/>
          <a:p>
            <a:endParaRPr lang="en-IN"/>
          </a:p>
        </p:txBody>
      </p:sp>
      <p:sp>
        <p:nvSpPr>
          <p:cNvPr id="56" name="Shape 54"/>
          <p:cNvSpPr/>
          <p:nvPr/>
        </p:nvSpPr>
        <p:spPr>
          <a:xfrm>
            <a:off x="8362950" y="4187828"/>
            <a:ext cx="285750" cy="285750"/>
          </a:xfrm>
          <a:custGeom>
            <a:avLst/>
            <a:gdLst/>
            <a:ahLst/>
            <a:cxnLst/>
            <a:rect l="l" t="t" r="r" b="b"/>
            <a:pathLst>
              <a:path w="285750" h="285750">
                <a:moveTo>
                  <a:pt x="35719" y="17859"/>
                </a:moveTo>
                <a:cubicBezTo>
                  <a:pt x="16018" y="17859"/>
                  <a:pt x="0" y="33877"/>
                  <a:pt x="0" y="53578"/>
                </a:cubicBezTo>
                <a:lnTo>
                  <a:pt x="0" y="196453"/>
                </a:lnTo>
                <a:cubicBezTo>
                  <a:pt x="0" y="216154"/>
                  <a:pt x="16018" y="232172"/>
                  <a:pt x="35719" y="232172"/>
                </a:cubicBezTo>
                <a:lnTo>
                  <a:pt x="116086" y="232172"/>
                </a:lnTo>
                <a:lnTo>
                  <a:pt x="107156" y="258961"/>
                </a:lnTo>
                <a:lnTo>
                  <a:pt x="66973" y="258961"/>
                </a:lnTo>
                <a:cubicBezTo>
                  <a:pt x="59550" y="258961"/>
                  <a:pt x="53578" y="264933"/>
                  <a:pt x="53578" y="272355"/>
                </a:cubicBezTo>
                <a:cubicBezTo>
                  <a:pt x="53578" y="279778"/>
                  <a:pt x="59550" y="285750"/>
                  <a:pt x="66973" y="285750"/>
                </a:cubicBezTo>
                <a:lnTo>
                  <a:pt x="218777" y="285750"/>
                </a:lnTo>
                <a:cubicBezTo>
                  <a:pt x="226200" y="285750"/>
                  <a:pt x="232172" y="279778"/>
                  <a:pt x="232172" y="272355"/>
                </a:cubicBezTo>
                <a:cubicBezTo>
                  <a:pt x="232172" y="264933"/>
                  <a:pt x="226200" y="258961"/>
                  <a:pt x="218777" y="258961"/>
                </a:cubicBezTo>
                <a:lnTo>
                  <a:pt x="178594" y="258961"/>
                </a:lnTo>
                <a:lnTo>
                  <a:pt x="169664" y="232172"/>
                </a:lnTo>
                <a:lnTo>
                  <a:pt x="250031" y="232172"/>
                </a:lnTo>
                <a:cubicBezTo>
                  <a:pt x="269732" y="232172"/>
                  <a:pt x="285750" y="216154"/>
                  <a:pt x="285750" y="196453"/>
                </a:cubicBezTo>
                <a:lnTo>
                  <a:pt x="285750" y="53578"/>
                </a:lnTo>
                <a:cubicBezTo>
                  <a:pt x="285750" y="33877"/>
                  <a:pt x="269732" y="17859"/>
                  <a:pt x="250031" y="17859"/>
                </a:cubicBezTo>
                <a:lnTo>
                  <a:pt x="35719" y="17859"/>
                </a:lnTo>
                <a:close/>
                <a:moveTo>
                  <a:pt x="53578" y="53578"/>
                </a:moveTo>
                <a:lnTo>
                  <a:pt x="232172" y="53578"/>
                </a:lnTo>
                <a:cubicBezTo>
                  <a:pt x="242050" y="53578"/>
                  <a:pt x="250031" y="61559"/>
                  <a:pt x="250031" y="71438"/>
                </a:cubicBezTo>
                <a:lnTo>
                  <a:pt x="250031" y="160734"/>
                </a:lnTo>
                <a:cubicBezTo>
                  <a:pt x="250031" y="170613"/>
                  <a:pt x="242050" y="178594"/>
                  <a:pt x="232172" y="178594"/>
                </a:cubicBezTo>
                <a:lnTo>
                  <a:pt x="53578" y="178594"/>
                </a:lnTo>
                <a:cubicBezTo>
                  <a:pt x="43700" y="178594"/>
                  <a:pt x="35719" y="170613"/>
                  <a:pt x="35719" y="160734"/>
                </a:cubicBezTo>
                <a:lnTo>
                  <a:pt x="35719" y="71438"/>
                </a:lnTo>
                <a:cubicBezTo>
                  <a:pt x="35719" y="61559"/>
                  <a:pt x="43700" y="53578"/>
                  <a:pt x="53578" y="53578"/>
                </a:cubicBezTo>
                <a:close/>
              </a:path>
            </a:pathLst>
          </a:custGeom>
          <a:solidFill>
            <a:srgbClr val="C9A36A"/>
          </a:solidFill>
          <a:ln/>
        </p:spPr>
        <p:txBody>
          <a:bodyPr/>
          <a:lstStyle/>
          <a:p>
            <a:endParaRPr lang="en-IN"/>
          </a:p>
        </p:txBody>
      </p:sp>
      <p:sp>
        <p:nvSpPr>
          <p:cNvPr id="57" name="Text 55"/>
          <p:cNvSpPr/>
          <p:nvPr/>
        </p:nvSpPr>
        <p:spPr>
          <a:xfrm>
            <a:off x="8796338" y="4197353"/>
            <a:ext cx="923925" cy="266700"/>
          </a:xfrm>
          <a:prstGeom prst="rect">
            <a:avLst/>
          </a:prstGeom>
          <a:noFill/>
          <a:ln/>
        </p:spPr>
        <p:txBody>
          <a:bodyPr wrap="square" lIns="0" tIns="0" rIns="0" bIns="0" rtlCol="0" anchor="ctr"/>
          <a:lstStyle/>
          <a:p>
            <a:pPr>
              <a:lnSpc>
                <a:spcPct val="120000"/>
              </a:lnSpc>
            </a:pPr>
            <a:r>
              <a:rPr lang="en-US" sz="1500" b="1" dirty="0">
                <a:solidFill>
                  <a:srgbClr val="F2F2F2"/>
                </a:solidFill>
                <a:latin typeface="Quattrocento Sans" pitchFamily="34" charset="0"/>
                <a:ea typeface="Quattrocento Sans" pitchFamily="34" charset="-122"/>
                <a:cs typeface="Quattrocento Sans" pitchFamily="34" charset="-120"/>
              </a:rPr>
              <a:t>Hardware</a:t>
            </a:r>
            <a:endParaRPr lang="en-US" sz="1600" dirty="0"/>
          </a:p>
        </p:txBody>
      </p:sp>
      <p:sp>
        <p:nvSpPr>
          <p:cNvPr id="58" name="Text 56"/>
          <p:cNvSpPr/>
          <p:nvPr/>
        </p:nvSpPr>
        <p:spPr>
          <a:xfrm>
            <a:off x="8324850" y="4625978"/>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Minimal hardware requirements making the system accessible and cost-effective for educational institutions.</a:t>
            </a:r>
            <a:endParaRPr lang="en-US" sz="1600" dirty="0"/>
          </a:p>
        </p:txBody>
      </p:sp>
      <p:sp>
        <p:nvSpPr>
          <p:cNvPr id="59" name="Shape 57"/>
          <p:cNvSpPr/>
          <p:nvPr/>
        </p:nvSpPr>
        <p:spPr>
          <a:xfrm>
            <a:off x="8334375" y="5502278"/>
            <a:ext cx="171450" cy="152400"/>
          </a:xfrm>
          <a:custGeom>
            <a:avLst/>
            <a:gdLst/>
            <a:ahLst/>
            <a:cxnLst/>
            <a:rect l="l" t="t" r="r" b="b"/>
            <a:pathLst>
              <a:path w="171450" h="152400">
                <a:moveTo>
                  <a:pt x="28575" y="19050"/>
                </a:moveTo>
                <a:cubicBezTo>
                  <a:pt x="18068" y="19050"/>
                  <a:pt x="9525" y="27593"/>
                  <a:pt x="9525" y="38100"/>
                </a:cubicBezTo>
                <a:lnTo>
                  <a:pt x="9525" y="114300"/>
                </a:lnTo>
                <a:cubicBezTo>
                  <a:pt x="9525" y="124807"/>
                  <a:pt x="18068" y="133350"/>
                  <a:pt x="28575" y="133350"/>
                </a:cubicBezTo>
                <a:lnTo>
                  <a:pt x="104775" y="133350"/>
                </a:lnTo>
                <a:cubicBezTo>
                  <a:pt x="115282" y="133350"/>
                  <a:pt x="123825" y="124807"/>
                  <a:pt x="123825" y="114300"/>
                </a:cubicBezTo>
                <a:lnTo>
                  <a:pt x="123825" y="38100"/>
                </a:lnTo>
                <a:cubicBezTo>
                  <a:pt x="123825" y="27593"/>
                  <a:pt x="115282" y="19050"/>
                  <a:pt x="104775" y="19050"/>
                </a:cubicBezTo>
                <a:lnTo>
                  <a:pt x="28575" y="19050"/>
                </a:lnTo>
                <a:close/>
                <a:moveTo>
                  <a:pt x="138113" y="100013"/>
                </a:moveTo>
                <a:lnTo>
                  <a:pt x="159990" y="117515"/>
                </a:lnTo>
                <a:cubicBezTo>
                  <a:pt x="161240" y="118527"/>
                  <a:pt x="162788" y="119062"/>
                  <a:pt x="164396" y="119062"/>
                </a:cubicBezTo>
                <a:cubicBezTo>
                  <a:pt x="168295" y="119062"/>
                  <a:pt x="171450" y="115907"/>
                  <a:pt x="171450" y="112008"/>
                </a:cubicBezTo>
                <a:lnTo>
                  <a:pt x="171450" y="40392"/>
                </a:lnTo>
                <a:cubicBezTo>
                  <a:pt x="171450" y="36493"/>
                  <a:pt x="168295" y="33338"/>
                  <a:pt x="164396" y="33338"/>
                </a:cubicBezTo>
                <a:cubicBezTo>
                  <a:pt x="162788" y="33338"/>
                  <a:pt x="161240" y="33873"/>
                  <a:pt x="159990" y="34885"/>
                </a:cubicBezTo>
                <a:lnTo>
                  <a:pt x="138113" y="52388"/>
                </a:lnTo>
                <a:lnTo>
                  <a:pt x="138113" y="100013"/>
                </a:lnTo>
                <a:close/>
              </a:path>
            </a:pathLst>
          </a:custGeom>
          <a:solidFill>
            <a:srgbClr val="C9A36A"/>
          </a:solidFill>
          <a:ln/>
        </p:spPr>
        <p:txBody>
          <a:bodyPr/>
          <a:lstStyle/>
          <a:p>
            <a:endParaRPr lang="en-IN"/>
          </a:p>
        </p:txBody>
      </p:sp>
      <p:sp>
        <p:nvSpPr>
          <p:cNvPr id="60" name="Text 58"/>
          <p:cNvSpPr/>
          <p:nvPr/>
        </p:nvSpPr>
        <p:spPr>
          <a:xfrm>
            <a:off x="8591550" y="5483228"/>
            <a:ext cx="2343150"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Webcam:</a:t>
            </a:r>
            <a:r>
              <a:rPr lang="en-US" sz="1050" dirty="0">
                <a:solidFill>
                  <a:srgbClr val="B8B8B8"/>
                </a:solidFill>
                <a:latin typeface="Quattrocento Sans" pitchFamily="34" charset="0"/>
                <a:ea typeface="Quattrocento Sans" pitchFamily="34" charset="-122"/>
                <a:cs typeface="Quattrocento Sans" pitchFamily="34" charset="-120"/>
              </a:rPr>
              <a:t> HD camera for video capture</a:t>
            </a:r>
            <a:endParaRPr lang="en-US" sz="1600" dirty="0"/>
          </a:p>
        </p:txBody>
      </p:sp>
      <p:sp>
        <p:nvSpPr>
          <p:cNvPr id="61" name="Shape 59"/>
          <p:cNvSpPr/>
          <p:nvPr/>
        </p:nvSpPr>
        <p:spPr>
          <a:xfrm>
            <a:off x="8343900" y="5768978"/>
            <a:ext cx="152400" cy="152400"/>
          </a:xfrm>
          <a:custGeom>
            <a:avLst/>
            <a:gdLst/>
            <a:ahLst/>
            <a:cxnLst/>
            <a:rect l="l" t="t" r="r" b="b"/>
            <a:pathLst>
              <a:path w="152400" h="152400">
                <a:moveTo>
                  <a:pt x="52388" y="7144"/>
                </a:moveTo>
                <a:cubicBezTo>
                  <a:pt x="52388" y="3185"/>
                  <a:pt x="49203" y="0"/>
                  <a:pt x="45244" y="0"/>
                </a:cubicBezTo>
                <a:cubicBezTo>
                  <a:pt x="41285" y="0"/>
                  <a:pt x="38100" y="3185"/>
                  <a:pt x="38100" y="7144"/>
                </a:cubicBezTo>
                <a:lnTo>
                  <a:pt x="38100" y="19050"/>
                </a:lnTo>
                <a:cubicBezTo>
                  <a:pt x="27593" y="19050"/>
                  <a:pt x="19050" y="27593"/>
                  <a:pt x="19050" y="38100"/>
                </a:cubicBezTo>
                <a:lnTo>
                  <a:pt x="7144" y="38100"/>
                </a:lnTo>
                <a:cubicBezTo>
                  <a:pt x="3185" y="38100"/>
                  <a:pt x="0" y="41285"/>
                  <a:pt x="0" y="45244"/>
                </a:cubicBezTo>
                <a:cubicBezTo>
                  <a:pt x="0" y="49203"/>
                  <a:pt x="3185" y="52388"/>
                  <a:pt x="7144" y="52388"/>
                </a:cubicBezTo>
                <a:lnTo>
                  <a:pt x="19050" y="52388"/>
                </a:lnTo>
                <a:lnTo>
                  <a:pt x="19050" y="69056"/>
                </a:lnTo>
                <a:lnTo>
                  <a:pt x="7144" y="69056"/>
                </a:lnTo>
                <a:cubicBezTo>
                  <a:pt x="3185" y="69056"/>
                  <a:pt x="0" y="72241"/>
                  <a:pt x="0" y="76200"/>
                </a:cubicBezTo>
                <a:cubicBezTo>
                  <a:pt x="0" y="80159"/>
                  <a:pt x="3185" y="83344"/>
                  <a:pt x="7144" y="83344"/>
                </a:cubicBezTo>
                <a:lnTo>
                  <a:pt x="19050" y="83344"/>
                </a:lnTo>
                <a:lnTo>
                  <a:pt x="19050" y="100013"/>
                </a:lnTo>
                <a:lnTo>
                  <a:pt x="7144" y="100013"/>
                </a:lnTo>
                <a:cubicBezTo>
                  <a:pt x="3185" y="100013"/>
                  <a:pt x="0" y="103197"/>
                  <a:pt x="0" y="107156"/>
                </a:cubicBezTo>
                <a:cubicBezTo>
                  <a:pt x="0" y="111115"/>
                  <a:pt x="3185" y="114300"/>
                  <a:pt x="7144" y="114300"/>
                </a:cubicBezTo>
                <a:lnTo>
                  <a:pt x="19050" y="114300"/>
                </a:lnTo>
                <a:cubicBezTo>
                  <a:pt x="19050" y="124807"/>
                  <a:pt x="27593" y="133350"/>
                  <a:pt x="38100" y="133350"/>
                </a:cubicBezTo>
                <a:lnTo>
                  <a:pt x="38100" y="145256"/>
                </a:lnTo>
                <a:cubicBezTo>
                  <a:pt x="38100" y="149215"/>
                  <a:pt x="41285" y="152400"/>
                  <a:pt x="45244" y="152400"/>
                </a:cubicBezTo>
                <a:cubicBezTo>
                  <a:pt x="49203" y="152400"/>
                  <a:pt x="52388" y="149215"/>
                  <a:pt x="52388" y="145256"/>
                </a:cubicBezTo>
                <a:lnTo>
                  <a:pt x="52388" y="133350"/>
                </a:lnTo>
                <a:lnTo>
                  <a:pt x="69056" y="133350"/>
                </a:lnTo>
                <a:lnTo>
                  <a:pt x="69056" y="145256"/>
                </a:lnTo>
                <a:cubicBezTo>
                  <a:pt x="69056" y="149215"/>
                  <a:pt x="72241" y="152400"/>
                  <a:pt x="76200" y="152400"/>
                </a:cubicBezTo>
                <a:cubicBezTo>
                  <a:pt x="80159" y="152400"/>
                  <a:pt x="83344" y="149215"/>
                  <a:pt x="83344" y="145256"/>
                </a:cubicBezTo>
                <a:lnTo>
                  <a:pt x="83344" y="133350"/>
                </a:lnTo>
                <a:lnTo>
                  <a:pt x="100013" y="133350"/>
                </a:lnTo>
                <a:lnTo>
                  <a:pt x="100013" y="145256"/>
                </a:lnTo>
                <a:cubicBezTo>
                  <a:pt x="100013" y="149215"/>
                  <a:pt x="103197" y="152400"/>
                  <a:pt x="107156" y="152400"/>
                </a:cubicBezTo>
                <a:cubicBezTo>
                  <a:pt x="111115" y="152400"/>
                  <a:pt x="114300" y="149215"/>
                  <a:pt x="114300" y="145256"/>
                </a:cubicBezTo>
                <a:lnTo>
                  <a:pt x="114300" y="133350"/>
                </a:lnTo>
                <a:cubicBezTo>
                  <a:pt x="124807" y="133350"/>
                  <a:pt x="133350" y="124807"/>
                  <a:pt x="133350" y="114300"/>
                </a:cubicBezTo>
                <a:lnTo>
                  <a:pt x="145256" y="114300"/>
                </a:lnTo>
                <a:cubicBezTo>
                  <a:pt x="149215" y="114300"/>
                  <a:pt x="152400" y="111115"/>
                  <a:pt x="152400" y="107156"/>
                </a:cubicBezTo>
                <a:cubicBezTo>
                  <a:pt x="152400" y="103197"/>
                  <a:pt x="149215" y="100013"/>
                  <a:pt x="145256" y="100013"/>
                </a:cubicBezTo>
                <a:lnTo>
                  <a:pt x="133350" y="100013"/>
                </a:lnTo>
                <a:lnTo>
                  <a:pt x="133350" y="83344"/>
                </a:lnTo>
                <a:lnTo>
                  <a:pt x="145256" y="83344"/>
                </a:lnTo>
                <a:cubicBezTo>
                  <a:pt x="149215" y="83344"/>
                  <a:pt x="152400" y="80159"/>
                  <a:pt x="152400" y="76200"/>
                </a:cubicBezTo>
                <a:cubicBezTo>
                  <a:pt x="152400" y="72241"/>
                  <a:pt x="149215" y="69056"/>
                  <a:pt x="145256" y="69056"/>
                </a:cubicBezTo>
                <a:lnTo>
                  <a:pt x="133350" y="69056"/>
                </a:lnTo>
                <a:lnTo>
                  <a:pt x="133350" y="52388"/>
                </a:lnTo>
                <a:lnTo>
                  <a:pt x="145256" y="52388"/>
                </a:lnTo>
                <a:cubicBezTo>
                  <a:pt x="149215" y="52388"/>
                  <a:pt x="152400" y="49203"/>
                  <a:pt x="152400" y="45244"/>
                </a:cubicBezTo>
                <a:cubicBezTo>
                  <a:pt x="152400" y="41285"/>
                  <a:pt x="149215" y="38100"/>
                  <a:pt x="145256" y="38100"/>
                </a:cubicBezTo>
                <a:lnTo>
                  <a:pt x="133350" y="38100"/>
                </a:lnTo>
                <a:cubicBezTo>
                  <a:pt x="133350" y="27593"/>
                  <a:pt x="124807" y="19050"/>
                  <a:pt x="114300" y="19050"/>
                </a:cubicBezTo>
                <a:lnTo>
                  <a:pt x="114300" y="7144"/>
                </a:lnTo>
                <a:cubicBezTo>
                  <a:pt x="114300" y="3185"/>
                  <a:pt x="111115" y="0"/>
                  <a:pt x="107156" y="0"/>
                </a:cubicBezTo>
                <a:cubicBezTo>
                  <a:pt x="103197" y="0"/>
                  <a:pt x="100013" y="3185"/>
                  <a:pt x="100013" y="7144"/>
                </a:cubicBezTo>
                <a:lnTo>
                  <a:pt x="100013" y="19050"/>
                </a:lnTo>
                <a:lnTo>
                  <a:pt x="83344" y="19050"/>
                </a:lnTo>
                <a:lnTo>
                  <a:pt x="83344" y="7144"/>
                </a:lnTo>
                <a:cubicBezTo>
                  <a:pt x="83344" y="3185"/>
                  <a:pt x="80159" y="0"/>
                  <a:pt x="76200" y="0"/>
                </a:cubicBezTo>
                <a:cubicBezTo>
                  <a:pt x="72241" y="0"/>
                  <a:pt x="69056" y="3185"/>
                  <a:pt x="69056" y="7144"/>
                </a:cubicBezTo>
                <a:lnTo>
                  <a:pt x="69056" y="19050"/>
                </a:lnTo>
                <a:lnTo>
                  <a:pt x="52388" y="19050"/>
                </a:lnTo>
                <a:lnTo>
                  <a:pt x="52388" y="7144"/>
                </a:lnTo>
                <a:close/>
                <a:moveTo>
                  <a:pt x="47625" y="38100"/>
                </a:moveTo>
                <a:lnTo>
                  <a:pt x="104775" y="38100"/>
                </a:lnTo>
                <a:cubicBezTo>
                  <a:pt x="110044" y="38100"/>
                  <a:pt x="114300" y="42356"/>
                  <a:pt x="114300" y="47625"/>
                </a:cubicBezTo>
                <a:lnTo>
                  <a:pt x="114300" y="104775"/>
                </a:lnTo>
                <a:cubicBezTo>
                  <a:pt x="114300" y="110044"/>
                  <a:pt x="110044" y="114300"/>
                  <a:pt x="104775" y="114300"/>
                </a:cubicBezTo>
                <a:lnTo>
                  <a:pt x="47625" y="114300"/>
                </a:lnTo>
                <a:cubicBezTo>
                  <a:pt x="42356" y="114300"/>
                  <a:pt x="38100" y="110044"/>
                  <a:pt x="38100" y="104775"/>
                </a:cubicBezTo>
                <a:lnTo>
                  <a:pt x="38100" y="47625"/>
                </a:lnTo>
                <a:cubicBezTo>
                  <a:pt x="38100" y="42356"/>
                  <a:pt x="42356" y="38100"/>
                  <a:pt x="47625" y="38100"/>
                </a:cubicBezTo>
                <a:close/>
                <a:moveTo>
                  <a:pt x="52388" y="52388"/>
                </a:moveTo>
                <a:lnTo>
                  <a:pt x="52388" y="100013"/>
                </a:lnTo>
                <a:lnTo>
                  <a:pt x="100013" y="100013"/>
                </a:lnTo>
                <a:lnTo>
                  <a:pt x="100013" y="52388"/>
                </a:lnTo>
                <a:lnTo>
                  <a:pt x="52388" y="52388"/>
                </a:lnTo>
                <a:close/>
              </a:path>
            </a:pathLst>
          </a:custGeom>
          <a:solidFill>
            <a:srgbClr val="C9A36A"/>
          </a:solidFill>
          <a:ln/>
        </p:spPr>
        <p:txBody>
          <a:bodyPr/>
          <a:lstStyle/>
          <a:p>
            <a:endParaRPr lang="en-IN"/>
          </a:p>
        </p:txBody>
      </p:sp>
      <p:sp>
        <p:nvSpPr>
          <p:cNvPr id="62" name="Text 60"/>
          <p:cNvSpPr/>
          <p:nvPr/>
        </p:nvSpPr>
        <p:spPr>
          <a:xfrm>
            <a:off x="8591550" y="5749928"/>
            <a:ext cx="2352675"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Computer:</a:t>
            </a:r>
            <a:r>
              <a:rPr lang="en-US" sz="1050" dirty="0">
                <a:solidFill>
                  <a:srgbClr val="B8B8B8"/>
                </a:solidFill>
                <a:latin typeface="Quattrocento Sans" pitchFamily="34" charset="0"/>
                <a:ea typeface="Quattrocento Sans" pitchFamily="34" charset="-122"/>
                <a:cs typeface="Quattrocento Sans" pitchFamily="34" charset="-120"/>
              </a:rPr>
              <a:t> Standard PC with 4GB+ RAM</a:t>
            </a:r>
            <a:endParaRPr lang="en-US" sz="1600" dirty="0"/>
          </a:p>
        </p:txBody>
      </p:sp>
      <p:sp>
        <p:nvSpPr>
          <p:cNvPr id="63" name="Shape 61"/>
          <p:cNvSpPr/>
          <p:nvPr/>
        </p:nvSpPr>
        <p:spPr>
          <a:xfrm>
            <a:off x="8353425" y="6035678"/>
            <a:ext cx="133350" cy="152400"/>
          </a:xfrm>
          <a:custGeom>
            <a:avLst/>
            <a:gdLst/>
            <a:ahLst/>
            <a:cxnLst/>
            <a:rect l="l" t="t" r="r" b="b"/>
            <a:pathLst>
              <a:path w="133350" h="152400">
                <a:moveTo>
                  <a:pt x="19050" y="9525"/>
                </a:moveTo>
                <a:cubicBezTo>
                  <a:pt x="8543" y="9525"/>
                  <a:pt x="0" y="18068"/>
                  <a:pt x="0" y="28575"/>
                </a:cubicBezTo>
                <a:lnTo>
                  <a:pt x="0" y="77420"/>
                </a:lnTo>
                <a:cubicBezTo>
                  <a:pt x="5388" y="73640"/>
                  <a:pt x="11966" y="71438"/>
                  <a:pt x="19050" y="71438"/>
                </a:cubicBezTo>
                <a:lnTo>
                  <a:pt x="114300" y="71438"/>
                </a:lnTo>
                <a:cubicBezTo>
                  <a:pt x="121384" y="71438"/>
                  <a:pt x="127962" y="73640"/>
                  <a:pt x="133350" y="77420"/>
                </a:cubicBezTo>
                <a:lnTo>
                  <a:pt x="133350" y="28575"/>
                </a:lnTo>
                <a:cubicBezTo>
                  <a:pt x="133350" y="18068"/>
                  <a:pt x="124807" y="9525"/>
                  <a:pt x="114300" y="9525"/>
                </a:cubicBezTo>
                <a:lnTo>
                  <a:pt x="19050" y="9525"/>
                </a:lnTo>
                <a:close/>
                <a:moveTo>
                  <a:pt x="133350" y="104775"/>
                </a:moveTo>
                <a:cubicBezTo>
                  <a:pt x="133350" y="94268"/>
                  <a:pt x="124807" y="85725"/>
                  <a:pt x="114300" y="85725"/>
                </a:cubicBezTo>
                <a:lnTo>
                  <a:pt x="19050" y="85725"/>
                </a:lnTo>
                <a:cubicBezTo>
                  <a:pt x="8543" y="85725"/>
                  <a:pt x="0" y="94268"/>
                  <a:pt x="0" y="104775"/>
                </a:cubicBezTo>
                <a:lnTo>
                  <a:pt x="0" y="123825"/>
                </a:lnTo>
                <a:cubicBezTo>
                  <a:pt x="0" y="134332"/>
                  <a:pt x="8543" y="142875"/>
                  <a:pt x="19050" y="142875"/>
                </a:cubicBezTo>
                <a:lnTo>
                  <a:pt x="114300" y="142875"/>
                </a:lnTo>
                <a:cubicBezTo>
                  <a:pt x="124807" y="142875"/>
                  <a:pt x="133350" y="134332"/>
                  <a:pt x="133350" y="123825"/>
                </a:cubicBezTo>
                <a:lnTo>
                  <a:pt x="133350" y="104775"/>
                </a:lnTo>
                <a:close/>
                <a:moveTo>
                  <a:pt x="66675" y="114300"/>
                </a:moveTo>
                <a:cubicBezTo>
                  <a:pt x="66675" y="109043"/>
                  <a:pt x="70943" y="104775"/>
                  <a:pt x="76200" y="104775"/>
                </a:cubicBezTo>
                <a:cubicBezTo>
                  <a:pt x="81457" y="104775"/>
                  <a:pt x="85725" y="109043"/>
                  <a:pt x="85725" y="114300"/>
                </a:cubicBezTo>
                <a:cubicBezTo>
                  <a:pt x="85725" y="119557"/>
                  <a:pt x="81457" y="123825"/>
                  <a:pt x="76200" y="123825"/>
                </a:cubicBezTo>
                <a:cubicBezTo>
                  <a:pt x="70943" y="123825"/>
                  <a:pt x="66675" y="119557"/>
                  <a:pt x="66675" y="114300"/>
                </a:cubicBezTo>
                <a:close/>
                <a:moveTo>
                  <a:pt x="104775" y="104775"/>
                </a:moveTo>
                <a:cubicBezTo>
                  <a:pt x="110032" y="104775"/>
                  <a:pt x="114300" y="109043"/>
                  <a:pt x="114300" y="114300"/>
                </a:cubicBezTo>
                <a:cubicBezTo>
                  <a:pt x="114300" y="119557"/>
                  <a:pt x="110032" y="123825"/>
                  <a:pt x="104775" y="123825"/>
                </a:cubicBezTo>
                <a:cubicBezTo>
                  <a:pt x="99518" y="123825"/>
                  <a:pt x="95250" y="119557"/>
                  <a:pt x="95250" y="114300"/>
                </a:cubicBezTo>
                <a:cubicBezTo>
                  <a:pt x="95250" y="109043"/>
                  <a:pt x="99518" y="104775"/>
                  <a:pt x="104775" y="104775"/>
                </a:cubicBezTo>
                <a:close/>
              </a:path>
            </a:pathLst>
          </a:custGeom>
          <a:solidFill>
            <a:srgbClr val="C9A36A"/>
          </a:solidFill>
          <a:ln/>
        </p:spPr>
        <p:txBody>
          <a:bodyPr/>
          <a:lstStyle/>
          <a:p>
            <a:endParaRPr lang="en-IN"/>
          </a:p>
        </p:txBody>
      </p:sp>
      <p:sp>
        <p:nvSpPr>
          <p:cNvPr id="64" name="Text 62"/>
          <p:cNvSpPr/>
          <p:nvPr/>
        </p:nvSpPr>
        <p:spPr>
          <a:xfrm>
            <a:off x="8591550" y="6016628"/>
            <a:ext cx="2495550" cy="190500"/>
          </a:xfrm>
          <a:prstGeom prst="rect">
            <a:avLst/>
          </a:prstGeom>
          <a:noFill/>
          <a:ln/>
        </p:spPr>
        <p:txBody>
          <a:bodyPr wrap="square" lIns="0" tIns="0" rIns="0" bIns="0" rtlCol="0" anchor="ctr"/>
          <a:lstStyle/>
          <a:p>
            <a:pPr>
              <a:lnSpc>
                <a:spcPct val="120000"/>
              </a:lnSpc>
            </a:pPr>
            <a:r>
              <a:rPr lang="en-US" sz="1050" b="1" dirty="0">
                <a:solidFill>
                  <a:srgbClr val="F2F2F2"/>
                </a:solidFill>
                <a:latin typeface="Quattrocento Sans" pitchFamily="34" charset="0"/>
                <a:ea typeface="Quattrocento Sans" pitchFamily="34" charset="-122"/>
                <a:cs typeface="Quattrocento Sans" pitchFamily="34" charset="-120"/>
              </a:rPr>
              <a:t>Storage:</a:t>
            </a:r>
            <a:r>
              <a:rPr lang="en-US" sz="1050" dirty="0">
                <a:solidFill>
                  <a:srgbClr val="B8B8B8"/>
                </a:solidFill>
                <a:latin typeface="Quattrocento Sans" pitchFamily="34" charset="0"/>
                <a:ea typeface="Quattrocento Sans" pitchFamily="34" charset="-122"/>
                <a:cs typeface="Quattrocento Sans" pitchFamily="34" charset="-120"/>
              </a:rPr>
              <a:t> Local disk for dataset and models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05 / Architecture</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System Architecture</a:t>
            </a:r>
            <a:endParaRPr lang="en-US" sz="1600" dirty="0"/>
          </a:p>
        </p:txBody>
      </p:sp>
      <p:sp>
        <p:nvSpPr>
          <p:cNvPr id="4" name="Shape 2"/>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5" name="Shape 3"/>
          <p:cNvSpPr/>
          <p:nvPr/>
        </p:nvSpPr>
        <p:spPr>
          <a:xfrm>
            <a:off x="384175" y="1450975"/>
            <a:ext cx="3673475" cy="768350"/>
          </a:xfrm>
          <a:custGeom>
            <a:avLst/>
            <a:gdLst/>
            <a:ahLst/>
            <a:cxnLst/>
            <a:rect l="l" t="t" r="r" b="b"/>
            <a:pathLst>
              <a:path w="3673475" h="768350">
                <a:moveTo>
                  <a:pt x="0" y="0"/>
                </a:moveTo>
                <a:lnTo>
                  <a:pt x="3673475" y="0"/>
                </a:lnTo>
                <a:lnTo>
                  <a:pt x="3673475" y="768350"/>
                </a:lnTo>
                <a:lnTo>
                  <a:pt x="0" y="76835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6" name="Shape 4"/>
          <p:cNvSpPr/>
          <p:nvPr/>
        </p:nvSpPr>
        <p:spPr>
          <a:xfrm>
            <a:off x="539750" y="1606553"/>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9A36A"/>
          </a:solidFill>
          <a:ln/>
        </p:spPr>
        <p:txBody>
          <a:bodyPr/>
          <a:lstStyle/>
          <a:p>
            <a:endParaRPr lang="en-IN"/>
          </a:p>
        </p:txBody>
      </p:sp>
      <p:sp>
        <p:nvSpPr>
          <p:cNvPr id="7" name="Shape 5"/>
          <p:cNvSpPr/>
          <p:nvPr/>
        </p:nvSpPr>
        <p:spPr>
          <a:xfrm>
            <a:off x="673100" y="1739903"/>
            <a:ext cx="190500" cy="190500"/>
          </a:xfrm>
          <a:custGeom>
            <a:avLst/>
            <a:gdLst/>
            <a:ahLst/>
            <a:cxnLst/>
            <a:rect l="l" t="t" r="r" b="b"/>
            <a:pathLst>
              <a:path w="190500" h="190500">
                <a:moveTo>
                  <a:pt x="128364" y="101575"/>
                </a:moveTo>
                <a:cubicBezTo>
                  <a:pt x="131862" y="98078"/>
                  <a:pt x="131862" y="92422"/>
                  <a:pt x="128364" y="88962"/>
                </a:cubicBezTo>
                <a:lnTo>
                  <a:pt x="74786" y="35347"/>
                </a:lnTo>
                <a:cubicBezTo>
                  <a:pt x="72219" y="32779"/>
                  <a:pt x="68387" y="32035"/>
                  <a:pt x="65038" y="33412"/>
                </a:cubicBezTo>
                <a:cubicBezTo>
                  <a:pt x="61689" y="34789"/>
                  <a:pt x="59531" y="38063"/>
                  <a:pt x="59531" y="41672"/>
                </a:cubicBezTo>
                <a:lnTo>
                  <a:pt x="59531" y="71438"/>
                </a:lnTo>
                <a:lnTo>
                  <a:pt x="17859" y="71438"/>
                </a:lnTo>
                <a:cubicBezTo>
                  <a:pt x="8000" y="71438"/>
                  <a:pt x="0" y="79437"/>
                  <a:pt x="0" y="89297"/>
                </a:cubicBezTo>
                <a:lnTo>
                  <a:pt x="0" y="101203"/>
                </a:lnTo>
                <a:cubicBezTo>
                  <a:pt x="0" y="111063"/>
                  <a:pt x="8000" y="119063"/>
                  <a:pt x="17859" y="119063"/>
                </a:cubicBezTo>
                <a:lnTo>
                  <a:pt x="59531" y="119063"/>
                </a:lnTo>
                <a:lnTo>
                  <a:pt x="59531" y="148828"/>
                </a:lnTo>
                <a:cubicBezTo>
                  <a:pt x="59531" y="152437"/>
                  <a:pt x="61689" y="155711"/>
                  <a:pt x="65038" y="157088"/>
                </a:cubicBezTo>
                <a:cubicBezTo>
                  <a:pt x="68387" y="158465"/>
                  <a:pt x="72219" y="157721"/>
                  <a:pt x="74786" y="155153"/>
                </a:cubicBezTo>
                <a:lnTo>
                  <a:pt x="128364" y="101575"/>
                </a:lnTo>
                <a:close/>
                <a:moveTo>
                  <a:pt x="130969" y="154781"/>
                </a:moveTo>
                <a:cubicBezTo>
                  <a:pt x="124383" y="154781"/>
                  <a:pt x="119063" y="160102"/>
                  <a:pt x="119063" y="166688"/>
                </a:cubicBezTo>
                <a:cubicBezTo>
                  <a:pt x="119063" y="173273"/>
                  <a:pt x="124383" y="178594"/>
                  <a:pt x="130969" y="178594"/>
                </a:cubicBezTo>
                <a:lnTo>
                  <a:pt x="154781" y="178594"/>
                </a:lnTo>
                <a:cubicBezTo>
                  <a:pt x="174501" y="178594"/>
                  <a:pt x="190500" y="162595"/>
                  <a:pt x="190500" y="142875"/>
                </a:cubicBezTo>
                <a:lnTo>
                  <a:pt x="190500" y="47625"/>
                </a:lnTo>
                <a:cubicBezTo>
                  <a:pt x="190500" y="27905"/>
                  <a:pt x="174501" y="11906"/>
                  <a:pt x="154781" y="11906"/>
                </a:cubicBezTo>
                <a:lnTo>
                  <a:pt x="130969" y="11906"/>
                </a:lnTo>
                <a:cubicBezTo>
                  <a:pt x="124383" y="11906"/>
                  <a:pt x="119063" y="17227"/>
                  <a:pt x="119063" y="23812"/>
                </a:cubicBezTo>
                <a:cubicBezTo>
                  <a:pt x="119063" y="30398"/>
                  <a:pt x="124383" y="35719"/>
                  <a:pt x="130969" y="35719"/>
                </a:cubicBezTo>
                <a:lnTo>
                  <a:pt x="154781" y="35719"/>
                </a:lnTo>
                <a:cubicBezTo>
                  <a:pt x="161367" y="35719"/>
                  <a:pt x="166688" y="41039"/>
                  <a:pt x="166688" y="47625"/>
                </a:cubicBezTo>
                <a:lnTo>
                  <a:pt x="166688" y="142875"/>
                </a:lnTo>
                <a:cubicBezTo>
                  <a:pt x="166688" y="149461"/>
                  <a:pt x="161367" y="154781"/>
                  <a:pt x="154781" y="154781"/>
                </a:cubicBezTo>
                <a:lnTo>
                  <a:pt x="130969" y="154781"/>
                </a:lnTo>
                <a:close/>
              </a:path>
            </a:pathLst>
          </a:custGeom>
          <a:solidFill>
            <a:srgbClr val="111111"/>
          </a:solidFill>
          <a:ln/>
        </p:spPr>
        <p:txBody>
          <a:bodyPr/>
          <a:lstStyle/>
          <a:p>
            <a:endParaRPr lang="en-IN"/>
          </a:p>
        </p:txBody>
      </p:sp>
      <p:sp>
        <p:nvSpPr>
          <p:cNvPr id="8" name="Text 6"/>
          <p:cNvSpPr/>
          <p:nvPr/>
        </p:nvSpPr>
        <p:spPr>
          <a:xfrm>
            <a:off x="1111250" y="1682753"/>
            <a:ext cx="1228725"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Input Stage</a:t>
            </a:r>
            <a:endParaRPr lang="en-US" sz="1600" dirty="0"/>
          </a:p>
        </p:txBody>
      </p:sp>
      <p:sp>
        <p:nvSpPr>
          <p:cNvPr id="9" name="Shape 7"/>
          <p:cNvSpPr/>
          <p:nvPr/>
        </p:nvSpPr>
        <p:spPr>
          <a:xfrm>
            <a:off x="384175" y="2378077"/>
            <a:ext cx="3673475" cy="3130550"/>
          </a:xfrm>
          <a:custGeom>
            <a:avLst/>
            <a:gdLst/>
            <a:ahLst/>
            <a:cxnLst/>
            <a:rect l="l" t="t" r="r" b="b"/>
            <a:pathLst>
              <a:path w="3673475" h="3130550">
                <a:moveTo>
                  <a:pt x="0" y="0"/>
                </a:moveTo>
                <a:lnTo>
                  <a:pt x="3673475" y="0"/>
                </a:lnTo>
                <a:lnTo>
                  <a:pt x="3673475" y="3130550"/>
                </a:lnTo>
                <a:lnTo>
                  <a:pt x="0" y="3130550"/>
                </a:lnTo>
                <a:lnTo>
                  <a:pt x="0" y="0"/>
                </a:lnTo>
                <a:close/>
              </a:path>
            </a:pathLst>
          </a:custGeom>
          <a:solidFill>
            <a:srgbClr val="1A1A1A"/>
          </a:solidFill>
          <a:ln w="8467">
            <a:solidFill>
              <a:srgbClr val="2B2B2B"/>
            </a:solidFill>
            <a:prstDash val="solid"/>
          </a:ln>
        </p:spPr>
        <p:txBody>
          <a:bodyPr/>
          <a:lstStyle/>
          <a:p>
            <a:endParaRPr lang="en-IN"/>
          </a:p>
        </p:txBody>
      </p:sp>
      <p:sp>
        <p:nvSpPr>
          <p:cNvPr id="10" name="Shape 8"/>
          <p:cNvSpPr/>
          <p:nvPr/>
        </p:nvSpPr>
        <p:spPr>
          <a:xfrm>
            <a:off x="590947" y="2749553"/>
            <a:ext cx="192881" cy="171450"/>
          </a:xfrm>
          <a:custGeom>
            <a:avLst/>
            <a:gdLst/>
            <a:ahLst/>
            <a:cxnLst/>
            <a:rect l="l" t="t" r="r" b="b"/>
            <a:pathLst>
              <a:path w="192881" h="171450">
                <a:moveTo>
                  <a:pt x="32147" y="21431"/>
                </a:moveTo>
                <a:cubicBezTo>
                  <a:pt x="20326" y="21431"/>
                  <a:pt x="10716" y="31042"/>
                  <a:pt x="10716" y="42863"/>
                </a:cubicBezTo>
                <a:lnTo>
                  <a:pt x="10716" y="128588"/>
                </a:lnTo>
                <a:cubicBezTo>
                  <a:pt x="10716" y="140408"/>
                  <a:pt x="20326" y="150019"/>
                  <a:pt x="32147" y="150019"/>
                </a:cubicBezTo>
                <a:lnTo>
                  <a:pt x="117872" y="150019"/>
                </a:lnTo>
                <a:cubicBezTo>
                  <a:pt x="129693" y="150019"/>
                  <a:pt x="139303" y="140408"/>
                  <a:pt x="139303" y="128588"/>
                </a:cubicBezTo>
                <a:lnTo>
                  <a:pt x="139303" y="42863"/>
                </a:lnTo>
                <a:cubicBezTo>
                  <a:pt x="139303" y="31042"/>
                  <a:pt x="129693" y="21431"/>
                  <a:pt x="117872" y="21431"/>
                </a:cubicBezTo>
                <a:lnTo>
                  <a:pt x="32147" y="21431"/>
                </a:lnTo>
                <a:close/>
                <a:moveTo>
                  <a:pt x="155377" y="112514"/>
                </a:moveTo>
                <a:lnTo>
                  <a:pt x="179989" y="132204"/>
                </a:lnTo>
                <a:cubicBezTo>
                  <a:pt x="181395" y="133343"/>
                  <a:pt x="183137" y="133945"/>
                  <a:pt x="184945" y="133945"/>
                </a:cubicBezTo>
                <a:cubicBezTo>
                  <a:pt x="189332" y="133945"/>
                  <a:pt x="192881" y="130396"/>
                  <a:pt x="192881" y="126009"/>
                </a:cubicBezTo>
                <a:lnTo>
                  <a:pt x="192881" y="45441"/>
                </a:lnTo>
                <a:cubicBezTo>
                  <a:pt x="192881" y="41054"/>
                  <a:pt x="189332" y="37505"/>
                  <a:pt x="184945" y="37505"/>
                </a:cubicBezTo>
                <a:cubicBezTo>
                  <a:pt x="183137" y="37505"/>
                  <a:pt x="181395" y="38107"/>
                  <a:pt x="179989" y="39246"/>
                </a:cubicBezTo>
                <a:lnTo>
                  <a:pt x="155377" y="58936"/>
                </a:lnTo>
                <a:lnTo>
                  <a:pt x="155377" y="112514"/>
                </a:lnTo>
                <a:close/>
              </a:path>
            </a:pathLst>
          </a:custGeom>
          <a:solidFill>
            <a:srgbClr val="C9A36A"/>
          </a:solidFill>
          <a:ln/>
        </p:spPr>
        <p:txBody>
          <a:bodyPr/>
          <a:lstStyle/>
          <a:p>
            <a:endParaRPr lang="en-IN"/>
          </a:p>
        </p:txBody>
      </p:sp>
      <p:sp>
        <p:nvSpPr>
          <p:cNvPr id="11" name="Text 9"/>
          <p:cNvSpPr/>
          <p:nvPr/>
        </p:nvSpPr>
        <p:spPr>
          <a:xfrm>
            <a:off x="796925" y="2701928"/>
            <a:ext cx="3152775"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Webcam Capture</a:t>
            </a:r>
            <a:endParaRPr lang="en-US" sz="1600" dirty="0"/>
          </a:p>
        </p:txBody>
      </p:sp>
      <p:sp>
        <p:nvSpPr>
          <p:cNvPr id="12" name="Text 10"/>
          <p:cNvSpPr/>
          <p:nvPr/>
        </p:nvSpPr>
        <p:spPr>
          <a:xfrm>
            <a:off x="577850" y="3044828"/>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HD webcam captures live video stream in real-time at 30 FPS, providing continuous feed for face detection.</a:t>
            </a:r>
            <a:endParaRPr lang="en-US" sz="1600" dirty="0"/>
          </a:p>
        </p:txBody>
      </p:sp>
      <p:sp>
        <p:nvSpPr>
          <p:cNvPr id="13" name="Shape 11"/>
          <p:cNvSpPr/>
          <p:nvPr/>
        </p:nvSpPr>
        <p:spPr>
          <a:xfrm>
            <a:off x="577850" y="3943353"/>
            <a:ext cx="3286125" cy="6350"/>
          </a:xfrm>
          <a:custGeom>
            <a:avLst/>
            <a:gdLst/>
            <a:ahLst/>
            <a:cxnLst/>
            <a:rect l="l" t="t" r="r" b="b"/>
            <a:pathLst>
              <a:path w="3286125" h="6350">
                <a:moveTo>
                  <a:pt x="0" y="0"/>
                </a:moveTo>
                <a:lnTo>
                  <a:pt x="3286125" y="0"/>
                </a:lnTo>
                <a:lnTo>
                  <a:pt x="3286125" y="6350"/>
                </a:lnTo>
                <a:lnTo>
                  <a:pt x="0" y="6350"/>
                </a:lnTo>
                <a:lnTo>
                  <a:pt x="0" y="0"/>
                </a:lnTo>
                <a:close/>
              </a:path>
            </a:pathLst>
          </a:custGeom>
          <a:solidFill>
            <a:srgbClr val="2B2B2B"/>
          </a:solidFill>
          <a:ln/>
        </p:spPr>
        <p:txBody>
          <a:bodyPr/>
          <a:lstStyle/>
          <a:p>
            <a:endParaRPr lang="en-IN"/>
          </a:p>
        </p:txBody>
      </p:sp>
      <p:sp>
        <p:nvSpPr>
          <p:cNvPr id="14" name="Shape 12"/>
          <p:cNvSpPr/>
          <p:nvPr/>
        </p:nvSpPr>
        <p:spPr>
          <a:xfrm>
            <a:off x="612378" y="4146552"/>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32147"/>
                </a:lnTo>
                <a:cubicBezTo>
                  <a:pt x="150019" y="20326"/>
                  <a:pt x="140408" y="10716"/>
                  <a:pt x="128588" y="10716"/>
                </a:cubicBezTo>
                <a:lnTo>
                  <a:pt x="21431" y="10716"/>
                </a:lnTo>
                <a:close/>
                <a:moveTo>
                  <a:pt x="42863" y="37505"/>
                </a:moveTo>
                <a:cubicBezTo>
                  <a:pt x="51734" y="37505"/>
                  <a:pt x="58936" y="44707"/>
                  <a:pt x="58936" y="53578"/>
                </a:cubicBezTo>
                <a:cubicBezTo>
                  <a:pt x="58936" y="62449"/>
                  <a:pt x="51734" y="69652"/>
                  <a:pt x="42863" y="69652"/>
                </a:cubicBezTo>
                <a:cubicBezTo>
                  <a:pt x="33991" y="69652"/>
                  <a:pt x="26789" y="62449"/>
                  <a:pt x="26789" y="53578"/>
                </a:cubicBezTo>
                <a:cubicBezTo>
                  <a:pt x="26789" y="44707"/>
                  <a:pt x="33991" y="37505"/>
                  <a:pt x="42863" y="37505"/>
                </a:cubicBezTo>
                <a:close/>
                <a:moveTo>
                  <a:pt x="91083" y="75009"/>
                </a:moveTo>
                <a:cubicBezTo>
                  <a:pt x="93896" y="75009"/>
                  <a:pt x="96474" y="76483"/>
                  <a:pt x="97948" y="78860"/>
                </a:cubicBezTo>
                <a:lnTo>
                  <a:pt x="127415" y="127081"/>
                </a:lnTo>
                <a:cubicBezTo>
                  <a:pt x="128922" y="129559"/>
                  <a:pt x="128989" y="132673"/>
                  <a:pt x="127583" y="135218"/>
                </a:cubicBezTo>
                <a:cubicBezTo>
                  <a:pt x="126176" y="137763"/>
                  <a:pt x="123464" y="139303"/>
                  <a:pt x="120551" y="139303"/>
                </a:cubicBezTo>
                <a:lnTo>
                  <a:pt x="29468" y="139303"/>
                </a:lnTo>
                <a:cubicBezTo>
                  <a:pt x="26488" y="139303"/>
                  <a:pt x="23708" y="137629"/>
                  <a:pt x="22335" y="134983"/>
                </a:cubicBezTo>
                <a:cubicBezTo>
                  <a:pt x="20962" y="132338"/>
                  <a:pt x="21163" y="129123"/>
                  <a:pt x="22871" y="126679"/>
                </a:cubicBezTo>
                <a:lnTo>
                  <a:pt x="41624" y="99890"/>
                </a:lnTo>
                <a:cubicBezTo>
                  <a:pt x="43130" y="97747"/>
                  <a:pt x="45575" y="96474"/>
                  <a:pt x="48220" y="96474"/>
                </a:cubicBezTo>
                <a:cubicBezTo>
                  <a:pt x="50866" y="96474"/>
                  <a:pt x="53310" y="97747"/>
                  <a:pt x="54817" y="99890"/>
                </a:cubicBezTo>
                <a:lnTo>
                  <a:pt x="63658" y="112548"/>
                </a:lnTo>
                <a:lnTo>
                  <a:pt x="84218" y="78894"/>
                </a:lnTo>
                <a:cubicBezTo>
                  <a:pt x="85692" y="76516"/>
                  <a:pt x="88270" y="75043"/>
                  <a:pt x="91083" y="75043"/>
                </a:cubicBezTo>
                <a:close/>
              </a:path>
            </a:pathLst>
          </a:custGeom>
          <a:solidFill>
            <a:srgbClr val="C9A36A"/>
          </a:solidFill>
          <a:ln/>
        </p:spPr>
        <p:txBody>
          <a:bodyPr/>
          <a:lstStyle/>
          <a:p>
            <a:endParaRPr lang="en-IN"/>
          </a:p>
        </p:txBody>
      </p:sp>
      <p:sp>
        <p:nvSpPr>
          <p:cNvPr id="15" name="Text 13"/>
          <p:cNvSpPr/>
          <p:nvPr/>
        </p:nvSpPr>
        <p:spPr>
          <a:xfrm>
            <a:off x="796925" y="4098927"/>
            <a:ext cx="3152775"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Frame Extraction</a:t>
            </a:r>
            <a:endParaRPr lang="en-US" sz="1600" dirty="0"/>
          </a:p>
        </p:txBody>
      </p:sp>
      <p:sp>
        <p:nvSpPr>
          <p:cNvPr id="16" name="Text 14"/>
          <p:cNvSpPr/>
          <p:nvPr/>
        </p:nvSpPr>
        <p:spPr>
          <a:xfrm>
            <a:off x="577850" y="4441827"/>
            <a:ext cx="336232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Individual frames are extracted from the video stream and preprocessed for optimal face detection accuracy.</a:t>
            </a:r>
            <a:endParaRPr lang="en-US" sz="1600" dirty="0"/>
          </a:p>
        </p:txBody>
      </p:sp>
      <p:sp>
        <p:nvSpPr>
          <p:cNvPr id="17" name="Shape 15"/>
          <p:cNvSpPr/>
          <p:nvPr/>
        </p:nvSpPr>
        <p:spPr>
          <a:xfrm>
            <a:off x="4257675" y="1450975"/>
            <a:ext cx="3673475" cy="768350"/>
          </a:xfrm>
          <a:custGeom>
            <a:avLst/>
            <a:gdLst/>
            <a:ahLst/>
            <a:cxnLst/>
            <a:rect l="l" t="t" r="r" b="b"/>
            <a:pathLst>
              <a:path w="3673475" h="768350">
                <a:moveTo>
                  <a:pt x="0" y="0"/>
                </a:moveTo>
                <a:lnTo>
                  <a:pt x="3673475" y="0"/>
                </a:lnTo>
                <a:lnTo>
                  <a:pt x="3673475" y="768350"/>
                </a:lnTo>
                <a:lnTo>
                  <a:pt x="0" y="76835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18" name="Shape 16"/>
          <p:cNvSpPr/>
          <p:nvPr/>
        </p:nvSpPr>
        <p:spPr>
          <a:xfrm>
            <a:off x="4413250" y="1606553"/>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9A36A"/>
          </a:solidFill>
          <a:ln/>
        </p:spPr>
        <p:txBody>
          <a:bodyPr/>
          <a:lstStyle/>
          <a:p>
            <a:endParaRPr lang="en-IN"/>
          </a:p>
        </p:txBody>
      </p:sp>
      <p:sp>
        <p:nvSpPr>
          <p:cNvPr id="19" name="Shape 17"/>
          <p:cNvSpPr/>
          <p:nvPr/>
        </p:nvSpPr>
        <p:spPr>
          <a:xfrm>
            <a:off x="4522788" y="1739903"/>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111111"/>
          </a:solidFill>
          <a:ln/>
        </p:spPr>
        <p:txBody>
          <a:bodyPr/>
          <a:lstStyle/>
          <a:p>
            <a:endParaRPr lang="en-IN"/>
          </a:p>
        </p:txBody>
      </p:sp>
      <p:sp>
        <p:nvSpPr>
          <p:cNvPr id="20" name="Text 18"/>
          <p:cNvSpPr/>
          <p:nvPr/>
        </p:nvSpPr>
        <p:spPr>
          <a:xfrm>
            <a:off x="4984750" y="1682753"/>
            <a:ext cx="177165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Processing Stage</a:t>
            </a:r>
            <a:endParaRPr lang="en-US" sz="1600" dirty="0"/>
          </a:p>
        </p:txBody>
      </p:sp>
      <p:sp>
        <p:nvSpPr>
          <p:cNvPr id="21" name="Shape 19"/>
          <p:cNvSpPr/>
          <p:nvPr/>
        </p:nvSpPr>
        <p:spPr>
          <a:xfrm>
            <a:off x="4257675" y="2378077"/>
            <a:ext cx="3673475" cy="3130550"/>
          </a:xfrm>
          <a:custGeom>
            <a:avLst/>
            <a:gdLst/>
            <a:ahLst/>
            <a:cxnLst/>
            <a:rect l="l" t="t" r="r" b="b"/>
            <a:pathLst>
              <a:path w="3673475" h="3130550">
                <a:moveTo>
                  <a:pt x="0" y="0"/>
                </a:moveTo>
                <a:lnTo>
                  <a:pt x="3673475" y="0"/>
                </a:lnTo>
                <a:lnTo>
                  <a:pt x="3673475" y="3130550"/>
                </a:lnTo>
                <a:lnTo>
                  <a:pt x="0" y="3130550"/>
                </a:lnTo>
                <a:lnTo>
                  <a:pt x="0" y="0"/>
                </a:lnTo>
                <a:close/>
              </a:path>
            </a:pathLst>
          </a:custGeom>
          <a:solidFill>
            <a:srgbClr val="1A1A1A"/>
          </a:solidFill>
          <a:ln w="8467">
            <a:solidFill>
              <a:srgbClr val="2B2B2B"/>
            </a:solidFill>
            <a:prstDash val="solid"/>
          </a:ln>
        </p:spPr>
        <p:txBody>
          <a:bodyPr/>
          <a:lstStyle/>
          <a:p>
            <a:endParaRPr lang="en-IN"/>
          </a:p>
        </p:txBody>
      </p:sp>
      <p:sp>
        <p:nvSpPr>
          <p:cNvPr id="22" name="Shape 20"/>
          <p:cNvSpPr/>
          <p:nvPr/>
        </p:nvSpPr>
        <p:spPr>
          <a:xfrm>
            <a:off x="4451350" y="2971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36A">
              <a:alpha val="20000"/>
            </a:srgbClr>
          </a:solidFill>
          <a:ln/>
        </p:spPr>
        <p:txBody>
          <a:bodyPr/>
          <a:lstStyle/>
          <a:p>
            <a:endParaRPr lang="en-IN"/>
          </a:p>
        </p:txBody>
      </p:sp>
      <p:sp>
        <p:nvSpPr>
          <p:cNvPr id="23" name="Text 21"/>
          <p:cNvSpPr/>
          <p:nvPr/>
        </p:nvSpPr>
        <p:spPr>
          <a:xfrm>
            <a:off x="4582517" y="3028950"/>
            <a:ext cx="104775" cy="190500"/>
          </a:xfrm>
          <a:prstGeom prst="rect">
            <a:avLst/>
          </a:prstGeom>
          <a:noFill/>
          <a:ln/>
        </p:spPr>
        <p:txBody>
          <a:bodyPr wrap="square" lIns="0" tIns="0" rIns="0" bIns="0" rtlCol="0" anchor="ctr"/>
          <a:lstStyle/>
          <a:p>
            <a:pPr>
              <a:lnSpc>
                <a:spcPct val="120000"/>
              </a:lnSpc>
            </a:pPr>
            <a:r>
              <a:rPr lang="en-US" sz="1050" b="1" dirty="0">
                <a:solidFill>
                  <a:srgbClr val="C9A36A"/>
                </a:solidFill>
                <a:latin typeface="Quattrocento Sans" pitchFamily="34" charset="0"/>
                <a:ea typeface="Quattrocento Sans" pitchFamily="34" charset="-122"/>
                <a:cs typeface="Quattrocento Sans" pitchFamily="34" charset="-120"/>
              </a:rPr>
              <a:t>1</a:t>
            </a:r>
            <a:endParaRPr lang="en-US" sz="1600" dirty="0"/>
          </a:p>
        </p:txBody>
      </p:sp>
      <p:sp>
        <p:nvSpPr>
          <p:cNvPr id="24" name="Text 22"/>
          <p:cNvSpPr/>
          <p:nvPr/>
        </p:nvSpPr>
        <p:spPr>
          <a:xfrm>
            <a:off x="4870450" y="2933700"/>
            <a:ext cx="2152650"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Face Detection</a:t>
            </a:r>
            <a:endParaRPr lang="en-US" sz="1600" dirty="0"/>
          </a:p>
        </p:txBody>
      </p:sp>
      <p:sp>
        <p:nvSpPr>
          <p:cNvPr id="25" name="Text 23"/>
          <p:cNvSpPr/>
          <p:nvPr/>
        </p:nvSpPr>
        <p:spPr>
          <a:xfrm>
            <a:off x="4870450" y="3162300"/>
            <a:ext cx="2143125" cy="190500"/>
          </a:xfrm>
          <a:prstGeom prst="rect">
            <a:avLst/>
          </a:prstGeom>
          <a:noFill/>
          <a:ln/>
        </p:spPr>
        <p:txBody>
          <a:bodyPr wrap="square" lIns="0" tIns="0" rIns="0" bIns="0" rtlCol="0" anchor="ctr"/>
          <a:lstStyle/>
          <a:p>
            <a:pPr>
              <a:lnSpc>
                <a:spcPct val="120000"/>
              </a:lnSpc>
            </a:pPr>
            <a:r>
              <a:rPr lang="en-US" sz="1050" dirty="0">
                <a:solidFill>
                  <a:srgbClr val="B8B8B8"/>
                </a:solidFill>
                <a:latin typeface="Quattrocento Sans" pitchFamily="34" charset="0"/>
                <a:ea typeface="Quattrocento Sans" pitchFamily="34" charset="-122"/>
                <a:cs typeface="Quattrocento Sans" pitchFamily="34" charset="-120"/>
              </a:rPr>
              <a:t>Haar Cascade identifies face regions</a:t>
            </a:r>
            <a:endParaRPr lang="en-US" sz="1600" dirty="0"/>
          </a:p>
        </p:txBody>
      </p:sp>
      <p:sp>
        <p:nvSpPr>
          <p:cNvPr id="26" name="Shape 24"/>
          <p:cNvSpPr/>
          <p:nvPr/>
        </p:nvSpPr>
        <p:spPr>
          <a:xfrm>
            <a:off x="4451350" y="35052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36A">
              <a:alpha val="20000"/>
            </a:srgbClr>
          </a:solidFill>
          <a:ln/>
        </p:spPr>
        <p:txBody>
          <a:bodyPr/>
          <a:lstStyle/>
          <a:p>
            <a:endParaRPr lang="en-IN"/>
          </a:p>
        </p:txBody>
      </p:sp>
      <p:sp>
        <p:nvSpPr>
          <p:cNvPr id="27" name="Text 25"/>
          <p:cNvSpPr/>
          <p:nvPr/>
        </p:nvSpPr>
        <p:spPr>
          <a:xfrm>
            <a:off x="4569718" y="3562350"/>
            <a:ext cx="133350" cy="190500"/>
          </a:xfrm>
          <a:prstGeom prst="rect">
            <a:avLst/>
          </a:prstGeom>
          <a:noFill/>
          <a:ln/>
        </p:spPr>
        <p:txBody>
          <a:bodyPr wrap="square" lIns="0" tIns="0" rIns="0" bIns="0" rtlCol="0" anchor="ctr"/>
          <a:lstStyle/>
          <a:p>
            <a:pPr>
              <a:lnSpc>
                <a:spcPct val="120000"/>
              </a:lnSpc>
            </a:pPr>
            <a:r>
              <a:rPr lang="en-US" sz="1050" b="1" dirty="0">
                <a:solidFill>
                  <a:srgbClr val="C9A36A"/>
                </a:solidFill>
                <a:latin typeface="Quattrocento Sans" pitchFamily="34" charset="0"/>
                <a:ea typeface="Quattrocento Sans" pitchFamily="34" charset="-122"/>
                <a:cs typeface="Quattrocento Sans" pitchFamily="34" charset="-120"/>
              </a:rPr>
              <a:t>2</a:t>
            </a:r>
            <a:endParaRPr lang="en-US" sz="1600" dirty="0"/>
          </a:p>
        </p:txBody>
      </p:sp>
      <p:sp>
        <p:nvSpPr>
          <p:cNvPr id="28" name="Text 26"/>
          <p:cNvSpPr/>
          <p:nvPr/>
        </p:nvSpPr>
        <p:spPr>
          <a:xfrm>
            <a:off x="4870450" y="3467100"/>
            <a:ext cx="170497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Feature Extraction</a:t>
            </a:r>
            <a:endParaRPr lang="en-US" sz="1600" dirty="0"/>
          </a:p>
        </p:txBody>
      </p:sp>
      <p:sp>
        <p:nvSpPr>
          <p:cNvPr id="29" name="Text 27"/>
          <p:cNvSpPr/>
          <p:nvPr/>
        </p:nvSpPr>
        <p:spPr>
          <a:xfrm>
            <a:off x="4870450" y="3695700"/>
            <a:ext cx="1695450" cy="190500"/>
          </a:xfrm>
          <a:prstGeom prst="rect">
            <a:avLst/>
          </a:prstGeom>
          <a:noFill/>
          <a:ln/>
        </p:spPr>
        <p:txBody>
          <a:bodyPr wrap="square" lIns="0" tIns="0" rIns="0" bIns="0" rtlCol="0" anchor="ctr"/>
          <a:lstStyle/>
          <a:p>
            <a:pPr>
              <a:lnSpc>
                <a:spcPct val="120000"/>
              </a:lnSpc>
            </a:pPr>
            <a:r>
              <a:rPr lang="en-US" sz="1050" dirty="0">
                <a:solidFill>
                  <a:srgbClr val="B8B8B8"/>
                </a:solidFill>
                <a:latin typeface="Quattrocento Sans" pitchFamily="34" charset="0"/>
                <a:ea typeface="Quattrocento Sans" pitchFamily="34" charset="-122"/>
                <a:cs typeface="Quattrocento Sans" pitchFamily="34" charset="-120"/>
              </a:rPr>
              <a:t>LBPH extracts facial features</a:t>
            </a:r>
            <a:endParaRPr lang="en-US" sz="1600" dirty="0"/>
          </a:p>
        </p:txBody>
      </p:sp>
      <p:sp>
        <p:nvSpPr>
          <p:cNvPr id="30" name="Shape 28"/>
          <p:cNvSpPr/>
          <p:nvPr/>
        </p:nvSpPr>
        <p:spPr>
          <a:xfrm>
            <a:off x="4451350" y="4038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36A">
              <a:alpha val="20000"/>
            </a:srgbClr>
          </a:solidFill>
          <a:ln/>
        </p:spPr>
        <p:txBody>
          <a:bodyPr/>
          <a:lstStyle/>
          <a:p>
            <a:endParaRPr lang="en-IN"/>
          </a:p>
        </p:txBody>
      </p:sp>
      <p:sp>
        <p:nvSpPr>
          <p:cNvPr id="31" name="Text 29"/>
          <p:cNvSpPr/>
          <p:nvPr/>
        </p:nvSpPr>
        <p:spPr>
          <a:xfrm>
            <a:off x="4568031" y="4095750"/>
            <a:ext cx="142875" cy="190500"/>
          </a:xfrm>
          <a:prstGeom prst="rect">
            <a:avLst/>
          </a:prstGeom>
          <a:noFill/>
          <a:ln/>
        </p:spPr>
        <p:txBody>
          <a:bodyPr wrap="square" lIns="0" tIns="0" rIns="0" bIns="0" rtlCol="0" anchor="ctr"/>
          <a:lstStyle/>
          <a:p>
            <a:pPr>
              <a:lnSpc>
                <a:spcPct val="120000"/>
              </a:lnSpc>
            </a:pPr>
            <a:r>
              <a:rPr lang="en-US" sz="1050" b="1" dirty="0">
                <a:solidFill>
                  <a:srgbClr val="C9A36A"/>
                </a:solidFill>
                <a:latin typeface="Quattrocento Sans" pitchFamily="34" charset="0"/>
                <a:ea typeface="Quattrocento Sans" pitchFamily="34" charset="-122"/>
                <a:cs typeface="Quattrocento Sans" pitchFamily="34" charset="-120"/>
              </a:rPr>
              <a:t>3</a:t>
            </a:r>
            <a:endParaRPr lang="en-US" sz="1600" dirty="0"/>
          </a:p>
        </p:txBody>
      </p:sp>
      <p:sp>
        <p:nvSpPr>
          <p:cNvPr id="32" name="Text 30"/>
          <p:cNvSpPr/>
          <p:nvPr/>
        </p:nvSpPr>
        <p:spPr>
          <a:xfrm>
            <a:off x="4870450" y="4000500"/>
            <a:ext cx="218122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Face Recognition</a:t>
            </a:r>
            <a:endParaRPr lang="en-US" sz="1600" dirty="0"/>
          </a:p>
        </p:txBody>
      </p:sp>
      <p:sp>
        <p:nvSpPr>
          <p:cNvPr id="33" name="Text 31"/>
          <p:cNvSpPr/>
          <p:nvPr/>
        </p:nvSpPr>
        <p:spPr>
          <a:xfrm>
            <a:off x="4870450" y="4229100"/>
            <a:ext cx="2171700" cy="190500"/>
          </a:xfrm>
          <a:prstGeom prst="rect">
            <a:avLst/>
          </a:prstGeom>
          <a:noFill/>
          <a:ln/>
        </p:spPr>
        <p:txBody>
          <a:bodyPr wrap="square" lIns="0" tIns="0" rIns="0" bIns="0" rtlCol="0" anchor="ctr"/>
          <a:lstStyle/>
          <a:p>
            <a:pPr>
              <a:lnSpc>
                <a:spcPct val="120000"/>
              </a:lnSpc>
            </a:pPr>
            <a:r>
              <a:rPr lang="en-US" sz="1050" dirty="0">
                <a:solidFill>
                  <a:srgbClr val="B8B8B8"/>
                </a:solidFill>
                <a:latin typeface="Quattrocento Sans" pitchFamily="34" charset="0"/>
                <a:ea typeface="Quattrocento Sans" pitchFamily="34" charset="-122"/>
                <a:cs typeface="Quattrocento Sans" pitchFamily="34" charset="-120"/>
              </a:rPr>
              <a:t>Matches features with trained model</a:t>
            </a:r>
            <a:endParaRPr lang="en-US" sz="1600" dirty="0"/>
          </a:p>
        </p:txBody>
      </p:sp>
      <p:sp>
        <p:nvSpPr>
          <p:cNvPr id="34" name="Shape 32"/>
          <p:cNvSpPr/>
          <p:nvPr/>
        </p:nvSpPr>
        <p:spPr>
          <a:xfrm>
            <a:off x="4451350" y="45720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36A">
              <a:alpha val="20000"/>
            </a:srgbClr>
          </a:solidFill>
          <a:ln/>
        </p:spPr>
        <p:txBody>
          <a:bodyPr/>
          <a:lstStyle/>
          <a:p>
            <a:endParaRPr lang="en-IN"/>
          </a:p>
        </p:txBody>
      </p:sp>
      <p:sp>
        <p:nvSpPr>
          <p:cNvPr id="35" name="Text 33"/>
          <p:cNvSpPr/>
          <p:nvPr/>
        </p:nvSpPr>
        <p:spPr>
          <a:xfrm>
            <a:off x="4569817" y="4629150"/>
            <a:ext cx="133350" cy="190500"/>
          </a:xfrm>
          <a:prstGeom prst="rect">
            <a:avLst/>
          </a:prstGeom>
          <a:noFill/>
          <a:ln/>
        </p:spPr>
        <p:txBody>
          <a:bodyPr wrap="square" lIns="0" tIns="0" rIns="0" bIns="0" rtlCol="0" anchor="ctr"/>
          <a:lstStyle/>
          <a:p>
            <a:pPr>
              <a:lnSpc>
                <a:spcPct val="120000"/>
              </a:lnSpc>
            </a:pPr>
            <a:r>
              <a:rPr lang="en-US" sz="1050" b="1" dirty="0">
                <a:solidFill>
                  <a:srgbClr val="C9A36A"/>
                </a:solidFill>
                <a:latin typeface="Quattrocento Sans" pitchFamily="34" charset="0"/>
                <a:ea typeface="Quattrocento Sans" pitchFamily="34" charset="-122"/>
                <a:cs typeface="Quattrocento Sans" pitchFamily="34" charset="-120"/>
              </a:rPr>
              <a:t>4</a:t>
            </a:r>
            <a:endParaRPr lang="en-US" sz="1600" dirty="0"/>
          </a:p>
        </p:txBody>
      </p:sp>
      <p:sp>
        <p:nvSpPr>
          <p:cNvPr id="36" name="Text 34"/>
          <p:cNvSpPr/>
          <p:nvPr/>
        </p:nvSpPr>
        <p:spPr>
          <a:xfrm>
            <a:off x="4870450" y="4533900"/>
            <a:ext cx="1857375"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Mask Detection</a:t>
            </a:r>
            <a:endParaRPr lang="en-US" sz="1600" dirty="0"/>
          </a:p>
        </p:txBody>
      </p:sp>
      <p:sp>
        <p:nvSpPr>
          <p:cNvPr id="37" name="Text 35"/>
          <p:cNvSpPr/>
          <p:nvPr/>
        </p:nvSpPr>
        <p:spPr>
          <a:xfrm>
            <a:off x="4870450" y="4762500"/>
            <a:ext cx="1847850" cy="190500"/>
          </a:xfrm>
          <a:prstGeom prst="rect">
            <a:avLst/>
          </a:prstGeom>
          <a:noFill/>
          <a:ln/>
        </p:spPr>
        <p:txBody>
          <a:bodyPr wrap="square" lIns="0" tIns="0" rIns="0" bIns="0" rtlCol="0" anchor="ctr"/>
          <a:lstStyle/>
          <a:p>
            <a:pPr>
              <a:lnSpc>
                <a:spcPct val="120000"/>
              </a:lnSpc>
            </a:pPr>
            <a:r>
              <a:rPr lang="en-US" sz="1050" dirty="0">
                <a:solidFill>
                  <a:srgbClr val="B8B8B8"/>
                </a:solidFill>
                <a:latin typeface="Quattrocento Sans" pitchFamily="34" charset="0"/>
                <a:ea typeface="Quattrocento Sans" pitchFamily="34" charset="-122"/>
                <a:cs typeface="Quattrocento Sans" pitchFamily="34" charset="-120"/>
              </a:rPr>
              <a:t>Checks for face mask presence</a:t>
            </a:r>
            <a:endParaRPr lang="en-US" sz="1600" dirty="0"/>
          </a:p>
        </p:txBody>
      </p:sp>
      <p:sp>
        <p:nvSpPr>
          <p:cNvPr id="38" name="Shape 36"/>
          <p:cNvSpPr/>
          <p:nvPr/>
        </p:nvSpPr>
        <p:spPr>
          <a:xfrm>
            <a:off x="8131175" y="1450975"/>
            <a:ext cx="3673475" cy="768350"/>
          </a:xfrm>
          <a:custGeom>
            <a:avLst/>
            <a:gdLst/>
            <a:ahLst/>
            <a:cxnLst/>
            <a:rect l="l" t="t" r="r" b="b"/>
            <a:pathLst>
              <a:path w="3673475" h="768350">
                <a:moveTo>
                  <a:pt x="0" y="0"/>
                </a:moveTo>
                <a:lnTo>
                  <a:pt x="3673475" y="0"/>
                </a:lnTo>
                <a:lnTo>
                  <a:pt x="3673475" y="768350"/>
                </a:lnTo>
                <a:lnTo>
                  <a:pt x="0" y="76835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39" name="Shape 37"/>
          <p:cNvSpPr/>
          <p:nvPr/>
        </p:nvSpPr>
        <p:spPr>
          <a:xfrm>
            <a:off x="8286750" y="1606553"/>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9A36A"/>
          </a:solidFill>
          <a:ln/>
        </p:spPr>
        <p:txBody>
          <a:bodyPr/>
          <a:lstStyle/>
          <a:p>
            <a:endParaRPr lang="en-IN"/>
          </a:p>
        </p:txBody>
      </p:sp>
      <p:sp>
        <p:nvSpPr>
          <p:cNvPr id="40" name="Shape 38"/>
          <p:cNvSpPr/>
          <p:nvPr/>
        </p:nvSpPr>
        <p:spPr>
          <a:xfrm>
            <a:off x="8420100" y="1739903"/>
            <a:ext cx="190500" cy="190500"/>
          </a:xfrm>
          <a:custGeom>
            <a:avLst/>
            <a:gdLst/>
            <a:ahLst/>
            <a:cxnLst/>
            <a:rect l="l" t="t" r="r" b="b"/>
            <a:pathLst>
              <a:path w="190500" h="190500">
                <a:moveTo>
                  <a:pt x="187896" y="101575"/>
                </a:moveTo>
                <a:cubicBezTo>
                  <a:pt x="191393" y="98078"/>
                  <a:pt x="191393" y="92422"/>
                  <a:pt x="187896" y="88962"/>
                </a:cubicBezTo>
                <a:lnTo>
                  <a:pt x="134317" y="35347"/>
                </a:lnTo>
                <a:cubicBezTo>
                  <a:pt x="131750" y="32779"/>
                  <a:pt x="127918" y="32035"/>
                  <a:pt x="124569" y="33412"/>
                </a:cubicBezTo>
                <a:cubicBezTo>
                  <a:pt x="121221" y="34789"/>
                  <a:pt x="119063" y="38063"/>
                  <a:pt x="119063" y="41672"/>
                </a:cubicBezTo>
                <a:lnTo>
                  <a:pt x="119063" y="71438"/>
                </a:lnTo>
                <a:lnTo>
                  <a:pt x="77391" y="71438"/>
                </a:lnTo>
                <a:cubicBezTo>
                  <a:pt x="67531" y="71438"/>
                  <a:pt x="59531" y="79437"/>
                  <a:pt x="59531" y="89297"/>
                </a:cubicBezTo>
                <a:lnTo>
                  <a:pt x="59531" y="101203"/>
                </a:lnTo>
                <a:cubicBezTo>
                  <a:pt x="59531" y="111063"/>
                  <a:pt x="67531" y="119063"/>
                  <a:pt x="77391" y="119063"/>
                </a:cubicBezTo>
                <a:lnTo>
                  <a:pt x="119063" y="119063"/>
                </a:lnTo>
                <a:lnTo>
                  <a:pt x="119063" y="148828"/>
                </a:lnTo>
                <a:cubicBezTo>
                  <a:pt x="119063" y="152437"/>
                  <a:pt x="121221" y="155711"/>
                  <a:pt x="124569" y="157088"/>
                </a:cubicBezTo>
                <a:cubicBezTo>
                  <a:pt x="127918" y="158465"/>
                  <a:pt x="131750" y="157721"/>
                  <a:pt x="134317" y="155153"/>
                </a:cubicBezTo>
                <a:lnTo>
                  <a:pt x="187896" y="101575"/>
                </a:lnTo>
                <a:close/>
                <a:moveTo>
                  <a:pt x="59531" y="35719"/>
                </a:moveTo>
                <a:cubicBezTo>
                  <a:pt x="66117" y="35719"/>
                  <a:pt x="71438" y="30398"/>
                  <a:pt x="71438" y="23812"/>
                </a:cubicBezTo>
                <a:cubicBezTo>
                  <a:pt x="71438" y="17227"/>
                  <a:pt x="66117" y="11906"/>
                  <a:pt x="59531" y="11906"/>
                </a:cubicBezTo>
                <a:lnTo>
                  <a:pt x="35719" y="11906"/>
                </a:lnTo>
                <a:cubicBezTo>
                  <a:pt x="15999" y="11906"/>
                  <a:pt x="0" y="27905"/>
                  <a:pt x="0" y="47625"/>
                </a:cubicBezTo>
                <a:lnTo>
                  <a:pt x="0" y="142875"/>
                </a:lnTo>
                <a:cubicBezTo>
                  <a:pt x="0" y="162595"/>
                  <a:pt x="15999" y="178594"/>
                  <a:pt x="35719" y="178594"/>
                </a:cubicBezTo>
                <a:lnTo>
                  <a:pt x="59531" y="178594"/>
                </a:lnTo>
                <a:cubicBezTo>
                  <a:pt x="66117" y="178594"/>
                  <a:pt x="71438" y="173273"/>
                  <a:pt x="71438" y="166688"/>
                </a:cubicBezTo>
                <a:cubicBezTo>
                  <a:pt x="71438" y="160102"/>
                  <a:pt x="66117" y="154781"/>
                  <a:pt x="59531" y="154781"/>
                </a:cubicBezTo>
                <a:lnTo>
                  <a:pt x="35719" y="154781"/>
                </a:lnTo>
                <a:cubicBezTo>
                  <a:pt x="29133" y="154781"/>
                  <a:pt x="23812" y="149461"/>
                  <a:pt x="23812" y="142875"/>
                </a:cubicBezTo>
                <a:lnTo>
                  <a:pt x="23812" y="47625"/>
                </a:lnTo>
                <a:cubicBezTo>
                  <a:pt x="23812" y="41039"/>
                  <a:pt x="29133" y="35719"/>
                  <a:pt x="35719" y="35719"/>
                </a:cubicBezTo>
                <a:lnTo>
                  <a:pt x="59531" y="35719"/>
                </a:lnTo>
                <a:close/>
              </a:path>
            </a:pathLst>
          </a:custGeom>
          <a:solidFill>
            <a:srgbClr val="111111"/>
          </a:solidFill>
          <a:ln/>
        </p:spPr>
        <p:txBody>
          <a:bodyPr/>
          <a:lstStyle/>
          <a:p>
            <a:endParaRPr lang="en-IN"/>
          </a:p>
        </p:txBody>
      </p:sp>
      <p:sp>
        <p:nvSpPr>
          <p:cNvPr id="41" name="Text 39"/>
          <p:cNvSpPr/>
          <p:nvPr/>
        </p:nvSpPr>
        <p:spPr>
          <a:xfrm>
            <a:off x="8858250" y="1682753"/>
            <a:ext cx="14097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Output Stage</a:t>
            </a:r>
            <a:endParaRPr lang="en-US" sz="1600" dirty="0"/>
          </a:p>
        </p:txBody>
      </p:sp>
      <p:sp>
        <p:nvSpPr>
          <p:cNvPr id="42" name="Shape 40"/>
          <p:cNvSpPr/>
          <p:nvPr/>
        </p:nvSpPr>
        <p:spPr>
          <a:xfrm>
            <a:off x="8131175" y="2378077"/>
            <a:ext cx="3673475" cy="3130550"/>
          </a:xfrm>
          <a:custGeom>
            <a:avLst/>
            <a:gdLst/>
            <a:ahLst/>
            <a:cxnLst/>
            <a:rect l="l" t="t" r="r" b="b"/>
            <a:pathLst>
              <a:path w="3673475" h="3130550">
                <a:moveTo>
                  <a:pt x="0" y="0"/>
                </a:moveTo>
                <a:lnTo>
                  <a:pt x="3673475" y="0"/>
                </a:lnTo>
                <a:lnTo>
                  <a:pt x="3673475" y="3130550"/>
                </a:lnTo>
                <a:lnTo>
                  <a:pt x="0" y="3130550"/>
                </a:lnTo>
                <a:lnTo>
                  <a:pt x="0" y="0"/>
                </a:lnTo>
                <a:close/>
              </a:path>
            </a:pathLst>
          </a:custGeom>
          <a:solidFill>
            <a:srgbClr val="1A1A1A"/>
          </a:solidFill>
          <a:ln w="8467">
            <a:solidFill>
              <a:srgbClr val="2B2B2B"/>
            </a:solidFill>
            <a:prstDash val="solid"/>
          </a:ln>
        </p:spPr>
        <p:txBody>
          <a:bodyPr/>
          <a:lstStyle/>
          <a:p>
            <a:endParaRPr lang="en-IN"/>
          </a:p>
        </p:txBody>
      </p:sp>
      <p:sp>
        <p:nvSpPr>
          <p:cNvPr id="43" name="Shape 41"/>
          <p:cNvSpPr/>
          <p:nvPr/>
        </p:nvSpPr>
        <p:spPr>
          <a:xfrm>
            <a:off x="8327231" y="2997203"/>
            <a:ext cx="214313" cy="171450"/>
          </a:xfrm>
          <a:custGeom>
            <a:avLst/>
            <a:gdLst/>
            <a:ahLst/>
            <a:cxnLst/>
            <a:rect l="l" t="t" r="r" b="b"/>
            <a:pathLst>
              <a:path w="214313" h="171450">
                <a:moveTo>
                  <a:pt x="45541" y="42863"/>
                </a:moveTo>
                <a:cubicBezTo>
                  <a:pt x="45541" y="20685"/>
                  <a:pt x="63547" y="2679"/>
                  <a:pt x="85725" y="2679"/>
                </a:cubicBezTo>
                <a:cubicBezTo>
                  <a:pt x="107903" y="2679"/>
                  <a:pt x="125909" y="20685"/>
                  <a:pt x="125909" y="42862"/>
                </a:cubicBezTo>
                <a:cubicBezTo>
                  <a:pt x="125909" y="65040"/>
                  <a:pt x="107903" y="83046"/>
                  <a:pt x="85725" y="83046"/>
                </a:cubicBezTo>
                <a:cubicBezTo>
                  <a:pt x="63547" y="83046"/>
                  <a:pt x="45541" y="65040"/>
                  <a:pt x="45541" y="42863"/>
                </a:cubicBezTo>
                <a:close/>
                <a:moveTo>
                  <a:pt x="16073" y="161505"/>
                </a:moveTo>
                <a:cubicBezTo>
                  <a:pt x="16073" y="128521"/>
                  <a:pt x="42796" y="101798"/>
                  <a:pt x="75780" y="101798"/>
                </a:cubicBezTo>
                <a:lnTo>
                  <a:pt x="95670" y="101798"/>
                </a:lnTo>
                <a:cubicBezTo>
                  <a:pt x="128654" y="101798"/>
                  <a:pt x="155377" y="128521"/>
                  <a:pt x="155377" y="161505"/>
                </a:cubicBezTo>
                <a:cubicBezTo>
                  <a:pt x="155377" y="166996"/>
                  <a:pt x="150923" y="171450"/>
                  <a:pt x="145431" y="171450"/>
                </a:cubicBezTo>
                <a:lnTo>
                  <a:pt x="26019" y="171450"/>
                </a:lnTo>
                <a:cubicBezTo>
                  <a:pt x="20527" y="171450"/>
                  <a:pt x="16073" y="166996"/>
                  <a:pt x="16073" y="161505"/>
                </a:cubicBezTo>
                <a:close/>
                <a:moveTo>
                  <a:pt x="205070" y="44436"/>
                </a:moveTo>
                <a:lnTo>
                  <a:pt x="178281" y="87299"/>
                </a:lnTo>
                <a:cubicBezTo>
                  <a:pt x="176875" y="89542"/>
                  <a:pt x="174464" y="90949"/>
                  <a:pt x="171818" y="91083"/>
                </a:cubicBezTo>
                <a:cubicBezTo>
                  <a:pt x="169173" y="91217"/>
                  <a:pt x="166628" y="90011"/>
                  <a:pt x="165054" y="87868"/>
                </a:cubicBezTo>
                <a:lnTo>
                  <a:pt x="148981" y="66437"/>
                </a:lnTo>
                <a:cubicBezTo>
                  <a:pt x="146302" y="62887"/>
                  <a:pt x="147038" y="57864"/>
                  <a:pt x="150588" y="55185"/>
                </a:cubicBezTo>
                <a:cubicBezTo>
                  <a:pt x="154138" y="52507"/>
                  <a:pt x="159161" y="53243"/>
                  <a:pt x="161839" y="56793"/>
                </a:cubicBezTo>
                <a:lnTo>
                  <a:pt x="170881" y="68848"/>
                </a:lnTo>
                <a:lnTo>
                  <a:pt x="191441" y="35931"/>
                </a:lnTo>
                <a:cubicBezTo>
                  <a:pt x="193785" y="32180"/>
                  <a:pt x="198741" y="31008"/>
                  <a:pt x="202525" y="33386"/>
                </a:cubicBezTo>
                <a:cubicBezTo>
                  <a:pt x="206309" y="35763"/>
                  <a:pt x="207448" y="40686"/>
                  <a:pt x="205070" y="44470"/>
                </a:cubicBezTo>
                <a:close/>
              </a:path>
            </a:pathLst>
          </a:custGeom>
          <a:solidFill>
            <a:srgbClr val="C9A36A"/>
          </a:solidFill>
          <a:ln/>
        </p:spPr>
        <p:txBody>
          <a:bodyPr/>
          <a:lstStyle/>
          <a:p>
            <a:endParaRPr lang="en-IN"/>
          </a:p>
        </p:txBody>
      </p:sp>
      <p:sp>
        <p:nvSpPr>
          <p:cNvPr id="44" name="Text 42"/>
          <p:cNvSpPr/>
          <p:nvPr/>
        </p:nvSpPr>
        <p:spPr>
          <a:xfrm>
            <a:off x="8543925" y="2949578"/>
            <a:ext cx="3152775"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Display Results</a:t>
            </a:r>
            <a:endParaRPr lang="en-US" sz="1600" dirty="0"/>
          </a:p>
        </p:txBody>
      </p:sp>
      <p:sp>
        <p:nvSpPr>
          <p:cNvPr id="45" name="Text 43"/>
          <p:cNvSpPr/>
          <p:nvPr/>
        </p:nvSpPr>
        <p:spPr>
          <a:xfrm>
            <a:off x="8324850" y="3292478"/>
            <a:ext cx="3362325"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Recognized person's name and confidence score displayed on screen with visual feedback.</a:t>
            </a:r>
            <a:endParaRPr lang="en-US" sz="1600" dirty="0"/>
          </a:p>
        </p:txBody>
      </p:sp>
      <p:sp>
        <p:nvSpPr>
          <p:cNvPr id="46" name="Shape 44"/>
          <p:cNvSpPr/>
          <p:nvPr/>
        </p:nvSpPr>
        <p:spPr>
          <a:xfrm>
            <a:off x="8324850" y="3943353"/>
            <a:ext cx="3286125" cy="6350"/>
          </a:xfrm>
          <a:custGeom>
            <a:avLst/>
            <a:gdLst/>
            <a:ahLst/>
            <a:cxnLst/>
            <a:rect l="l" t="t" r="r" b="b"/>
            <a:pathLst>
              <a:path w="3286125" h="6350">
                <a:moveTo>
                  <a:pt x="0" y="0"/>
                </a:moveTo>
                <a:lnTo>
                  <a:pt x="3286125" y="0"/>
                </a:lnTo>
                <a:lnTo>
                  <a:pt x="3286125" y="6350"/>
                </a:lnTo>
                <a:lnTo>
                  <a:pt x="0" y="6350"/>
                </a:lnTo>
                <a:lnTo>
                  <a:pt x="0" y="0"/>
                </a:lnTo>
                <a:close/>
              </a:path>
            </a:pathLst>
          </a:custGeom>
          <a:solidFill>
            <a:srgbClr val="2B2B2B"/>
          </a:solidFill>
          <a:ln/>
        </p:spPr>
        <p:txBody>
          <a:bodyPr/>
          <a:lstStyle/>
          <a:p>
            <a:endParaRPr lang="en-IN"/>
          </a:p>
        </p:txBody>
      </p:sp>
      <p:sp>
        <p:nvSpPr>
          <p:cNvPr id="47" name="Shape 45"/>
          <p:cNvSpPr/>
          <p:nvPr/>
        </p:nvSpPr>
        <p:spPr>
          <a:xfrm>
            <a:off x="8359378" y="4146552"/>
            <a:ext cx="150019" cy="171450"/>
          </a:xfrm>
          <a:custGeom>
            <a:avLst/>
            <a:gdLst/>
            <a:ahLst/>
            <a:cxnLst/>
            <a:rect l="l" t="t" r="r" b="b"/>
            <a:pathLst>
              <a:path w="150019" h="171450">
                <a:moveTo>
                  <a:pt x="21431" y="10716"/>
                </a:moveTo>
                <a:cubicBezTo>
                  <a:pt x="9611" y="10716"/>
                  <a:pt x="0" y="20326"/>
                  <a:pt x="0" y="32147"/>
                </a:cubicBezTo>
                <a:lnTo>
                  <a:pt x="0" y="139303"/>
                </a:lnTo>
                <a:cubicBezTo>
                  <a:pt x="0" y="151124"/>
                  <a:pt x="9611" y="160734"/>
                  <a:pt x="21431" y="160734"/>
                </a:cubicBezTo>
                <a:lnTo>
                  <a:pt x="128588" y="160734"/>
                </a:lnTo>
                <a:cubicBezTo>
                  <a:pt x="140408" y="160734"/>
                  <a:pt x="150019" y="151124"/>
                  <a:pt x="150019" y="139303"/>
                </a:cubicBezTo>
                <a:lnTo>
                  <a:pt x="150019" y="58032"/>
                </a:lnTo>
                <a:cubicBezTo>
                  <a:pt x="150019" y="52339"/>
                  <a:pt x="147775" y="46881"/>
                  <a:pt x="143757" y="42863"/>
                </a:cubicBezTo>
                <a:lnTo>
                  <a:pt x="117872" y="16978"/>
                </a:lnTo>
                <a:cubicBezTo>
                  <a:pt x="113854" y="12959"/>
                  <a:pt x="108395" y="10716"/>
                  <a:pt x="102703" y="10716"/>
                </a:cubicBezTo>
                <a:lnTo>
                  <a:pt x="21431" y="10716"/>
                </a:lnTo>
                <a:close/>
                <a:moveTo>
                  <a:pt x="32147" y="42863"/>
                </a:moveTo>
                <a:cubicBezTo>
                  <a:pt x="32147" y="36935"/>
                  <a:pt x="36935" y="32147"/>
                  <a:pt x="42863" y="32147"/>
                </a:cubicBezTo>
                <a:lnTo>
                  <a:pt x="96441" y="32147"/>
                </a:lnTo>
                <a:cubicBezTo>
                  <a:pt x="102368" y="32147"/>
                  <a:pt x="107156" y="36935"/>
                  <a:pt x="107156" y="42863"/>
                </a:cubicBezTo>
                <a:lnTo>
                  <a:pt x="107156" y="64294"/>
                </a:lnTo>
                <a:cubicBezTo>
                  <a:pt x="107156" y="70221"/>
                  <a:pt x="102368" y="75009"/>
                  <a:pt x="96441" y="75009"/>
                </a:cubicBezTo>
                <a:lnTo>
                  <a:pt x="42863" y="75009"/>
                </a:lnTo>
                <a:cubicBezTo>
                  <a:pt x="36935" y="75009"/>
                  <a:pt x="32147" y="70221"/>
                  <a:pt x="32147" y="64294"/>
                </a:cubicBezTo>
                <a:lnTo>
                  <a:pt x="32147" y="42863"/>
                </a:lnTo>
                <a:close/>
                <a:moveTo>
                  <a:pt x="75009" y="96441"/>
                </a:moveTo>
                <a:cubicBezTo>
                  <a:pt x="86838" y="96441"/>
                  <a:pt x="96441" y="106044"/>
                  <a:pt x="96441" y="117872"/>
                </a:cubicBezTo>
                <a:cubicBezTo>
                  <a:pt x="96441" y="129700"/>
                  <a:pt x="86838" y="139303"/>
                  <a:pt x="75009" y="139303"/>
                </a:cubicBezTo>
                <a:cubicBezTo>
                  <a:pt x="63181" y="139303"/>
                  <a:pt x="53578" y="129700"/>
                  <a:pt x="53578" y="117872"/>
                </a:cubicBezTo>
                <a:cubicBezTo>
                  <a:pt x="53578" y="106044"/>
                  <a:pt x="63181" y="96441"/>
                  <a:pt x="75009" y="96441"/>
                </a:cubicBezTo>
                <a:close/>
              </a:path>
            </a:pathLst>
          </a:custGeom>
          <a:solidFill>
            <a:srgbClr val="C9A36A"/>
          </a:solidFill>
          <a:ln/>
        </p:spPr>
        <p:txBody>
          <a:bodyPr/>
          <a:lstStyle/>
          <a:p>
            <a:endParaRPr lang="en-IN"/>
          </a:p>
        </p:txBody>
      </p:sp>
      <p:sp>
        <p:nvSpPr>
          <p:cNvPr id="48" name="Text 46"/>
          <p:cNvSpPr/>
          <p:nvPr/>
        </p:nvSpPr>
        <p:spPr>
          <a:xfrm>
            <a:off x="8543925" y="4098927"/>
            <a:ext cx="3152775"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Store Attendance</a:t>
            </a:r>
            <a:endParaRPr lang="en-US" sz="1600" dirty="0"/>
          </a:p>
        </p:txBody>
      </p:sp>
      <p:sp>
        <p:nvSpPr>
          <p:cNvPr id="49" name="Text 47"/>
          <p:cNvSpPr/>
          <p:nvPr/>
        </p:nvSpPr>
        <p:spPr>
          <a:xfrm>
            <a:off x="8324850" y="4441827"/>
            <a:ext cx="3362325"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Attendance data saved to CSV file and MySQL database with timestamp for audit trail.</a:t>
            </a:r>
            <a:endParaRPr lang="en-US" sz="1600" dirty="0"/>
          </a:p>
        </p:txBody>
      </p:sp>
      <p:sp>
        <p:nvSpPr>
          <p:cNvPr id="50" name="Shape 48"/>
          <p:cNvSpPr/>
          <p:nvPr/>
        </p:nvSpPr>
        <p:spPr>
          <a:xfrm>
            <a:off x="384175" y="5667378"/>
            <a:ext cx="11426825" cy="806450"/>
          </a:xfrm>
          <a:custGeom>
            <a:avLst/>
            <a:gdLst/>
            <a:ahLst/>
            <a:cxnLst/>
            <a:rect l="l" t="t" r="r" b="b"/>
            <a:pathLst>
              <a:path w="11426825" h="806450">
                <a:moveTo>
                  <a:pt x="0" y="0"/>
                </a:moveTo>
                <a:lnTo>
                  <a:pt x="11426825" y="0"/>
                </a:lnTo>
                <a:lnTo>
                  <a:pt x="11426825" y="806450"/>
                </a:lnTo>
                <a:lnTo>
                  <a:pt x="0" y="806450"/>
                </a:lnTo>
                <a:lnTo>
                  <a:pt x="0" y="0"/>
                </a:lnTo>
                <a:close/>
              </a:path>
            </a:pathLst>
          </a:custGeom>
          <a:solidFill>
            <a:srgbClr val="1A1A1A"/>
          </a:solidFill>
          <a:ln w="8467">
            <a:solidFill>
              <a:srgbClr val="2B2B2B"/>
            </a:solidFill>
            <a:prstDash val="solid"/>
          </a:ln>
        </p:spPr>
        <p:txBody>
          <a:bodyPr/>
          <a:lstStyle/>
          <a:p>
            <a:endParaRPr lang="en-IN"/>
          </a:p>
        </p:txBody>
      </p:sp>
      <p:sp>
        <p:nvSpPr>
          <p:cNvPr id="51" name="Shape 49"/>
          <p:cNvSpPr/>
          <p:nvPr/>
        </p:nvSpPr>
        <p:spPr>
          <a:xfrm>
            <a:off x="568325" y="5956302"/>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00013" y="71438"/>
                </a:moveTo>
                <a:cubicBezTo>
                  <a:pt x="100013" y="63552"/>
                  <a:pt x="106415" y="57150"/>
                  <a:pt x="114300" y="57150"/>
                </a:cubicBezTo>
                <a:cubicBezTo>
                  <a:pt x="122185" y="57150"/>
                  <a:pt x="128588" y="63552"/>
                  <a:pt x="128588" y="71438"/>
                </a:cubicBezTo>
                <a:cubicBezTo>
                  <a:pt x="128588" y="79323"/>
                  <a:pt x="122185" y="85725"/>
                  <a:pt x="114300" y="85725"/>
                </a:cubicBezTo>
                <a:cubicBezTo>
                  <a:pt x="106415" y="85725"/>
                  <a:pt x="100013" y="79323"/>
                  <a:pt x="100013" y="71438"/>
                </a:cubicBezTo>
                <a:close/>
                <a:moveTo>
                  <a:pt x="96441" y="100013"/>
                </a:moveTo>
                <a:lnTo>
                  <a:pt x="117872" y="100013"/>
                </a:lnTo>
                <a:cubicBezTo>
                  <a:pt x="123810" y="100013"/>
                  <a:pt x="128588" y="104790"/>
                  <a:pt x="128588" y="110728"/>
                </a:cubicBezTo>
                <a:lnTo>
                  <a:pt x="128588" y="150019"/>
                </a:lnTo>
                <a:lnTo>
                  <a:pt x="132159" y="150019"/>
                </a:lnTo>
                <a:cubicBezTo>
                  <a:pt x="138098" y="150019"/>
                  <a:pt x="142875" y="154796"/>
                  <a:pt x="142875" y="160734"/>
                </a:cubicBezTo>
                <a:cubicBezTo>
                  <a:pt x="142875" y="166673"/>
                  <a:pt x="138098" y="171450"/>
                  <a:pt x="132159" y="171450"/>
                </a:cubicBezTo>
                <a:lnTo>
                  <a:pt x="96441" y="171450"/>
                </a:lnTo>
                <a:cubicBezTo>
                  <a:pt x="90502" y="171450"/>
                  <a:pt x="85725" y="166673"/>
                  <a:pt x="85725" y="160734"/>
                </a:cubicBezTo>
                <a:cubicBezTo>
                  <a:pt x="85725" y="154796"/>
                  <a:pt x="90502" y="150019"/>
                  <a:pt x="96441" y="150019"/>
                </a:cubicBezTo>
                <a:lnTo>
                  <a:pt x="107156" y="150019"/>
                </a:lnTo>
                <a:lnTo>
                  <a:pt x="107156" y="121444"/>
                </a:lnTo>
                <a:lnTo>
                  <a:pt x="96441" y="121444"/>
                </a:lnTo>
                <a:cubicBezTo>
                  <a:pt x="90502" y="121444"/>
                  <a:pt x="85725" y="116666"/>
                  <a:pt x="85725" y="110728"/>
                </a:cubicBezTo>
                <a:cubicBezTo>
                  <a:pt x="85725" y="104790"/>
                  <a:pt x="90502" y="100013"/>
                  <a:pt x="96441" y="100013"/>
                </a:cubicBezTo>
                <a:close/>
              </a:path>
            </a:pathLst>
          </a:custGeom>
          <a:solidFill>
            <a:srgbClr val="C9A36A"/>
          </a:solidFill>
          <a:ln/>
        </p:spPr>
        <p:txBody>
          <a:bodyPr/>
          <a:lstStyle/>
          <a:p>
            <a:endParaRPr lang="en-IN"/>
          </a:p>
        </p:txBody>
      </p:sp>
      <p:sp>
        <p:nvSpPr>
          <p:cNvPr id="52" name="Text 50"/>
          <p:cNvSpPr/>
          <p:nvPr/>
        </p:nvSpPr>
        <p:spPr>
          <a:xfrm>
            <a:off x="977900" y="5956302"/>
            <a:ext cx="6210300" cy="228600"/>
          </a:xfrm>
          <a:prstGeom prst="rect">
            <a:avLst/>
          </a:prstGeom>
          <a:noFill/>
          <a:ln/>
        </p:spPr>
        <p:txBody>
          <a:bodyPr wrap="square" lIns="0" tIns="0" rIns="0" bIns="0" rtlCol="0" anchor="ctr"/>
          <a:lstStyle/>
          <a:p>
            <a:pPr>
              <a:lnSpc>
                <a:spcPct val="130000"/>
              </a:lnSpc>
            </a:pPr>
            <a:r>
              <a:rPr lang="en-US" sz="1200" b="1" dirty="0">
                <a:solidFill>
                  <a:srgbClr val="F2F2F2"/>
                </a:solidFill>
                <a:latin typeface="Quattrocento Sans" pitchFamily="34" charset="0"/>
                <a:ea typeface="Quattrocento Sans" pitchFamily="34" charset="-122"/>
                <a:cs typeface="Quattrocento Sans" pitchFamily="34" charset="-120"/>
              </a:rPr>
              <a:t>Pipeline Flow:</a:t>
            </a:r>
            <a:r>
              <a:rPr lang="en-US" sz="1200" dirty="0">
                <a:solidFill>
                  <a:srgbClr val="B8B8B8"/>
                </a:solidFill>
                <a:latin typeface="Quattrocento Sans" pitchFamily="34" charset="0"/>
                <a:ea typeface="Quattrocento Sans" pitchFamily="34" charset="-122"/>
                <a:cs typeface="Quattrocento Sans" pitchFamily="34" charset="-120"/>
              </a:rPr>
              <a:t> Input → Processing → Output completes in &lt;500ms for real-time performance</a:t>
            </a:r>
            <a:endParaRPr lang="en-US" sz="1600" dirty="0"/>
          </a:p>
        </p:txBody>
      </p:sp>
      <p:sp>
        <p:nvSpPr>
          <p:cNvPr id="53" name="Text 51"/>
          <p:cNvSpPr/>
          <p:nvPr/>
        </p:nvSpPr>
        <p:spPr>
          <a:xfrm>
            <a:off x="8606830" y="5822952"/>
            <a:ext cx="800100" cy="304800"/>
          </a:xfrm>
          <a:prstGeom prst="rect">
            <a:avLst/>
          </a:prstGeom>
          <a:noFill/>
          <a:ln/>
        </p:spPr>
        <p:txBody>
          <a:bodyPr wrap="square" lIns="0" tIns="0" rIns="0" bIns="0" rtlCol="0" anchor="ctr"/>
          <a:lstStyle/>
          <a:p>
            <a:pPr algn="ct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30 FPS</a:t>
            </a:r>
            <a:endParaRPr lang="en-US" sz="1600" dirty="0"/>
          </a:p>
        </p:txBody>
      </p:sp>
      <p:sp>
        <p:nvSpPr>
          <p:cNvPr id="54" name="Text 52"/>
          <p:cNvSpPr/>
          <p:nvPr/>
        </p:nvSpPr>
        <p:spPr>
          <a:xfrm>
            <a:off x="8630642" y="6127752"/>
            <a:ext cx="752475" cy="190500"/>
          </a:xfrm>
          <a:prstGeom prst="rect">
            <a:avLst/>
          </a:prstGeom>
          <a:noFill/>
          <a:ln/>
        </p:spPr>
        <p:txBody>
          <a:bodyPr wrap="square" lIns="0" tIns="0" rIns="0" bIns="0" rtlCol="0" anchor="ctr"/>
          <a:lstStyle/>
          <a:p>
            <a:pPr algn="ct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Frame Rate</a:t>
            </a:r>
            <a:endParaRPr lang="en-US" sz="1600" dirty="0"/>
          </a:p>
        </p:txBody>
      </p:sp>
      <p:sp>
        <p:nvSpPr>
          <p:cNvPr id="55" name="Text 53"/>
          <p:cNvSpPr/>
          <p:nvPr/>
        </p:nvSpPr>
        <p:spPr>
          <a:xfrm>
            <a:off x="9518749" y="5822952"/>
            <a:ext cx="990600" cy="304800"/>
          </a:xfrm>
          <a:prstGeom prst="rect">
            <a:avLst/>
          </a:prstGeom>
          <a:noFill/>
          <a:ln/>
        </p:spPr>
        <p:txBody>
          <a:bodyPr wrap="square" lIns="0" tIns="0" rIns="0" bIns="0" rtlCol="0" anchor="ctr"/>
          <a:lstStyle/>
          <a:p>
            <a:pPr algn="ct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&lt;500ms</a:t>
            </a:r>
            <a:endParaRPr lang="en-US" sz="1600" dirty="0"/>
          </a:p>
        </p:txBody>
      </p:sp>
      <p:sp>
        <p:nvSpPr>
          <p:cNvPr id="56" name="Text 54"/>
          <p:cNvSpPr/>
          <p:nvPr/>
        </p:nvSpPr>
        <p:spPr>
          <a:xfrm>
            <a:off x="9542562" y="6127752"/>
            <a:ext cx="942975" cy="190500"/>
          </a:xfrm>
          <a:prstGeom prst="rect">
            <a:avLst/>
          </a:prstGeom>
          <a:noFill/>
          <a:ln/>
        </p:spPr>
        <p:txBody>
          <a:bodyPr wrap="square" lIns="0" tIns="0" rIns="0" bIns="0" rtlCol="0" anchor="ctr"/>
          <a:lstStyle/>
          <a:p>
            <a:pPr algn="ct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Response Time</a:t>
            </a:r>
            <a:endParaRPr lang="en-US" sz="1600" dirty="0"/>
          </a:p>
        </p:txBody>
      </p:sp>
      <p:sp>
        <p:nvSpPr>
          <p:cNvPr id="57" name="Text 55"/>
          <p:cNvSpPr/>
          <p:nvPr/>
        </p:nvSpPr>
        <p:spPr>
          <a:xfrm>
            <a:off x="10623749" y="5822952"/>
            <a:ext cx="1085850" cy="304800"/>
          </a:xfrm>
          <a:prstGeom prst="rect">
            <a:avLst/>
          </a:prstGeom>
          <a:noFill/>
          <a:ln/>
        </p:spPr>
        <p:txBody>
          <a:bodyPr wrap="square" lIns="0" tIns="0" rIns="0" bIns="0" rtlCol="0" anchor="ctr"/>
          <a:lstStyle/>
          <a:p>
            <a:pPr algn="ct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Real-time</a:t>
            </a:r>
            <a:endParaRPr lang="en-US" sz="1600" dirty="0"/>
          </a:p>
        </p:txBody>
      </p:sp>
      <p:sp>
        <p:nvSpPr>
          <p:cNvPr id="58" name="Text 56"/>
          <p:cNvSpPr/>
          <p:nvPr/>
        </p:nvSpPr>
        <p:spPr>
          <a:xfrm>
            <a:off x="10647562" y="6127752"/>
            <a:ext cx="1038225" cy="190500"/>
          </a:xfrm>
          <a:prstGeom prst="rect">
            <a:avLst/>
          </a:prstGeom>
          <a:noFill/>
          <a:ln/>
        </p:spPr>
        <p:txBody>
          <a:bodyPr wrap="square" lIns="0" tIns="0" rIns="0" bIns="0" rtlCol="0" anchor="ctr"/>
          <a:lstStyle/>
          <a:p>
            <a:pPr algn="ctr">
              <a:lnSpc>
                <a:spcPct val="120000"/>
              </a:lnSpc>
            </a:pPr>
            <a:r>
              <a:rPr lang="en-US" sz="1050" dirty="0">
                <a:solidFill>
                  <a:srgbClr val="A3A3A3"/>
                </a:solidFill>
                <a:latin typeface="Quattrocento Sans" pitchFamily="34" charset="0"/>
                <a:ea typeface="Quattrocento Sans" pitchFamily="34" charset="-122"/>
                <a:cs typeface="Quattrocento Sans" pitchFamily="34" charset="-120"/>
              </a:rPr>
              <a:t>Processing</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0E545F-2E0B-7F85-E543-B0B7E90F7358}"/>
              </a:ext>
            </a:extLst>
          </p:cNvPr>
          <p:cNvSpPr/>
          <p:nvPr/>
        </p:nvSpPr>
        <p:spPr>
          <a:xfrm>
            <a:off x="741557" y="637287"/>
            <a:ext cx="3646448" cy="542925"/>
          </a:xfrm>
          <a:prstGeom prst="rect">
            <a:avLst/>
          </a:prstGeom>
          <a:solidFill>
            <a:srgbClr val="433611"/>
          </a:solidFill>
          <a:ln>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IN">
              <a:solidFill>
                <a:srgbClr val="FFC000"/>
              </a:solidFill>
            </a:endParaRPr>
          </a:p>
        </p:txBody>
      </p:sp>
      <p:sp>
        <p:nvSpPr>
          <p:cNvPr id="2" name="Title 1">
            <a:extLst>
              <a:ext uri="{FF2B5EF4-FFF2-40B4-BE49-F238E27FC236}">
                <a16:creationId xmlns:a16="http://schemas.microsoft.com/office/drawing/2014/main" id="{1D26C7D0-019C-FB69-92FF-04A6CC1C73AF}"/>
              </a:ext>
            </a:extLst>
          </p:cNvPr>
          <p:cNvSpPr>
            <a:spLocks noGrp="1"/>
          </p:cNvSpPr>
          <p:nvPr>
            <p:ph type="title"/>
          </p:nvPr>
        </p:nvSpPr>
        <p:spPr>
          <a:xfrm>
            <a:off x="763398" y="637287"/>
            <a:ext cx="3573710" cy="542925"/>
          </a:xfrm>
        </p:spPr>
        <p:txBody>
          <a:bodyPr/>
          <a:lstStyle/>
          <a:p>
            <a:r>
              <a:rPr lang="en-US" b="1" dirty="0">
                <a:solidFill>
                  <a:srgbClr val="FFC000"/>
                </a:solidFill>
                <a:latin typeface="Quattrocento Sans" panose="020B0502050000020003" pitchFamily="34" charset="0"/>
              </a:rPr>
              <a:t>DASHBOARD</a:t>
            </a:r>
            <a:r>
              <a:rPr lang="en-US" dirty="0">
                <a:solidFill>
                  <a:srgbClr val="FFC000"/>
                </a:solidFill>
                <a:latin typeface="Quattrocento Sans" panose="020B0502050000020003" pitchFamily="34" charset="0"/>
              </a:rPr>
              <a:t> </a:t>
            </a:r>
            <a:r>
              <a:rPr lang="en-US" b="1" dirty="0">
                <a:solidFill>
                  <a:srgbClr val="FFC000"/>
                </a:solidFill>
                <a:latin typeface="Quattrocento Sans" panose="020B0502050000020003" pitchFamily="34" charset="0"/>
              </a:rPr>
              <a:t>INTERFACE </a:t>
            </a:r>
            <a:endParaRPr lang="en-IN" b="1" dirty="0">
              <a:solidFill>
                <a:srgbClr val="FFC000"/>
              </a:solidFill>
              <a:latin typeface="Quattrocento Sans" panose="020B0502050000020003" pitchFamily="34" charset="0"/>
            </a:endParaRPr>
          </a:p>
        </p:txBody>
      </p:sp>
      <p:pic>
        <p:nvPicPr>
          <p:cNvPr id="6" name="Content Placeholder 5">
            <a:extLst>
              <a:ext uri="{FF2B5EF4-FFF2-40B4-BE49-F238E27FC236}">
                <a16:creationId xmlns:a16="http://schemas.microsoft.com/office/drawing/2014/main" id="{0B227191-96B4-5566-A05C-3E5ECCEC98F5}"/>
              </a:ext>
            </a:extLst>
          </p:cNvPr>
          <p:cNvPicPr>
            <a:picLocks noGrp="1" noChangeAspect="1"/>
          </p:cNvPicPr>
          <p:nvPr>
            <p:ph idx="1"/>
          </p:nvPr>
        </p:nvPicPr>
        <p:blipFill>
          <a:blip r:embed="rId2"/>
          <a:stretch>
            <a:fillRect/>
          </a:stretch>
        </p:blipFill>
        <p:spPr>
          <a:xfrm>
            <a:off x="4826524" y="637287"/>
            <a:ext cx="7156929" cy="5203543"/>
          </a:xfrm>
          <a:prstGeom prst="rect">
            <a:avLst/>
          </a:prstGeom>
          <a:effectLst>
            <a:outerShdw blurRad="25400" dir="17880000">
              <a:srgbClr val="000000">
                <a:alpha val="46000"/>
              </a:srgbClr>
            </a:outerShdw>
          </a:effectLst>
        </p:spPr>
      </p:pic>
      <p:sp>
        <p:nvSpPr>
          <p:cNvPr id="8" name="Rectangle: Rounded Corners 7">
            <a:extLst>
              <a:ext uri="{FF2B5EF4-FFF2-40B4-BE49-F238E27FC236}">
                <a16:creationId xmlns:a16="http://schemas.microsoft.com/office/drawing/2014/main" id="{E786DB3E-9013-37A2-CEDE-2570A6E2D2DA}"/>
              </a:ext>
            </a:extLst>
          </p:cNvPr>
          <p:cNvSpPr/>
          <p:nvPr/>
        </p:nvSpPr>
        <p:spPr>
          <a:xfrm>
            <a:off x="386498" y="1401543"/>
            <a:ext cx="4339811" cy="4017408"/>
          </a:xfrm>
          <a:prstGeom prst="roundRect">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4" name="Text Placeholder 3">
            <a:extLst>
              <a:ext uri="{FF2B5EF4-FFF2-40B4-BE49-F238E27FC236}">
                <a16:creationId xmlns:a16="http://schemas.microsoft.com/office/drawing/2014/main" id="{591BDA6A-5202-05F5-C648-C41850CE3A12}"/>
              </a:ext>
            </a:extLst>
          </p:cNvPr>
          <p:cNvSpPr>
            <a:spLocks noGrp="1"/>
          </p:cNvSpPr>
          <p:nvPr>
            <p:ph type="body" sz="half" idx="2"/>
          </p:nvPr>
        </p:nvSpPr>
        <p:spPr>
          <a:xfrm>
            <a:off x="561974" y="1507593"/>
            <a:ext cx="3877203" cy="3674007"/>
          </a:xfrm>
        </p:spPr>
        <p:txBody>
          <a:bodyPr>
            <a:normAutofit fontScale="92500" lnSpcReduction="20000"/>
          </a:bodyPr>
          <a:lstStyle/>
          <a:p>
            <a:r>
              <a:rPr lang="en-US" dirty="0">
                <a:latin typeface="Quattrocento Sans" panose="020B0502050000020003" pitchFamily="34" charset="0"/>
              </a:rPr>
              <a:t>The Smart Biometric Face Recognition Tracker is an advanced system designed to automate attendance tracking while ensuring safety compliance through real-time facial recognition and mask detection. It captures live camera input, identifies individuals with high accuracy, and logs their attendance instantly along with details like time, date, and mask status. The dashboard provides a clear overview of daily presence, mask compliance rate, and hourly check-ins, making monitoring efficient and transparent. With features like active detections, student records, and exportable logs, the system reduces manual effort, minimizes errors, and enhances security—making it an ideal solution for institutions and workplaces aiming for smart, contactless, and reliable attendance management.</a:t>
            </a:r>
            <a:endParaRPr lang="en-IN" dirty="0">
              <a:latin typeface="Quattrocento Sans" panose="020B0502050000020003" pitchFamily="34" charset="0"/>
            </a:endParaRPr>
          </a:p>
        </p:txBody>
      </p:sp>
    </p:spTree>
    <p:extLst>
      <p:ext uri="{BB962C8B-B14F-4D97-AF65-F5344CB8AC3E}">
        <p14:creationId xmlns:p14="http://schemas.microsoft.com/office/powerpoint/2010/main" val="4144678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263" dirty="0">
                <a:solidFill>
                  <a:srgbClr val="C9A36A"/>
                </a:solidFill>
                <a:latin typeface="Quattrocento Sans" pitchFamily="34" charset="0"/>
                <a:ea typeface="Quattrocento Sans" pitchFamily="34" charset="-122"/>
                <a:cs typeface="Quattrocento Sans" pitchFamily="34" charset="-120"/>
              </a:rPr>
              <a:t>06 / Dataset</a:t>
            </a:r>
            <a:endParaRPr lang="en-US" sz="1600" dirty="0"/>
          </a:p>
        </p:txBody>
      </p:sp>
      <p:sp>
        <p:nvSpPr>
          <p:cNvPr id="3" name="Text 1"/>
          <p:cNvSpPr/>
          <p:nvPr/>
        </p:nvSpPr>
        <p:spPr>
          <a:xfrm>
            <a:off x="317500" y="539750"/>
            <a:ext cx="11747500" cy="381000"/>
          </a:xfrm>
          <a:prstGeom prst="rect">
            <a:avLst/>
          </a:prstGeom>
          <a:noFill/>
          <a:ln/>
        </p:spPr>
        <p:txBody>
          <a:bodyPr wrap="square" lIns="0" tIns="0" rIns="0" bIns="0" rtlCol="0" anchor="ctr"/>
          <a:lstStyle/>
          <a:p>
            <a:pPr>
              <a:lnSpc>
                <a:spcPct val="80000"/>
              </a:lnSpc>
            </a:pPr>
            <a:r>
              <a:rPr lang="en-US" sz="3000" b="1" dirty="0">
                <a:solidFill>
                  <a:srgbClr val="F2F2F2"/>
                </a:solidFill>
                <a:latin typeface="Oranienbaum" pitchFamily="34" charset="0"/>
                <a:ea typeface="Oranienbaum" pitchFamily="34" charset="-122"/>
                <a:cs typeface="Oranienbaum" pitchFamily="34" charset="-120"/>
              </a:rPr>
              <a:t>Dataset Creation</a:t>
            </a:r>
            <a:endParaRPr lang="en-US" sz="1600" dirty="0"/>
          </a:p>
        </p:txBody>
      </p:sp>
      <p:sp>
        <p:nvSpPr>
          <p:cNvPr id="4" name="Shape 2"/>
          <p:cNvSpPr/>
          <p:nvPr/>
        </p:nvSpPr>
        <p:spPr>
          <a:xfrm>
            <a:off x="317500" y="1047750"/>
            <a:ext cx="635000" cy="31750"/>
          </a:xfrm>
          <a:custGeom>
            <a:avLst/>
            <a:gdLst/>
            <a:ahLst/>
            <a:cxnLst/>
            <a:rect l="l" t="t" r="r" b="b"/>
            <a:pathLst>
              <a:path w="635000" h="31750">
                <a:moveTo>
                  <a:pt x="0" y="0"/>
                </a:moveTo>
                <a:lnTo>
                  <a:pt x="635000" y="0"/>
                </a:lnTo>
                <a:lnTo>
                  <a:pt x="635000" y="31750"/>
                </a:lnTo>
                <a:lnTo>
                  <a:pt x="0" y="31750"/>
                </a:lnTo>
                <a:lnTo>
                  <a:pt x="0" y="0"/>
                </a:lnTo>
                <a:close/>
              </a:path>
            </a:pathLst>
          </a:custGeom>
          <a:solidFill>
            <a:srgbClr val="C9A36A"/>
          </a:solidFill>
          <a:ln/>
        </p:spPr>
        <p:txBody>
          <a:bodyPr/>
          <a:lstStyle/>
          <a:p>
            <a:endParaRPr lang="en-IN"/>
          </a:p>
        </p:txBody>
      </p:sp>
      <p:sp>
        <p:nvSpPr>
          <p:cNvPr id="5" name="Shape 3"/>
          <p:cNvSpPr/>
          <p:nvPr/>
        </p:nvSpPr>
        <p:spPr>
          <a:xfrm>
            <a:off x="320146" y="1209146"/>
            <a:ext cx="6244167" cy="1576917"/>
          </a:xfrm>
          <a:custGeom>
            <a:avLst/>
            <a:gdLst/>
            <a:ahLst/>
            <a:cxnLst/>
            <a:rect l="l" t="t" r="r" b="b"/>
            <a:pathLst>
              <a:path w="6244167" h="1576917">
                <a:moveTo>
                  <a:pt x="0" y="0"/>
                </a:moveTo>
                <a:lnTo>
                  <a:pt x="6244167" y="0"/>
                </a:lnTo>
                <a:lnTo>
                  <a:pt x="6244167" y="1576917"/>
                </a:lnTo>
                <a:lnTo>
                  <a:pt x="0" y="1576917"/>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505354" y="1386419"/>
            <a:ext cx="190500" cy="190500"/>
          </a:xfrm>
          <a:custGeom>
            <a:avLst/>
            <a:gdLst/>
            <a:ahLst/>
            <a:cxnLst/>
            <a:rect l="l" t="t" r="r" b="b"/>
            <a:pathLst>
              <a:path w="190500" h="190500">
                <a:moveTo>
                  <a:pt x="55476" y="24110"/>
                </a:moveTo>
                <a:lnTo>
                  <a:pt x="51606" y="35719"/>
                </a:lnTo>
                <a:lnTo>
                  <a:pt x="23812" y="35719"/>
                </a:lnTo>
                <a:cubicBezTo>
                  <a:pt x="10678" y="35719"/>
                  <a:pt x="0" y="46397"/>
                  <a:pt x="0" y="59531"/>
                </a:cubicBezTo>
                <a:lnTo>
                  <a:pt x="0" y="154781"/>
                </a:lnTo>
                <a:cubicBezTo>
                  <a:pt x="0" y="167915"/>
                  <a:pt x="10678" y="178594"/>
                  <a:pt x="23812" y="178594"/>
                </a:cubicBezTo>
                <a:lnTo>
                  <a:pt x="166688" y="178594"/>
                </a:lnTo>
                <a:cubicBezTo>
                  <a:pt x="179822" y="178594"/>
                  <a:pt x="190500" y="167915"/>
                  <a:pt x="190500" y="154781"/>
                </a:cubicBezTo>
                <a:lnTo>
                  <a:pt x="190500" y="59531"/>
                </a:lnTo>
                <a:cubicBezTo>
                  <a:pt x="190500" y="46397"/>
                  <a:pt x="179822" y="35719"/>
                  <a:pt x="166688" y="35719"/>
                </a:cubicBezTo>
                <a:lnTo>
                  <a:pt x="138894" y="35719"/>
                </a:lnTo>
                <a:lnTo>
                  <a:pt x="135024" y="24110"/>
                </a:lnTo>
                <a:cubicBezTo>
                  <a:pt x="132606" y="16818"/>
                  <a:pt x="125797" y="11906"/>
                  <a:pt x="118095" y="11906"/>
                </a:cubicBezTo>
                <a:lnTo>
                  <a:pt x="72405" y="11906"/>
                </a:lnTo>
                <a:cubicBezTo>
                  <a:pt x="64703" y="11906"/>
                  <a:pt x="57894" y="16818"/>
                  <a:pt x="55476" y="24110"/>
                </a:cubicBezTo>
                <a:close/>
                <a:moveTo>
                  <a:pt x="95250" y="71438"/>
                </a:moveTo>
                <a:cubicBezTo>
                  <a:pt x="114964" y="71438"/>
                  <a:pt x="130969" y="87443"/>
                  <a:pt x="130969" y="107156"/>
                </a:cubicBezTo>
                <a:cubicBezTo>
                  <a:pt x="130969" y="126870"/>
                  <a:pt x="114964" y="142875"/>
                  <a:pt x="95250" y="142875"/>
                </a:cubicBezTo>
                <a:cubicBezTo>
                  <a:pt x="75536" y="142875"/>
                  <a:pt x="59531" y="126870"/>
                  <a:pt x="59531" y="107156"/>
                </a:cubicBezTo>
                <a:cubicBezTo>
                  <a:pt x="59531" y="87443"/>
                  <a:pt x="75536" y="71438"/>
                  <a:pt x="95250" y="71438"/>
                </a:cubicBezTo>
                <a:close/>
              </a:path>
            </a:pathLst>
          </a:custGeom>
          <a:solidFill>
            <a:srgbClr val="C9A36A"/>
          </a:solidFill>
          <a:ln/>
        </p:spPr>
        <p:txBody>
          <a:bodyPr/>
          <a:lstStyle/>
          <a:p>
            <a:endParaRPr lang="en-IN"/>
          </a:p>
        </p:txBody>
      </p:sp>
      <p:sp>
        <p:nvSpPr>
          <p:cNvPr id="7" name="Text 5"/>
          <p:cNvSpPr/>
          <p:nvPr/>
        </p:nvSpPr>
        <p:spPr>
          <a:xfrm>
            <a:off x="719667" y="1370544"/>
            <a:ext cx="5762625" cy="222250"/>
          </a:xfrm>
          <a:prstGeom prst="rect">
            <a:avLst/>
          </a:prstGeom>
          <a:noFill/>
          <a:ln/>
        </p:spPr>
        <p:txBody>
          <a:bodyPr wrap="square" lIns="0" tIns="0" rIns="0" bIns="0" rtlCol="0" anchor="ctr"/>
          <a:lstStyle/>
          <a:p>
            <a:pPr>
              <a:lnSpc>
                <a:spcPct val="120000"/>
              </a:lnSpc>
            </a:pPr>
            <a:r>
              <a:rPr lang="en-US" sz="1250" b="1" dirty="0">
                <a:solidFill>
                  <a:srgbClr val="F2F2F2"/>
                </a:solidFill>
                <a:latin typeface="Quattrocento Sans" pitchFamily="34" charset="0"/>
                <a:ea typeface="Quattrocento Sans" pitchFamily="34" charset="-122"/>
                <a:cs typeface="Quattrocento Sans" pitchFamily="34" charset="-120"/>
              </a:rPr>
              <a:t>Image Capture Process</a:t>
            </a:r>
            <a:endParaRPr lang="en-US" sz="1600" dirty="0"/>
          </a:p>
        </p:txBody>
      </p:sp>
      <p:sp>
        <p:nvSpPr>
          <p:cNvPr id="8" name="Shape 6"/>
          <p:cNvSpPr/>
          <p:nvPr/>
        </p:nvSpPr>
        <p:spPr>
          <a:xfrm>
            <a:off x="497417" y="1719794"/>
            <a:ext cx="31750" cy="904875"/>
          </a:xfrm>
          <a:custGeom>
            <a:avLst/>
            <a:gdLst/>
            <a:ahLst/>
            <a:cxnLst/>
            <a:rect l="l" t="t" r="r" b="b"/>
            <a:pathLst>
              <a:path w="31750" h="904875">
                <a:moveTo>
                  <a:pt x="0" y="0"/>
                </a:moveTo>
                <a:lnTo>
                  <a:pt x="31750" y="0"/>
                </a:lnTo>
                <a:lnTo>
                  <a:pt x="31750" y="904875"/>
                </a:lnTo>
                <a:lnTo>
                  <a:pt x="0" y="904875"/>
                </a:lnTo>
                <a:lnTo>
                  <a:pt x="0" y="0"/>
                </a:lnTo>
                <a:close/>
              </a:path>
            </a:pathLst>
          </a:custGeom>
          <a:solidFill>
            <a:srgbClr val="C9A36A"/>
          </a:solidFill>
          <a:ln/>
        </p:spPr>
        <p:txBody>
          <a:bodyPr/>
          <a:lstStyle/>
          <a:p>
            <a:endParaRPr lang="en-IN"/>
          </a:p>
        </p:txBody>
      </p:sp>
      <p:sp>
        <p:nvSpPr>
          <p:cNvPr id="9" name="Text 7"/>
          <p:cNvSpPr/>
          <p:nvPr/>
        </p:nvSpPr>
        <p:spPr>
          <a:xfrm>
            <a:off x="640292" y="1719794"/>
            <a:ext cx="2809875"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50 Images Per Person</a:t>
            </a:r>
            <a:endParaRPr lang="en-US" sz="1600" dirty="0"/>
          </a:p>
        </p:txBody>
      </p:sp>
      <p:sp>
        <p:nvSpPr>
          <p:cNvPr id="10" name="Text 8"/>
          <p:cNvSpPr/>
          <p:nvPr/>
        </p:nvSpPr>
        <p:spPr>
          <a:xfrm>
            <a:off x="640292" y="2005544"/>
            <a:ext cx="2801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Capture diverse angles, expressions, and lighting conditions to create a comprehensive training dataset that improves model generalization.</a:t>
            </a:r>
            <a:endParaRPr lang="en-US" sz="1600" dirty="0"/>
          </a:p>
        </p:txBody>
      </p:sp>
      <p:sp>
        <p:nvSpPr>
          <p:cNvPr id="11" name="Shape 9"/>
          <p:cNvSpPr/>
          <p:nvPr/>
        </p:nvSpPr>
        <p:spPr>
          <a:xfrm>
            <a:off x="3522679" y="1719794"/>
            <a:ext cx="31750" cy="904875"/>
          </a:xfrm>
          <a:custGeom>
            <a:avLst/>
            <a:gdLst/>
            <a:ahLst/>
            <a:cxnLst/>
            <a:rect l="l" t="t" r="r" b="b"/>
            <a:pathLst>
              <a:path w="31750" h="904875">
                <a:moveTo>
                  <a:pt x="0" y="0"/>
                </a:moveTo>
                <a:lnTo>
                  <a:pt x="31750" y="0"/>
                </a:lnTo>
                <a:lnTo>
                  <a:pt x="31750" y="904875"/>
                </a:lnTo>
                <a:lnTo>
                  <a:pt x="0" y="904875"/>
                </a:lnTo>
                <a:lnTo>
                  <a:pt x="0" y="0"/>
                </a:lnTo>
                <a:close/>
              </a:path>
            </a:pathLst>
          </a:custGeom>
          <a:solidFill>
            <a:srgbClr val="C9A36A"/>
          </a:solidFill>
          <a:ln/>
        </p:spPr>
        <p:txBody>
          <a:bodyPr/>
          <a:lstStyle/>
          <a:p>
            <a:endParaRPr lang="en-IN"/>
          </a:p>
        </p:txBody>
      </p:sp>
      <p:sp>
        <p:nvSpPr>
          <p:cNvPr id="12" name="Text 10"/>
          <p:cNvSpPr/>
          <p:nvPr/>
        </p:nvSpPr>
        <p:spPr>
          <a:xfrm>
            <a:off x="3665554" y="1719794"/>
            <a:ext cx="2809875"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Organized Storage</a:t>
            </a:r>
            <a:endParaRPr lang="en-US" sz="1600" dirty="0"/>
          </a:p>
        </p:txBody>
      </p:sp>
      <p:sp>
        <p:nvSpPr>
          <p:cNvPr id="13" name="Text 11"/>
          <p:cNvSpPr/>
          <p:nvPr/>
        </p:nvSpPr>
        <p:spPr>
          <a:xfrm>
            <a:off x="3665554" y="2005544"/>
            <a:ext cx="2801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Images stored in individual folders labeled with person ID for easy management and automated training pipeline integration.</a:t>
            </a:r>
            <a:endParaRPr lang="en-US" sz="1600" dirty="0"/>
          </a:p>
        </p:txBody>
      </p:sp>
      <p:sp>
        <p:nvSpPr>
          <p:cNvPr id="14" name="Shape 12"/>
          <p:cNvSpPr/>
          <p:nvPr/>
        </p:nvSpPr>
        <p:spPr>
          <a:xfrm>
            <a:off x="320146" y="2918355"/>
            <a:ext cx="6244167" cy="3616854"/>
          </a:xfrm>
          <a:custGeom>
            <a:avLst/>
            <a:gdLst/>
            <a:ahLst/>
            <a:cxnLst/>
            <a:rect l="l" t="t" r="r" b="b"/>
            <a:pathLst>
              <a:path w="6244167" h="3616854">
                <a:moveTo>
                  <a:pt x="0" y="0"/>
                </a:moveTo>
                <a:lnTo>
                  <a:pt x="6244167" y="0"/>
                </a:lnTo>
                <a:lnTo>
                  <a:pt x="6244167" y="3616854"/>
                </a:lnTo>
                <a:lnTo>
                  <a:pt x="0" y="3616854"/>
                </a:lnTo>
                <a:lnTo>
                  <a:pt x="0" y="0"/>
                </a:lnTo>
                <a:close/>
              </a:path>
            </a:pathLst>
          </a:custGeom>
          <a:solidFill>
            <a:srgbClr val="1A1A1A"/>
          </a:solidFill>
          <a:ln w="8467">
            <a:solidFill>
              <a:srgbClr val="2B2B2B"/>
            </a:solidFill>
            <a:prstDash val="solid"/>
          </a:ln>
        </p:spPr>
        <p:txBody>
          <a:bodyPr/>
          <a:lstStyle/>
          <a:p>
            <a:endParaRPr lang="en-IN"/>
          </a:p>
        </p:txBody>
      </p:sp>
      <p:sp>
        <p:nvSpPr>
          <p:cNvPr id="15" name="Shape 13"/>
          <p:cNvSpPr/>
          <p:nvPr/>
        </p:nvSpPr>
        <p:spPr>
          <a:xfrm>
            <a:off x="517260" y="3095625"/>
            <a:ext cx="166688" cy="190500"/>
          </a:xfrm>
          <a:custGeom>
            <a:avLst/>
            <a:gdLst/>
            <a:ahLst/>
            <a:cxnLst/>
            <a:rect l="l" t="t" r="r" b="b"/>
            <a:pathLst>
              <a:path w="166688" h="190500">
                <a:moveTo>
                  <a:pt x="23812" y="11906"/>
                </a:moveTo>
                <a:cubicBezTo>
                  <a:pt x="10678" y="11906"/>
                  <a:pt x="0" y="22585"/>
                  <a:pt x="0" y="35719"/>
                </a:cubicBezTo>
                <a:lnTo>
                  <a:pt x="0" y="154781"/>
                </a:lnTo>
                <a:cubicBezTo>
                  <a:pt x="0" y="167915"/>
                  <a:pt x="10678" y="178594"/>
                  <a:pt x="23812" y="178594"/>
                </a:cubicBezTo>
                <a:lnTo>
                  <a:pt x="142875" y="178594"/>
                </a:lnTo>
                <a:cubicBezTo>
                  <a:pt x="156009" y="178594"/>
                  <a:pt x="166688" y="167915"/>
                  <a:pt x="166688" y="154781"/>
                </a:cubicBezTo>
                <a:lnTo>
                  <a:pt x="166688" y="35719"/>
                </a:lnTo>
                <a:cubicBezTo>
                  <a:pt x="166688" y="22585"/>
                  <a:pt x="156009" y="11906"/>
                  <a:pt x="142875" y="11906"/>
                </a:cubicBezTo>
                <a:lnTo>
                  <a:pt x="23812" y="11906"/>
                </a:lnTo>
                <a:close/>
                <a:moveTo>
                  <a:pt x="47625" y="41672"/>
                </a:moveTo>
                <a:cubicBezTo>
                  <a:pt x="57482" y="41672"/>
                  <a:pt x="65484" y="49674"/>
                  <a:pt x="65484" y="59531"/>
                </a:cubicBezTo>
                <a:cubicBezTo>
                  <a:pt x="65484" y="69388"/>
                  <a:pt x="57482" y="77391"/>
                  <a:pt x="47625" y="77391"/>
                </a:cubicBezTo>
                <a:cubicBezTo>
                  <a:pt x="37768" y="77391"/>
                  <a:pt x="29766" y="69388"/>
                  <a:pt x="29766" y="59531"/>
                </a:cubicBezTo>
                <a:cubicBezTo>
                  <a:pt x="29766" y="49674"/>
                  <a:pt x="37768" y="41672"/>
                  <a:pt x="47625" y="41672"/>
                </a:cubicBezTo>
                <a:close/>
                <a:moveTo>
                  <a:pt x="101203" y="83344"/>
                </a:moveTo>
                <a:cubicBezTo>
                  <a:pt x="104329" y="83344"/>
                  <a:pt x="107193" y="84981"/>
                  <a:pt x="108831" y="87623"/>
                </a:cubicBezTo>
                <a:lnTo>
                  <a:pt x="141573" y="141201"/>
                </a:lnTo>
                <a:cubicBezTo>
                  <a:pt x="143247" y="143954"/>
                  <a:pt x="143321" y="147414"/>
                  <a:pt x="141759" y="150242"/>
                </a:cubicBezTo>
                <a:cubicBezTo>
                  <a:pt x="140196" y="153070"/>
                  <a:pt x="137182" y="154781"/>
                  <a:pt x="133945" y="154781"/>
                </a:cubicBezTo>
                <a:lnTo>
                  <a:pt x="32742" y="154781"/>
                </a:lnTo>
                <a:cubicBezTo>
                  <a:pt x="29431" y="154781"/>
                  <a:pt x="26343" y="152921"/>
                  <a:pt x="24817" y="149982"/>
                </a:cubicBezTo>
                <a:cubicBezTo>
                  <a:pt x="23292" y="147042"/>
                  <a:pt x="23515" y="143470"/>
                  <a:pt x="25412" y="140754"/>
                </a:cubicBezTo>
                <a:lnTo>
                  <a:pt x="46248" y="110989"/>
                </a:lnTo>
                <a:cubicBezTo>
                  <a:pt x="47923" y="108607"/>
                  <a:pt x="50639" y="107193"/>
                  <a:pt x="53578" y="107193"/>
                </a:cubicBezTo>
                <a:cubicBezTo>
                  <a:pt x="56517" y="107193"/>
                  <a:pt x="59234" y="108607"/>
                  <a:pt x="60908" y="110989"/>
                </a:cubicBezTo>
                <a:lnTo>
                  <a:pt x="70731" y="125053"/>
                </a:lnTo>
                <a:lnTo>
                  <a:pt x="93576" y="87660"/>
                </a:lnTo>
                <a:cubicBezTo>
                  <a:pt x="95213" y="85018"/>
                  <a:pt x="98078" y="83381"/>
                  <a:pt x="101203" y="83381"/>
                </a:cubicBezTo>
                <a:close/>
              </a:path>
            </a:pathLst>
          </a:custGeom>
          <a:solidFill>
            <a:srgbClr val="C9A36A"/>
          </a:solidFill>
          <a:ln/>
        </p:spPr>
        <p:txBody>
          <a:bodyPr/>
          <a:lstStyle/>
          <a:p>
            <a:endParaRPr lang="en-IN"/>
          </a:p>
        </p:txBody>
      </p:sp>
      <p:sp>
        <p:nvSpPr>
          <p:cNvPr id="16" name="Text 14"/>
          <p:cNvSpPr/>
          <p:nvPr/>
        </p:nvSpPr>
        <p:spPr>
          <a:xfrm>
            <a:off x="719667" y="3079750"/>
            <a:ext cx="5762625" cy="222250"/>
          </a:xfrm>
          <a:prstGeom prst="rect">
            <a:avLst/>
          </a:prstGeom>
          <a:noFill/>
          <a:ln/>
        </p:spPr>
        <p:txBody>
          <a:bodyPr wrap="square" lIns="0" tIns="0" rIns="0" bIns="0" rtlCol="0" anchor="ctr"/>
          <a:lstStyle/>
          <a:p>
            <a:pPr>
              <a:lnSpc>
                <a:spcPct val="120000"/>
              </a:lnSpc>
            </a:pPr>
            <a:r>
              <a:rPr lang="en-US" sz="1250" b="1" dirty="0">
                <a:solidFill>
                  <a:srgbClr val="F2F2F2"/>
                </a:solidFill>
                <a:latin typeface="Quattrocento Sans" pitchFamily="34" charset="0"/>
                <a:ea typeface="Quattrocento Sans" pitchFamily="34" charset="-122"/>
                <a:cs typeface="Quattrocento Sans" pitchFamily="34" charset="-120"/>
              </a:rPr>
              <a:t>Image Preprocessing Pipeline</a:t>
            </a:r>
            <a:endParaRPr lang="en-US" sz="1600" dirty="0"/>
          </a:p>
        </p:txBody>
      </p:sp>
      <p:sp>
        <p:nvSpPr>
          <p:cNvPr id="17" name="Shape 15"/>
          <p:cNvSpPr/>
          <p:nvPr/>
        </p:nvSpPr>
        <p:spPr>
          <a:xfrm>
            <a:off x="484188" y="3431646"/>
            <a:ext cx="2894542" cy="1291167"/>
          </a:xfrm>
          <a:custGeom>
            <a:avLst/>
            <a:gdLst/>
            <a:ahLst/>
            <a:cxnLst/>
            <a:rect l="l" t="t" r="r" b="b"/>
            <a:pathLst>
              <a:path w="2894542" h="1291167">
                <a:moveTo>
                  <a:pt x="0" y="0"/>
                </a:moveTo>
                <a:lnTo>
                  <a:pt x="2894542" y="0"/>
                </a:lnTo>
                <a:lnTo>
                  <a:pt x="2894542" y="1291167"/>
                </a:lnTo>
                <a:lnTo>
                  <a:pt x="0" y="1291167"/>
                </a:lnTo>
                <a:lnTo>
                  <a:pt x="0" y="0"/>
                </a:lnTo>
                <a:close/>
              </a:path>
            </a:pathLst>
          </a:custGeom>
          <a:solidFill>
            <a:srgbClr val="111111"/>
          </a:solidFill>
          <a:ln w="8467">
            <a:solidFill>
              <a:srgbClr val="2B2B2B"/>
            </a:solidFill>
            <a:prstDash val="solid"/>
          </a:ln>
        </p:spPr>
        <p:txBody>
          <a:bodyPr/>
          <a:lstStyle/>
          <a:p>
            <a:endParaRPr lang="en-IN"/>
          </a:p>
        </p:txBody>
      </p:sp>
      <p:sp>
        <p:nvSpPr>
          <p:cNvPr id="18" name="Shape 16"/>
          <p:cNvSpPr/>
          <p:nvPr/>
        </p:nvSpPr>
        <p:spPr>
          <a:xfrm>
            <a:off x="613833" y="356129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C9A36A">
              <a:alpha val="20000"/>
            </a:srgbClr>
          </a:solidFill>
          <a:ln/>
        </p:spPr>
        <p:txBody>
          <a:bodyPr/>
          <a:lstStyle/>
          <a:p>
            <a:endParaRPr lang="en-IN"/>
          </a:p>
        </p:txBody>
      </p:sp>
      <p:sp>
        <p:nvSpPr>
          <p:cNvPr id="19" name="Text 17"/>
          <p:cNvSpPr/>
          <p:nvPr/>
        </p:nvSpPr>
        <p:spPr>
          <a:xfrm>
            <a:off x="711233" y="3624794"/>
            <a:ext cx="182563" cy="190500"/>
          </a:xfrm>
          <a:prstGeom prst="rect">
            <a:avLst/>
          </a:prstGeom>
          <a:noFill/>
          <a:ln/>
        </p:spPr>
        <p:txBody>
          <a:bodyPr wrap="square" lIns="0" tIns="0" rIns="0" bIns="0" rtlCol="0" anchor="ctr"/>
          <a:lstStyle/>
          <a:p>
            <a:pPr>
              <a:lnSpc>
                <a:spcPct val="130000"/>
              </a:lnSpc>
            </a:pPr>
            <a:r>
              <a:rPr lang="en-US" sz="1000" b="1" dirty="0">
                <a:solidFill>
                  <a:srgbClr val="C9A36A"/>
                </a:solidFill>
                <a:latin typeface="Quattrocento Sans" pitchFamily="34" charset="0"/>
                <a:ea typeface="Quattrocento Sans" pitchFamily="34" charset="-122"/>
                <a:cs typeface="Quattrocento Sans" pitchFamily="34" charset="-120"/>
              </a:rPr>
              <a:t>01</a:t>
            </a:r>
            <a:endParaRPr lang="en-US" sz="1600" dirty="0"/>
          </a:p>
        </p:txBody>
      </p:sp>
      <p:sp>
        <p:nvSpPr>
          <p:cNvPr id="20" name="Text 18"/>
          <p:cNvSpPr/>
          <p:nvPr/>
        </p:nvSpPr>
        <p:spPr>
          <a:xfrm>
            <a:off x="1026583" y="3608919"/>
            <a:ext cx="1412875"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Grayscale Conversion</a:t>
            </a:r>
            <a:endParaRPr lang="en-US" sz="1600" dirty="0"/>
          </a:p>
        </p:txBody>
      </p:sp>
      <p:sp>
        <p:nvSpPr>
          <p:cNvPr id="21" name="Text 19"/>
          <p:cNvSpPr/>
          <p:nvPr/>
        </p:nvSpPr>
        <p:spPr>
          <a:xfrm>
            <a:off x="613833" y="3974044"/>
            <a:ext cx="2698750"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Convert RGB images to grayscale to reduce computational complexity while preserving essential facial features for recognition.</a:t>
            </a:r>
            <a:endParaRPr lang="en-US" sz="1600" dirty="0"/>
          </a:p>
        </p:txBody>
      </p:sp>
      <p:sp>
        <p:nvSpPr>
          <p:cNvPr id="22" name="Shape 20"/>
          <p:cNvSpPr/>
          <p:nvPr/>
        </p:nvSpPr>
        <p:spPr>
          <a:xfrm>
            <a:off x="3509450" y="3431646"/>
            <a:ext cx="2894542" cy="1291167"/>
          </a:xfrm>
          <a:custGeom>
            <a:avLst/>
            <a:gdLst/>
            <a:ahLst/>
            <a:cxnLst/>
            <a:rect l="l" t="t" r="r" b="b"/>
            <a:pathLst>
              <a:path w="2894542" h="1291167">
                <a:moveTo>
                  <a:pt x="0" y="0"/>
                </a:moveTo>
                <a:lnTo>
                  <a:pt x="2894542" y="0"/>
                </a:lnTo>
                <a:lnTo>
                  <a:pt x="2894542" y="1291167"/>
                </a:lnTo>
                <a:lnTo>
                  <a:pt x="0" y="1291167"/>
                </a:lnTo>
                <a:lnTo>
                  <a:pt x="0" y="0"/>
                </a:lnTo>
                <a:close/>
              </a:path>
            </a:pathLst>
          </a:custGeom>
          <a:solidFill>
            <a:srgbClr val="111111"/>
          </a:solidFill>
          <a:ln w="8467">
            <a:solidFill>
              <a:srgbClr val="2B2B2B"/>
            </a:solidFill>
            <a:prstDash val="solid"/>
          </a:ln>
        </p:spPr>
        <p:txBody>
          <a:bodyPr/>
          <a:lstStyle/>
          <a:p>
            <a:endParaRPr lang="en-IN"/>
          </a:p>
        </p:txBody>
      </p:sp>
      <p:sp>
        <p:nvSpPr>
          <p:cNvPr id="23" name="Shape 21"/>
          <p:cNvSpPr/>
          <p:nvPr/>
        </p:nvSpPr>
        <p:spPr>
          <a:xfrm>
            <a:off x="3639096" y="356129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C9A36A">
              <a:alpha val="20000"/>
            </a:srgbClr>
          </a:solidFill>
          <a:ln/>
        </p:spPr>
        <p:txBody>
          <a:bodyPr/>
          <a:lstStyle/>
          <a:p>
            <a:endParaRPr lang="en-IN"/>
          </a:p>
        </p:txBody>
      </p:sp>
      <p:sp>
        <p:nvSpPr>
          <p:cNvPr id="24" name="Text 22"/>
          <p:cNvSpPr/>
          <p:nvPr/>
        </p:nvSpPr>
        <p:spPr>
          <a:xfrm>
            <a:off x="3724259" y="3624794"/>
            <a:ext cx="214313" cy="190500"/>
          </a:xfrm>
          <a:prstGeom prst="rect">
            <a:avLst/>
          </a:prstGeom>
          <a:noFill/>
          <a:ln/>
        </p:spPr>
        <p:txBody>
          <a:bodyPr wrap="square" lIns="0" tIns="0" rIns="0" bIns="0" rtlCol="0" anchor="ctr"/>
          <a:lstStyle/>
          <a:p>
            <a:pPr>
              <a:lnSpc>
                <a:spcPct val="130000"/>
              </a:lnSpc>
            </a:pPr>
            <a:r>
              <a:rPr lang="en-US" sz="1000" b="1" dirty="0">
                <a:solidFill>
                  <a:srgbClr val="C9A36A"/>
                </a:solidFill>
                <a:latin typeface="Quattrocento Sans" pitchFamily="34" charset="0"/>
                <a:ea typeface="Quattrocento Sans" pitchFamily="34" charset="-122"/>
                <a:cs typeface="Quattrocento Sans" pitchFamily="34" charset="-120"/>
              </a:rPr>
              <a:t>02</a:t>
            </a:r>
            <a:endParaRPr lang="en-US" sz="1600" dirty="0"/>
          </a:p>
        </p:txBody>
      </p:sp>
      <p:sp>
        <p:nvSpPr>
          <p:cNvPr id="25" name="Text 23"/>
          <p:cNvSpPr/>
          <p:nvPr/>
        </p:nvSpPr>
        <p:spPr>
          <a:xfrm>
            <a:off x="4051846" y="3608919"/>
            <a:ext cx="1238250"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Resize to 200×200</a:t>
            </a:r>
            <a:endParaRPr lang="en-US" sz="1600" dirty="0"/>
          </a:p>
        </p:txBody>
      </p:sp>
      <p:sp>
        <p:nvSpPr>
          <p:cNvPr id="26" name="Text 24"/>
          <p:cNvSpPr/>
          <p:nvPr/>
        </p:nvSpPr>
        <p:spPr>
          <a:xfrm>
            <a:off x="3639096" y="3974044"/>
            <a:ext cx="2698750"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Standardize image dimensions to 200×200 pixels for consistent feature extraction and optimal model training performance.</a:t>
            </a:r>
            <a:endParaRPr lang="en-US" sz="1600" dirty="0"/>
          </a:p>
        </p:txBody>
      </p:sp>
      <p:sp>
        <p:nvSpPr>
          <p:cNvPr id="27" name="Shape 25"/>
          <p:cNvSpPr/>
          <p:nvPr/>
        </p:nvSpPr>
        <p:spPr>
          <a:xfrm>
            <a:off x="484188" y="4855105"/>
            <a:ext cx="2894542" cy="1291167"/>
          </a:xfrm>
          <a:custGeom>
            <a:avLst/>
            <a:gdLst/>
            <a:ahLst/>
            <a:cxnLst/>
            <a:rect l="l" t="t" r="r" b="b"/>
            <a:pathLst>
              <a:path w="2894542" h="1291167">
                <a:moveTo>
                  <a:pt x="0" y="0"/>
                </a:moveTo>
                <a:lnTo>
                  <a:pt x="2894542" y="0"/>
                </a:lnTo>
                <a:lnTo>
                  <a:pt x="2894542" y="1291167"/>
                </a:lnTo>
                <a:lnTo>
                  <a:pt x="0" y="1291167"/>
                </a:lnTo>
                <a:lnTo>
                  <a:pt x="0" y="0"/>
                </a:lnTo>
                <a:close/>
              </a:path>
            </a:pathLst>
          </a:custGeom>
          <a:solidFill>
            <a:srgbClr val="111111"/>
          </a:solidFill>
          <a:ln w="8467">
            <a:solidFill>
              <a:srgbClr val="2B2B2B"/>
            </a:solidFill>
            <a:prstDash val="solid"/>
          </a:ln>
        </p:spPr>
        <p:txBody>
          <a:bodyPr/>
          <a:lstStyle/>
          <a:p>
            <a:endParaRPr lang="en-IN"/>
          </a:p>
        </p:txBody>
      </p:sp>
      <p:sp>
        <p:nvSpPr>
          <p:cNvPr id="28" name="Shape 26"/>
          <p:cNvSpPr/>
          <p:nvPr/>
        </p:nvSpPr>
        <p:spPr>
          <a:xfrm>
            <a:off x="613833" y="498475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C9A36A">
              <a:alpha val="20000"/>
            </a:srgbClr>
          </a:solidFill>
          <a:ln/>
        </p:spPr>
        <p:txBody>
          <a:bodyPr/>
          <a:lstStyle/>
          <a:p>
            <a:endParaRPr lang="en-IN"/>
          </a:p>
        </p:txBody>
      </p:sp>
      <p:sp>
        <p:nvSpPr>
          <p:cNvPr id="29" name="Text 27"/>
          <p:cNvSpPr/>
          <p:nvPr/>
        </p:nvSpPr>
        <p:spPr>
          <a:xfrm>
            <a:off x="697342" y="5048250"/>
            <a:ext cx="214313" cy="190500"/>
          </a:xfrm>
          <a:prstGeom prst="rect">
            <a:avLst/>
          </a:prstGeom>
          <a:noFill/>
          <a:ln/>
        </p:spPr>
        <p:txBody>
          <a:bodyPr wrap="square" lIns="0" tIns="0" rIns="0" bIns="0" rtlCol="0" anchor="ctr"/>
          <a:lstStyle/>
          <a:p>
            <a:pPr>
              <a:lnSpc>
                <a:spcPct val="130000"/>
              </a:lnSpc>
            </a:pPr>
            <a:r>
              <a:rPr lang="en-US" sz="1000" b="1" dirty="0">
                <a:solidFill>
                  <a:srgbClr val="C9A36A"/>
                </a:solidFill>
                <a:latin typeface="Quattrocento Sans" pitchFamily="34" charset="0"/>
                <a:ea typeface="Quattrocento Sans" pitchFamily="34" charset="-122"/>
                <a:cs typeface="Quattrocento Sans" pitchFamily="34" charset="-120"/>
              </a:rPr>
              <a:t>03</a:t>
            </a:r>
            <a:endParaRPr lang="en-US" sz="1600" dirty="0"/>
          </a:p>
        </p:txBody>
      </p:sp>
      <p:sp>
        <p:nvSpPr>
          <p:cNvPr id="30" name="Text 28"/>
          <p:cNvSpPr/>
          <p:nvPr/>
        </p:nvSpPr>
        <p:spPr>
          <a:xfrm>
            <a:off x="1026583" y="5032375"/>
            <a:ext cx="1325563"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Synthetic Mask Data</a:t>
            </a:r>
            <a:endParaRPr lang="en-US" sz="1600" dirty="0"/>
          </a:p>
        </p:txBody>
      </p:sp>
      <p:sp>
        <p:nvSpPr>
          <p:cNvPr id="31" name="Text 29"/>
          <p:cNvSpPr/>
          <p:nvPr/>
        </p:nvSpPr>
        <p:spPr>
          <a:xfrm>
            <a:off x="613833" y="5397500"/>
            <a:ext cx="2698750"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Generate masked versions of images to train the system for mask detection capability and ensure robustness in various scenarios.</a:t>
            </a:r>
            <a:endParaRPr lang="en-US" sz="1600" dirty="0"/>
          </a:p>
        </p:txBody>
      </p:sp>
      <p:sp>
        <p:nvSpPr>
          <p:cNvPr id="32" name="Shape 30"/>
          <p:cNvSpPr/>
          <p:nvPr/>
        </p:nvSpPr>
        <p:spPr>
          <a:xfrm>
            <a:off x="3509450" y="4855105"/>
            <a:ext cx="2894542" cy="1291167"/>
          </a:xfrm>
          <a:custGeom>
            <a:avLst/>
            <a:gdLst/>
            <a:ahLst/>
            <a:cxnLst/>
            <a:rect l="l" t="t" r="r" b="b"/>
            <a:pathLst>
              <a:path w="2894542" h="1291167">
                <a:moveTo>
                  <a:pt x="0" y="0"/>
                </a:moveTo>
                <a:lnTo>
                  <a:pt x="2894542" y="0"/>
                </a:lnTo>
                <a:lnTo>
                  <a:pt x="2894542" y="1291167"/>
                </a:lnTo>
                <a:lnTo>
                  <a:pt x="0" y="1291167"/>
                </a:lnTo>
                <a:lnTo>
                  <a:pt x="0" y="0"/>
                </a:lnTo>
                <a:close/>
              </a:path>
            </a:pathLst>
          </a:custGeom>
          <a:solidFill>
            <a:srgbClr val="111111"/>
          </a:solidFill>
          <a:ln w="8467">
            <a:solidFill>
              <a:srgbClr val="2B2B2B"/>
            </a:solidFill>
            <a:prstDash val="solid"/>
          </a:ln>
        </p:spPr>
        <p:txBody>
          <a:bodyPr/>
          <a:lstStyle/>
          <a:p>
            <a:endParaRPr lang="en-IN"/>
          </a:p>
        </p:txBody>
      </p:sp>
      <p:sp>
        <p:nvSpPr>
          <p:cNvPr id="33" name="Shape 31"/>
          <p:cNvSpPr/>
          <p:nvPr/>
        </p:nvSpPr>
        <p:spPr>
          <a:xfrm>
            <a:off x="3639096" y="4984750"/>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C9A36A">
              <a:alpha val="20000"/>
            </a:srgbClr>
          </a:solidFill>
          <a:ln/>
        </p:spPr>
        <p:txBody>
          <a:bodyPr/>
          <a:lstStyle/>
          <a:p>
            <a:endParaRPr lang="en-IN"/>
          </a:p>
        </p:txBody>
      </p:sp>
      <p:sp>
        <p:nvSpPr>
          <p:cNvPr id="34" name="Text 32"/>
          <p:cNvSpPr/>
          <p:nvPr/>
        </p:nvSpPr>
        <p:spPr>
          <a:xfrm>
            <a:off x="3724341" y="5048250"/>
            <a:ext cx="214313" cy="190500"/>
          </a:xfrm>
          <a:prstGeom prst="rect">
            <a:avLst/>
          </a:prstGeom>
          <a:noFill/>
          <a:ln/>
        </p:spPr>
        <p:txBody>
          <a:bodyPr wrap="square" lIns="0" tIns="0" rIns="0" bIns="0" rtlCol="0" anchor="ctr"/>
          <a:lstStyle/>
          <a:p>
            <a:pPr>
              <a:lnSpc>
                <a:spcPct val="130000"/>
              </a:lnSpc>
            </a:pPr>
            <a:r>
              <a:rPr lang="en-US" sz="1000" b="1" dirty="0">
                <a:solidFill>
                  <a:srgbClr val="C9A36A"/>
                </a:solidFill>
                <a:latin typeface="Quattrocento Sans" pitchFamily="34" charset="0"/>
                <a:ea typeface="Quattrocento Sans" pitchFamily="34" charset="-122"/>
                <a:cs typeface="Quattrocento Sans" pitchFamily="34" charset="-120"/>
              </a:rPr>
              <a:t>04</a:t>
            </a:r>
            <a:endParaRPr lang="en-US" sz="1600" dirty="0"/>
          </a:p>
        </p:txBody>
      </p:sp>
      <p:sp>
        <p:nvSpPr>
          <p:cNvPr id="35" name="Text 33"/>
          <p:cNvSpPr/>
          <p:nvPr/>
        </p:nvSpPr>
        <p:spPr>
          <a:xfrm>
            <a:off x="4051846" y="5032375"/>
            <a:ext cx="1262063" cy="222250"/>
          </a:xfrm>
          <a:prstGeom prst="rect">
            <a:avLst/>
          </a:prstGeom>
          <a:noFill/>
          <a:ln/>
        </p:spPr>
        <p:txBody>
          <a:bodyPr wrap="square" lIns="0" tIns="0" rIns="0" bIns="0" rtlCol="0" anchor="ctr"/>
          <a:lstStyle/>
          <a:p>
            <a:pPr>
              <a:lnSpc>
                <a:spcPct val="130000"/>
              </a:lnSpc>
            </a:pPr>
            <a:r>
              <a:rPr lang="en-US" sz="1125" b="1" dirty="0">
                <a:solidFill>
                  <a:srgbClr val="F2F2F2"/>
                </a:solidFill>
                <a:latin typeface="Quattrocento Sans" pitchFamily="34" charset="0"/>
                <a:ea typeface="Quattrocento Sans" pitchFamily="34" charset="-122"/>
                <a:cs typeface="Quattrocento Sans" pitchFamily="34" charset="-120"/>
              </a:rPr>
              <a:t>Data Augmentation</a:t>
            </a:r>
            <a:endParaRPr lang="en-US" sz="1600" dirty="0"/>
          </a:p>
        </p:txBody>
      </p:sp>
      <p:sp>
        <p:nvSpPr>
          <p:cNvPr id="36" name="Text 34"/>
          <p:cNvSpPr/>
          <p:nvPr/>
        </p:nvSpPr>
        <p:spPr>
          <a:xfrm>
            <a:off x="3639096" y="5397500"/>
            <a:ext cx="2698750"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Apply rotation, scaling, and brightness adjustments to increase dataset diversity and improve model robustness.</a:t>
            </a:r>
            <a:endParaRPr lang="en-US" sz="1600" dirty="0"/>
          </a:p>
        </p:txBody>
      </p:sp>
      <p:sp>
        <p:nvSpPr>
          <p:cNvPr id="37" name="Shape 35"/>
          <p:cNvSpPr/>
          <p:nvPr/>
        </p:nvSpPr>
        <p:spPr>
          <a:xfrm>
            <a:off x="6762254" y="1209146"/>
            <a:ext cx="5109104" cy="2577042"/>
          </a:xfrm>
          <a:custGeom>
            <a:avLst/>
            <a:gdLst/>
            <a:ahLst/>
            <a:cxnLst/>
            <a:rect l="l" t="t" r="r" b="b"/>
            <a:pathLst>
              <a:path w="5109104" h="2577042">
                <a:moveTo>
                  <a:pt x="0" y="0"/>
                </a:moveTo>
                <a:lnTo>
                  <a:pt x="5109104" y="0"/>
                </a:lnTo>
                <a:lnTo>
                  <a:pt x="5109104" y="2577042"/>
                </a:lnTo>
                <a:lnTo>
                  <a:pt x="0" y="2577042"/>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38" name="Text 36"/>
          <p:cNvSpPr/>
          <p:nvPr/>
        </p:nvSpPr>
        <p:spPr>
          <a:xfrm>
            <a:off x="6923650" y="1370544"/>
            <a:ext cx="4865688" cy="222250"/>
          </a:xfrm>
          <a:prstGeom prst="rect">
            <a:avLst/>
          </a:prstGeom>
          <a:noFill/>
          <a:ln/>
        </p:spPr>
        <p:txBody>
          <a:bodyPr wrap="square" lIns="0" tIns="0" rIns="0" bIns="0" rtlCol="0" anchor="ctr"/>
          <a:lstStyle/>
          <a:p>
            <a:pPr>
              <a:lnSpc>
                <a:spcPct val="120000"/>
              </a:lnSpc>
            </a:pPr>
            <a:r>
              <a:rPr lang="en-US" sz="1250" b="1" dirty="0">
                <a:solidFill>
                  <a:srgbClr val="C9A36A"/>
                </a:solidFill>
                <a:latin typeface="Quattrocento Sans" pitchFamily="34" charset="0"/>
                <a:ea typeface="Quattrocento Sans" pitchFamily="34" charset="-122"/>
                <a:cs typeface="Quattrocento Sans" pitchFamily="34" charset="-120"/>
              </a:rPr>
              <a:t>Dataset Statistics</a:t>
            </a:r>
            <a:endParaRPr lang="en-US" sz="1600" dirty="0"/>
          </a:p>
        </p:txBody>
      </p:sp>
      <p:sp>
        <p:nvSpPr>
          <p:cNvPr id="39" name="Text 37"/>
          <p:cNvSpPr/>
          <p:nvPr/>
        </p:nvSpPr>
        <p:spPr>
          <a:xfrm>
            <a:off x="6923650" y="1751544"/>
            <a:ext cx="1071563" cy="190500"/>
          </a:xfrm>
          <a:prstGeom prst="rect">
            <a:avLst/>
          </a:prstGeom>
          <a:noFill/>
          <a:ln/>
        </p:spPr>
        <p:txBody>
          <a:bodyPr wrap="square" lIns="0" tIns="0" rIns="0" bIns="0" rtlCol="0" anchor="ctr"/>
          <a:lstStyle/>
          <a:p>
            <a:pPr>
              <a:lnSpc>
                <a:spcPct val="130000"/>
              </a:lnSpc>
            </a:pPr>
            <a:r>
              <a:rPr lang="en-US" sz="1000" dirty="0">
                <a:solidFill>
                  <a:srgbClr val="B8B8B8"/>
                </a:solidFill>
                <a:latin typeface="Quattrocento Sans" pitchFamily="34" charset="0"/>
                <a:ea typeface="Quattrocento Sans" pitchFamily="34" charset="-122"/>
                <a:cs typeface="Quattrocento Sans" pitchFamily="34" charset="-120"/>
              </a:rPr>
              <a:t>Images Per Person</a:t>
            </a:r>
            <a:endParaRPr lang="en-US" sz="1600" dirty="0"/>
          </a:p>
        </p:txBody>
      </p:sp>
      <p:sp>
        <p:nvSpPr>
          <p:cNvPr id="40" name="Text 38"/>
          <p:cNvSpPr/>
          <p:nvPr/>
        </p:nvSpPr>
        <p:spPr>
          <a:xfrm>
            <a:off x="11484322" y="1719794"/>
            <a:ext cx="317500" cy="254000"/>
          </a:xfrm>
          <a:prstGeom prst="rect">
            <a:avLst/>
          </a:prstGeom>
          <a:noFill/>
          <a:ln/>
        </p:spPr>
        <p:txBody>
          <a:bodyPr wrap="square" lIns="0" tIns="0" rIns="0" bIns="0" rtlCol="0" anchor="ctr"/>
          <a:lstStyle/>
          <a:p>
            <a:pPr>
              <a:lnSpc>
                <a:spcPct val="110000"/>
              </a:lnSpc>
            </a:pPr>
            <a:r>
              <a:rPr lang="en-US" sz="1500" b="1" dirty="0">
                <a:solidFill>
                  <a:srgbClr val="C9A36A"/>
                </a:solidFill>
                <a:latin typeface="Quattrocento Sans" pitchFamily="34" charset="0"/>
                <a:ea typeface="Quattrocento Sans" pitchFamily="34" charset="-122"/>
                <a:cs typeface="Quattrocento Sans" pitchFamily="34" charset="-120"/>
              </a:rPr>
              <a:t>50</a:t>
            </a:r>
            <a:endParaRPr lang="en-US" sz="1600" dirty="0"/>
          </a:p>
        </p:txBody>
      </p:sp>
      <p:sp>
        <p:nvSpPr>
          <p:cNvPr id="41" name="Shape 39"/>
          <p:cNvSpPr/>
          <p:nvPr/>
        </p:nvSpPr>
        <p:spPr>
          <a:xfrm>
            <a:off x="6923650" y="2037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2B2B2B"/>
          </a:solidFill>
          <a:ln/>
        </p:spPr>
        <p:txBody>
          <a:bodyPr/>
          <a:lstStyle/>
          <a:p>
            <a:endParaRPr lang="en-IN"/>
          </a:p>
        </p:txBody>
      </p:sp>
      <p:sp>
        <p:nvSpPr>
          <p:cNvPr id="42" name="Shape 40"/>
          <p:cNvSpPr/>
          <p:nvPr/>
        </p:nvSpPr>
        <p:spPr>
          <a:xfrm>
            <a:off x="6923650" y="2037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C9A36A"/>
          </a:solidFill>
          <a:ln/>
        </p:spPr>
        <p:txBody>
          <a:bodyPr/>
          <a:lstStyle/>
          <a:p>
            <a:endParaRPr lang="en-IN"/>
          </a:p>
        </p:txBody>
      </p:sp>
      <p:sp>
        <p:nvSpPr>
          <p:cNvPr id="43" name="Text 41"/>
          <p:cNvSpPr/>
          <p:nvPr/>
        </p:nvSpPr>
        <p:spPr>
          <a:xfrm>
            <a:off x="6923650" y="2259544"/>
            <a:ext cx="1008063" cy="190500"/>
          </a:xfrm>
          <a:prstGeom prst="rect">
            <a:avLst/>
          </a:prstGeom>
          <a:noFill/>
          <a:ln/>
        </p:spPr>
        <p:txBody>
          <a:bodyPr wrap="square" lIns="0" tIns="0" rIns="0" bIns="0" rtlCol="0" anchor="ctr"/>
          <a:lstStyle/>
          <a:p>
            <a:pPr>
              <a:lnSpc>
                <a:spcPct val="130000"/>
              </a:lnSpc>
            </a:pPr>
            <a:r>
              <a:rPr lang="en-US" sz="1000" dirty="0">
                <a:solidFill>
                  <a:srgbClr val="B8B8B8"/>
                </a:solidFill>
                <a:latin typeface="Quattrocento Sans" pitchFamily="34" charset="0"/>
                <a:ea typeface="Quattrocento Sans" pitchFamily="34" charset="-122"/>
                <a:cs typeface="Quattrocento Sans" pitchFamily="34" charset="-120"/>
              </a:rPr>
              <a:t>Image Resolution</a:t>
            </a:r>
            <a:endParaRPr lang="en-US" sz="1600" dirty="0"/>
          </a:p>
        </p:txBody>
      </p:sp>
      <p:sp>
        <p:nvSpPr>
          <p:cNvPr id="44" name="Text 42"/>
          <p:cNvSpPr/>
          <p:nvPr/>
        </p:nvSpPr>
        <p:spPr>
          <a:xfrm>
            <a:off x="10934734" y="2227794"/>
            <a:ext cx="873125" cy="254000"/>
          </a:xfrm>
          <a:prstGeom prst="rect">
            <a:avLst/>
          </a:prstGeom>
          <a:noFill/>
          <a:ln/>
        </p:spPr>
        <p:txBody>
          <a:bodyPr wrap="square" lIns="0" tIns="0" rIns="0" bIns="0" rtlCol="0" anchor="ctr"/>
          <a:lstStyle/>
          <a:p>
            <a:pPr>
              <a:lnSpc>
                <a:spcPct val="110000"/>
              </a:lnSpc>
            </a:pPr>
            <a:r>
              <a:rPr lang="en-US" sz="1500" b="1" dirty="0">
                <a:solidFill>
                  <a:srgbClr val="C9A36A"/>
                </a:solidFill>
                <a:latin typeface="Quattrocento Sans" pitchFamily="34" charset="0"/>
                <a:ea typeface="Quattrocento Sans" pitchFamily="34" charset="-122"/>
                <a:cs typeface="Quattrocento Sans" pitchFamily="34" charset="-120"/>
              </a:rPr>
              <a:t>200×200</a:t>
            </a:r>
            <a:endParaRPr lang="en-US" sz="1600" dirty="0"/>
          </a:p>
        </p:txBody>
      </p:sp>
      <p:sp>
        <p:nvSpPr>
          <p:cNvPr id="45" name="Shape 43"/>
          <p:cNvSpPr/>
          <p:nvPr/>
        </p:nvSpPr>
        <p:spPr>
          <a:xfrm>
            <a:off x="6923650" y="2545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2B2B2B"/>
          </a:solidFill>
          <a:ln/>
        </p:spPr>
        <p:txBody>
          <a:bodyPr/>
          <a:lstStyle/>
          <a:p>
            <a:endParaRPr lang="en-IN"/>
          </a:p>
        </p:txBody>
      </p:sp>
      <p:sp>
        <p:nvSpPr>
          <p:cNvPr id="46" name="Shape 44"/>
          <p:cNvSpPr/>
          <p:nvPr/>
        </p:nvSpPr>
        <p:spPr>
          <a:xfrm>
            <a:off x="6923650" y="2545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C9A36A"/>
          </a:solidFill>
          <a:ln/>
        </p:spPr>
        <p:txBody>
          <a:bodyPr/>
          <a:lstStyle/>
          <a:p>
            <a:endParaRPr lang="en-IN"/>
          </a:p>
        </p:txBody>
      </p:sp>
      <p:sp>
        <p:nvSpPr>
          <p:cNvPr id="47" name="Text 45"/>
          <p:cNvSpPr/>
          <p:nvPr/>
        </p:nvSpPr>
        <p:spPr>
          <a:xfrm>
            <a:off x="6923650" y="2767544"/>
            <a:ext cx="785813" cy="190500"/>
          </a:xfrm>
          <a:prstGeom prst="rect">
            <a:avLst/>
          </a:prstGeom>
          <a:noFill/>
          <a:ln/>
        </p:spPr>
        <p:txBody>
          <a:bodyPr wrap="square" lIns="0" tIns="0" rIns="0" bIns="0" rtlCol="0" anchor="ctr"/>
          <a:lstStyle/>
          <a:p>
            <a:pPr>
              <a:lnSpc>
                <a:spcPct val="130000"/>
              </a:lnSpc>
            </a:pPr>
            <a:r>
              <a:rPr lang="en-US" sz="1000" dirty="0">
                <a:solidFill>
                  <a:srgbClr val="B8B8B8"/>
                </a:solidFill>
                <a:latin typeface="Quattrocento Sans" pitchFamily="34" charset="0"/>
                <a:ea typeface="Quattrocento Sans" pitchFamily="34" charset="-122"/>
                <a:cs typeface="Quattrocento Sans" pitchFamily="34" charset="-120"/>
              </a:rPr>
              <a:t>Color Format</a:t>
            </a:r>
            <a:endParaRPr lang="en-US" sz="1600" dirty="0"/>
          </a:p>
        </p:txBody>
      </p:sp>
      <p:sp>
        <p:nvSpPr>
          <p:cNvPr id="48" name="Text 46"/>
          <p:cNvSpPr/>
          <p:nvPr/>
        </p:nvSpPr>
        <p:spPr>
          <a:xfrm>
            <a:off x="10902736" y="2735794"/>
            <a:ext cx="904875" cy="254000"/>
          </a:xfrm>
          <a:prstGeom prst="rect">
            <a:avLst/>
          </a:prstGeom>
          <a:noFill/>
          <a:ln/>
        </p:spPr>
        <p:txBody>
          <a:bodyPr wrap="square" lIns="0" tIns="0" rIns="0" bIns="0" rtlCol="0" anchor="ctr"/>
          <a:lstStyle/>
          <a:p>
            <a:pPr>
              <a:lnSpc>
                <a:spcPct val="110000"/>
              </a:lnSpc>
            </a:pPr>
            <a:r>
              <a:rPr lang="en-US" sz="1500" b="1" dirty="0">
                <a:solidFill>
                  <a:srgbClr val="C9A36A"/>
                </a:solidFill>
                <a:latin typeface="Quattrocento Sans" pitchFamily="34" charset="0"/>
                <a:ea typeface="Quattrocento Sans" pitchFamily="34" charset="-122"/>
                <a:cs typeface="Quattrocento Sans" pitchFamily="34" charset="-120"/>
              </a:rPr>
              <a:t>Grayscale</a:t>
            </a:r>
            <a:endParaRPr lang="en-US" sz="1600" dirty="0"/>
          </a:p>
        </p:txBody>
      </p:sp>
      <p:sp>
        <p:nvSpPr>
          <p:cNvPr id="49" name="Shape 47"/>
          <p:cNvSpPr/>
          <p:nvPr/>
        </p:nvSpPr>
        <p:spPr>
          <a:xfrm>
            <a:off x="6923650" y="3053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2B2B2B"/>
          </a:solidFill>
          <a:ln/>
        </p:spPr>
        <p:txBody>
          <a:bodyPr/>
          <a:lstStyle/>
          <a:p>
            <a:endParaRPr lang="en-IN"/>
          </a:p>
        </p:txBody>
      </p:sp>
      <p:sp>
        <p:nvSpPr>
          <p:cNvPr id="50" name="Shape 48"/>
          <p:cNvSpPr/>
          <p:nvPr/>
        </p:nvSpPr>
        <p:spPr>
          <a:xfrm>
            <a:off x="6923650" y="3053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C9A36A"/>
          </a:solidFill>
          <a:ln/>
        </p:spPr>
        <p:txBody>
          <a:bodyPr/>
          <a:lstStyle/>
          <a:p>
            <a:endParaRPr lang="en-IN"/>
          </a:p>
        </p:txBody>
      </p:sp>
      <p:sp>
        <p:nvSpPr>
          <p:cNvPr id="51" name="Text 49"/>
          <p:cNvSpPr/>
          <p:nvPr/>
        </p:nvSpPr>
        <p:spPr>
          <a:xfrm>
            <a:off x="6923650" y="3275544"/>
            <a:ext cx="968375" cy="190500"/>
          </a:xfrm>
          <a:prstGeom prst="rect">
            <a:avLst/>
          </a:prstGeom>
          <a:noFill/>
          <a:ln/>
        </p:spPr>
        <p:txBody>
          <a:bodyPr wrap="square" lIns="0" tIns="0" rIns="0" bIns="0" rtlCol="0" anchor="ctr"/>
          <a:lstStyle/>
          <a:p>
            <a:pPr>
              <a:lnSpc>
                <a:spcPct val="130000"/>
              </a:lnSpc>
            </a:pPr>
            <a:r>
              <a:rPr lang="en-US" sz="1000" dirty="0">
                <a:solidFill>
                  <a:srgbClr val="B8B8B8"/>
                </a:solidFill>
                <a:latin typeface="Quattrocento Sans" pitchFamily="34" charset="0"/>
                <a:ea typeface="Quattrocento Sans" pitchFamily="34" charset="-122"/>
                <a:cs typeface="Quattrocento Sans" pitchFamily="34" charset="-120"/>
              </a:rPr>
              <a:t>Masked Variants</a:t>
            </a:r>
            <a:endParaRPr lang="en-US" sz="1600" dirty="0"/>
          </a:p>
        </p:txBody>
      </p:sp>
      <p:sp>
        <p:nvSpPr>
          <p:cNvPr id="52" name="Text 50"/>
          <p:cNvSpPr/>
          <p:nvPr/>
        </p:nvSpPr>
        <p:spPr>
          <a:xfrm>
            <a:off x="11420078" y="3243794"/>
            <a:ext cx="388938" cy="254000"/>
          </a:xfrm>
          <a:prstGeom prst="rect">
            <a:avLst/>
          </a:prstGeom>
          <a:noFill/>
          <a:ln/>
        </p:spPr>
        <p:txBody>
          <a:bodyPr wrap="square" lIns="0" tIns="0" rIns="0" bIns="0" rtlCol="0" anchor="ctr"/>
          <a:lstStyle/>
          <a:p>
            <a:pPr>
              <a:lnSpc>
                <a:spcPct val="110000"/>
              </a:lnSpc>
            </a:pPr>
            <a:r>
              <a:rPr lang="en-US" sz="1500" b="1" dirty="0">
                <a:solidFill>
                  <a:srgbClr val="C9A36A"/>
                </a:solidFill>
                <a:latin typeface="Quattrocento Sans" pitchFamily="34" charset="0"/>
                <a:ea typeface="Quattrocento Sans" pitchFamily="34" charset="-122"/>
                <a:cs typeface="Quattrocento Sans" pitchFamily="34" charset="-120"/>
              </a:rPr>
              <a:t>Yes</a:t>
            </a:r>
            <a:endParaRPr lang="en-US" sz="1600" dirty="0"/>
          </a:p>
        </p:txBody>
      </p:sp>
      <p:sp>
        <p:nvSpPr>
          <p:cNvPr id="53" name="Shape 51"/>
          <p:cNvSpPr/>
          <p:nvPr/>
        </p:nvSpPr>
        <p:spPr>
          <a:xfrm>
            <a:off x="6923650" y="3561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2B2B2B"/>
          </a:solidFill>
          <a:ln/>
        </p:spPr>
        <p:txBody>
          <a:bodyPr/>
          <a:lstStyle/>
          <a:p>
            <a:endParaRPr lang="en-IN"/>
          </a:p>
        </p:txBody>
      </p:sp>
      <p:sp>
        <p:nvSpPr>
          <p:cNvPr id="54" name="Shape 52"/>
          <p:cNvSpPr/>
          <p:nvPr/>
        </p:nvSpPr>
        <p:spPr>
          <a:xfrm>
            <a:off x="6923650" y="3561294"/>
            <a:ext cx="4786313" cy="63500"/>
          </a:xfrm>
          <a:custGeom>
            <a:avLst/>
            <a:gdLst/>
            <a:ahLst/>
            <a:cxnLst/>
            <a:rect l="l" t="t" r="r" b="b"/>
            <a:pathLst>
              <a:path w="4786313" h="63500">
                <a:moveTo>
                  <a:pt x="31750" y="0"/>
                </a:moveTo>
                <a:lnTo>
                  <a:pt x="4754563" y="0"/>
                </a:lnTo>
                <a:cubicBezTo>
                  <a:pt x="4772086" y="0"/>
                  <a:pt x="4786313" y="14227"/>
                  <a:pt x="4786313" y="31750"/>
                </a:cubicBezTo>
                <a:lnTo>
                  <a:pt x="4786313" y="31750"/>
                </a:lnTo>
                <a:cubicBezTo>
                  <a:pt x="4786313" y="49273"/>
                  <a:pt x="4772086" y="63500"/>
                  <a:pt x="4754563" y="63500"/>
                </a:cubicBezTo>
                <a:lnTo>
                  <a:pt x="31750" y="63500"/>
                </a:lnTo>
                <a:cubicBezTo>
                  <a:pt x="14227" y="63500"/>
                  <a:pt x="0" y="49273"/>
                  <a:pt x="0" y="31750"/>
                </a:cubicBezTo>
                <a:lnTo>
                  <a:pt x="0" y="31750"/>
                </a:lnTo>
                <a:cubicBezTo>
                  <a:pt x="0" y="14227"/>
                  <a:pt x="14227" y="0"/>
                  <a:pt x="31750" y="0"/>
                </a:cubicBezTo>
                <a:close/>
              </a:path>
            </a:pathLst>
          </a:custGeom>
          <a:solidFill>
            <a:srgbClr val="C9A36A"/>
          </a:solidFill>
          <a:ln/>
        </p:spPr>
        <p:txBody>
          <a:bodyPr/>
          <a:lstStyle/>
          <a:p>
            <a:endParaRPr lang="en-IN"/>
          </a:p>
        </p:txBody>
      </p:sp>
      <p:sp>
        <p:nvSpPr>
          <p:cNvPr id="55" name="Shape 53"/>
          <p:cNvSpPr/>
          <p:nvPr/>
        </p:nvSpPr>
        <p:spPr>
          <a:xfrm>
            <a:off x="6762254" y="3918480"/>
            <a:ext cx="5109104" cy="2616729"/>
          </a:xfrm>
          <a:custGeom>
            <a:avLst/>
            <a:gdLst/>
            <a:ahLst/>
            <a:cxnLst/>
            <a:rect l="l" t="t" r="r" b="b"/>
            <a:pathLst>
              <a:path w="5109104" h="2616729">
                <a:moveTo>
                  <a:pt x="0" y="0"/>
                </a:moveTo>
                <a:lnTo>
                  <a:pt x="5109104" y="0"/>
                </a:lnTo>
                <a:lnTo>
                  <a:pt x="5109104" y="2616729"/>
                </a:lnTo>
                <a:lnTo>
                  <a:pt x="0" y="2616729"/>
                </a:lnTo>
                <a:lnTo>
                  <a:pt x="0" y="0"/>
                </a:lnTo>
                <a:close/>
              </a:path>
            </a:pathLst>
          </a:custGeom>
          <a:solidFill>
            <a:srgbClr val="1A1A1A"/>
          </a:solidFill>
          <a:ln w="8467">
            <a:solidFill>
              <a:srgbClr val="2B2B2B"/>
            </a:solidFill>
            <a:prstDash val="solid"/>
          </a:ln>
        </p:spPr>
        <p:txBody>
          <a:bodyPr/>
          <a:lstStyle/>
          <a:p>
            <a:endParaRPr lang="en-IN"/>
          </a:p>
        </p:txBody>
      </p:sp>
      <p:sp>
        <p:nvSpPr>
          <p:cNvPr id="56" name="Shape 54"/>
          <p:cNvSpPr/>
          <p:nvPr/>
        </p:nvSpPr>
        <p:spPr>
          <a:xfrm>
            <a:off x="9174179" y="4553482"/>
            <a:ext cx="285750" cy="285750"/>
          </a:xfrm>
          <a:custGeom>
            <a:avLst/>
            <a:gdLst/>
            <a:ahLst/>
            <a:cxnLst/>
            <a:rect l="l" t="t" r="r" b="b"/>
            <a:pathLst>
              <a:path w="285750" h="285750">
                <a:moveTo>
                  <a:pt x="66973" y="31254"/>
                </a:moveTo>
                <a:cubicBezTo>
                  <a:pt x="66973" y="14008"/>
                  <a:pt x="80981" y="0"/>
                  <a:pt x="98227" y="0"/>
                </a:cubicBezTo>
                <a:lnTo>
                  <a:pt x="111621" y="0"/>
                </a:lnTo>
                <a:cubicBezTo>
                  <a:pt x="121500" y="0"/>
                  <a:pt x="129480" y="7981"/>
                  <a:pt x="129480" y="17859"/>
                </a:cubicBezTo>
                <a:lnTo>
                  <a:pt x="129480" y="267891"/>
                </a:lnTo>
                <a:cubicBezTo>
                  <a:pt x="129480" y="277769"/>
                  <a:pt x="121500" y="285750"/>
                  <a:pt x="111621" y="285750"/>
                </a:cubicBezTo>
                <a:lnTo>
                  <a:pt x="93762" y="285750"/>
                </a:lnTo>
                <a:cubicBezTo>
                  <a:pt x="77130" y="285750"/>
                  <a:pt x="63122" y="274365"/>
                  <a:pt x="59159" y="258961"/>
                </a:cubicBezTo>
                <a:cubicBezTo>
                  <a:pt x="58769" y="258961"/>
                  <a:pt x="58434" y="258961"/>
                  <a:pt x="58043" y="258961"/>
                </a:cubicBezTo>
                <a:cubicBezTo>
                  <a:pt x="33375" y="258961"/>
                  <a:pt x="13395" y="238981"/>
                  <a:pt x="13395" y="214313"/>
                </a:cubicBezTo>
                <a:cubicBezTo>
                  <a:pt x="13395" y="204267"/>
                  <a:pt x="16743" y="195002"/>
                  <a:pt x="22324" y="187523"/>
                </a:cubicBezTo>
                <a:cubicBezTo>
                  <a:pt x="11497" y="179375"/>
                  <a:pt x="4465" y="166427"/>
                  <a:pt x="4465" y="151805"/>
                </a:cubicBezTo>
                <a:cubicBezTo>
                  <a:pt x="4465" y="134559"/>
                  <a:pt x="14288" y="119546"/>
                  <a:pt x="28575" y="112123"/>
                </a:cubicBezTo>
                <a:cubicBezTo>
                  <a:pt x="24612" y="105426"/>
                  <a:pt x="22324" y="97613"/>
                  <a:pt x="22324" y="89297"/>
                </a:cubicBezTo>
                <a:cubicBezTo>
                  <a:pt x="22324" y="64629"/>
                  <a:pt x="42304" y="44648"/>
                  <a:pt x="66973" y="44648"/>
                </a:cubicBezTo>
                <a:lnTo>
                  <a:pt x="66973" y="31254"/>
                </a:lnTo>
                <a:close/>
                <a:moveTo>
                  <a:pt x="218777" y="31254"/>
                </a:moveTo>
                <a:lnTo>
                  <a:pt x="218777" y="44648"/>
                </a:lnTo>
                <a:cubicBezTo>
                  <a:pt x="243446" y="44648"/>
                  <a:pt x="263426" y="64629"/>
                  <a:pt x="263426" y="89297"/>
                </a:cubicBezTo>
                <a:cubicBezTo>
                  <a:pt x="263426" y="97668"/>
                  <a:pt x="261138" y="105482"/>
                  <a:pt x="257175" y="112123"/>
                </a:cubicBezTo>
                <a:cubicBezTo>
                  <a:pt x="271518" y="119546"/>
                  <a:pt x="281285" y="134503"/>
                  <a:pt x="281285" y="151805"/>
                </a:cubicBezTo>
                <a:cubicBezTo>
                  <a:pt x="281285" y="166427"/>
                  <a:pt x="274253" y="179375"/>
                  <a:pt x="263426" y="187523"/>
                </a:cubicBezTo>
                <a:cubicBezTo>
                  <a:pt x="269007" y="195002"/>
                  <a:pt x="272355" y="204267"/>
                  <a:pt x="272355" y="214313"/>
                </a:cubicBezTo>
                <a:cubicBezTo>
                  <a:pt x="272355" y="238981"/>
                  <a:pt x="252375" y="258961"/>
                  <a:pt x="227707" y="258961"/>
                </a:cubicBezTo>
                <a:cubicBezTo>
                  <a:pt x="227316" y="258961"/>
                  <a:pt x="226981" y="258961"/>
                  <a:pt x="226591" y="258961"/>
                </a:cubicBezTo>
                <a:cubicBezTo>
                  <a:pt x="222628" y="274365"/>
                  <a:pt x="208620" y="285750"/>
                  <a:pt x="191988" y="285750"/>
                </a:cubicBezTo>
                <a:lnTo>
                  <a:pt x="174129" y="285750"/>
                </a:lnTo>
                <a:cubicBezTo>
                  <a:pt x="164250" y="285750"/>
                  <a:pt x="156270" y="277769"/>
                  <a:pt x="156270" y="267891"/>
                </a:cubicBezTo>
                <a:lnTo>
                  <a:pt x="156270" y="17859"/>
                </a:lnTo>
                <a:cubicBezTo>
                  <a:pt x="156270" y="7981"/>
                  <a:pt x="164250" y="0"/>
                  <a:pt x="174129" y="0"/>
                </a:cubicBezTo>
                <a:lnTo>
                  <a:pt x="187523" y="0"/>
                </a:lnTo>
                <a:cubicBezTo>
                  <a:pt x="204769" y="0"/>
                  <a:pt x="218777" y="14008"/>
                  <a:pt x="218777" y="31254"/>
                </a:cubicBezTo>
                <a:close/>
              </a:path>
            </a:pathLst>
          </a:custGeom>
          <a:solidFill>
            <a:srgbClr val="C9A36A"/>
          </a:solidFill>
          <a:ln/>
        </p:spPr>
        <p:txBody>
          <a:bodyPr/>
          <a:lstStyle/>
          <a:p>
            <a:endParaRPr lang="en-IN"/>
          </a:p>
        </p:txBody>
      </p:sp>
      <p:sp>
        <p:nvSpPr>
          <p:cNvPr id="57" name="Text 55"/>
          <p:cNvSpPr/>
          <p:nvPr/>
        </p:nvSpPr>
        <p:spPr>
          <a:xfrm>
            <a:off x="6883963" y="4934482"/>
            <a:ext cx="4865688" cy="222250"/>
          </a:xfrm>
          <a:prstGeom prst="rect">
            <a:avLst/>
          </a:prstGeom>
          <a:noFill/>
          <a:ln/>
        </p:spPr>
        <p:txBody>
          <a:bodyPr wrap="square" lIns="0" tIns="0" rIns="0" bIns="0" rtlCol="0" anchor="ctr"/>
          <a:lstStyle/>
          <a:p>
            <a:pPr algn="ctr">
              <a:lnSpc>
                <a:spcPct val="120000"/>
              </a:lnSpc>
            </a:pPr>
            <a:r>
              <a:rPr lang="en-US" sz="1250" b="1" dirty="0">
                <a:solidFill>
                  <a:srgbClr val="F2F2F2"/>
                </a:solidFill>
                <a:latin typeface="Quattrocento Sans" pitchFamily="34" charset="0"/>
                <a:ea typeface="Quattrocento Sans" pitchFamily="34" charset="-122"/>
                <a:cs typeface="Quattrocento Sans" pitchFamily="34" charset="-120"/>
              </a:rPr>
              <a:t>Learning Outcome</a:t>
            </a:r>
            <a:endParaRPr lang="en-US" sz="1600" dirty="0"/>
          </a:p>
        </p:txBody>
      </p:sp>
      <p:sp>
        <p:nvSpPr>
          <p:cNvPr id="58" name="Text 56"/>
          <p:cNvSpPr/>
          <p:nvPr/>
        </p:nvSpPr>
        <p:spPr>
          <a:xfrm>
            <a:off x="6891900" y="5283732"/>
            <a:ext cx="4849813" cy="619125"/>
          </a:xfrm>
          <a:prstGeom prst="rect">
            <a:avLst/>
          </a:prstGeom>
          <a:noFill/>
          <a:ln/>
        </p:spPr>
        <p:txBody>
          <a:bodyPr wrap="square" lIns="0" tIns="0" rIns="0" bIns="0" rtlCol="0" anchor="ctr"/>
          <a:lstStyle/>
          <a:p>
            <a:pPr algn="ct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This comprehensive dataset enables the system to learn facial features accurately, recognize individuals under various conditions, and detect mask presence with high reliability.</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62318" y="362318"/>
            <a:ext cx="11530770" cy="181159"/>
          </a:xfrm>
          <a:prstGeom prst="rect">
            <a:avLst/>
          </a:prstGeom>
          <a:noFill/>
          <a:ln/>
        </p:spPr>
        <p:txBody>
          <a:bodyPr wrap="square" lIns="0" tIns="0" rIns="0" bIns="0" rtlCol="0" anchor="ctr"/>
          <a:lstStyle/>
          <a:p>
            <a:pPr>
              <a:lnSpc>
                <a:spcPct val="120000"/>
              </a:lnSpc>
            </a:pPr>
            <a:r>
              <a:rPr lang="en-US" sz="999" b="1" kern="0" spc="300" dirty="0">
                <a:solidFill>
                  <a:srgbClr val="C9A36A"/>
                </a:solidFill>
                <a:latin typeface="Quattrocento Sans" pitchFamily="34" charset="0"/>
                <a:ea typeface="Quattrocento Sans" pitchFamily="34" charset="-122"/>
                <a:cs typeface="Quattrocento Sans" pitchFamily="34" charset="-120"/>
              </a:rPr>
              <a:t>07 / Training</a:t>
            </a:r>
            <a:endParaRPr lang="en-US" sz="1600" dirty="0"/>
          </a:p>
        </p:txBody>
      </p:sp>
      <p:sp>
        <p:nvSpPr>
          <p:cNvPr id="3" name="Text 1"/>
          <p:cNvSpPr/>
          <p:nvPr/>
        </p:nvSpPr>
        <p:spPr>
          <a:xfrm>
            <a:off x="362318" y="615941"/>
            <a:ext cx="11684755" cy="434782"/>
          </a:xfrm>
          <a:prstGeom prst="rect">
            <a:avLst/>
          </a:prstGeom>
          <a:noFill/>
          <a:ln/>
        </p:spPr>
        <p:txBody>
          <a:bodyPr wrap="square" lIns="0" tIns="0" rIns="0" bIns="0" rtlCol="0" anchor="ctr"/>
          <a:lstStyle/>
          <a:p>
            <a:pPr>
              <a:lnSpc>
                <a:spcPct val="80000"/>
              </a:lnSpc>
            </a:pPr>
            <a:r>
              <a:rPr lang="en-US" sz="3423" b="1" dirty="0">
                <a:solidFill>
                  <a:srgbClr val="F2F2F2"/>
                </a:solidFill>
                <a:latin typeface="Oranienbaum" pitchFamily="34" charset="0"/>
                <a:ea typeface="Oranienbaum" pitchFamily="34" charset="-122"/>
                <a:cs typeface="Oranienbaum" pitchFamily="34" charset="-120"/>
              </a:rPr>
              <a:t>Model Training</a:t>
            </a:r>
            <a:endParaRPr lang="en-US" sz="1600" dirty="0"/>
          </a:p>
        </p:txBody>
      </p:sp>
      <p:sp>
        <p:nvSpPr>
          <p:cNvPr id="4" name="Shape 2"/>
          <p:cNvSpPr/>
          <p:nvPr/>
        </p:nvSpPr>
        <p:spPr>
          <a:xfrm>
            <a:off x="362318" y="1195649"/>
            <a:ext cx="724636" cy="36232"/>
          </a:xfrm>
          <a:custGeom>
            <a:avLst/>
            <a:gdLst/>
            <a:ahLst/>
            <a:cxnLst/>
            <a:rect l="l" t="t" r="r" b="b"/>
            <a:pathLst>
              <a:path w="724636" h="36232">
                <a:moveTo>
                  <a:pt x="0" y="0"/>
                </a:moveTo>
                <a:lnTo>
                  <a:pt x="724636" y="0"/>
                </a:lnTo>
                <a:lnTo>
                  <a:pt x="724636" y="36232"/>
                </a:lnTo>
                <a:lnTo>
                  <a:pt x="0" y="36232"/>
                </a:lnTo>
                <a:lnTo>
                  <a:pt x="0" y="0"/>
                </a:lnTo>
                <a:close/>
              </a:path>
            </a:pathLst>
          </a:custGeom>
          <a:solidFill>
            <a:srgbClr val="C9A36A"/>
          </a:solidFill>
          <a:ln/>
        </p:spPr>
        <p:txBody>
          <a:bodyPr/>
          <a:lstStyle/>
          <a:p>
            <a:endParaRPr lang="en-IN"/>
          </a:p>
        </p:txBody>
      </p:sp>
      <p:sp>
        <p:nvSpPr>
          <p:cNvPr id="5" name="Shape 3"/>
          <p:cNvSpPr/>
          <p:nvPr/>
        </p:nvSpPr>
        <p:spPr>
          <a:xfrm>
            <a:off x="365337" y="1452291"/>
            <a:ext cx="5621967" cy="4390086"/>
          </a:xfrm>
          <a:custGeom>
            <a:avLst/>
            <a:gdLst/>
            <a:ahLst/>
            <a:cxnLst/>
            <a:rect l="l" t="t" r="r" b="b"/>
            <a:pathLst>
              <a:path w="5621967" h="4390086">
                <a:moveTo>
                  <a:pt x="0" y="0"/>
                </a:moveTo>
                <a:lnTo>
                  <a:pt x="5621967" y="0"/>
                </a:lnTo>
                <a:lnTo>
                  <a:pt x="5621967" y="4390086"/>
                </a:lnTo>
                <a:lnTo>
                  <a:pt x="0" y="4390086"/>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612921" y="1708936"/>
            <a:ext cx="217391" cy="217391"/>
          </a:xfrm>
          <a:custGeom>
            <a:avLst/>
            <a:gdLst/>
            <a:ahLst/>
            <a:cxnLst/>
            <a:rect l="l" t="t" r="r" b="b"/>
            <a:pathLst>
              <a:path w="217391" h="217391">
                <a:moveTo>
                  <a:pt x="0" y="33967"/>
                </a:moveTo>
                <a:cubicBezTo>
                  <a:pt x="0" y="22716"/>
                  <a:pt x="9129" y="13587"/>
                  <a:pt x="20380" y="13587"/>
                </a:cubicBezTo>
                <a:lnTo>
                  <a:pt x="61141" y="13587"/>
                </a:lnTo>
                <a:cubicBezTo>
                  <a:pt x="72393" y="13587"/>
                  <a:pt x="81522" y="22716"/>
                  <a:pt x="81522" y="33967"/>
                </a:cubicBezTo>
                <a:lnTo>
                  <a:pt x="81522" y="40761"/>
                </a:lnTo>
                <a:lnTo>
                  <a:pt x="135869" y="40761"/>
                </a:lnTo>
                <a:lnTo>
                  <a:pt x="135869" y="33967"/>
                </a:lnTo>
                <a:cubicBezTo>
                  <a:pt x="135869" y="22716"/>
                  <a:pt x="144998" y="13587"/>
                  <a:pt x="156250" y="13587"/>
                </a:cubicBezTo>
                <a:lnTo>
                  <a:pt x="197010" y="13587"/>
                </a:lnTo>
                <a:cubicBezTo>
                  <a:pt x="208262" y="13587"/>
                  <a:pt x="217391" y="22716"/>
                  <a:pt x="217391" y="33967"/>
                </a:cubicBezTo>
                <a:lnTo>
                  <a:pt x="217391" y="74728"/>
                </a:lnTo>
                <a:cubicBezTo>
                  <a:pt x="217391" y="85980"/>
                  <a:pt x="208262" y="95108"/>
                  <a:pt x="197010" y="95108"/>
                </a:cubicBezTo>
                <a:lnTo>
                  <a:pt x="156250" y="95108"/>
                </a:lnTo>
                <a:cubicBezTo>
                  <a:pt x="144998" y="95108"/>
                  <a:pt x="135869" y="85980"/>
                  <a:pt x="135869" y="74728"/>
                </a:cubicBezTo>
                <a:lnTo>
                  <a:pt x="135869" y="67935"/>
                </a:lnTo>
                <a:lnTo>
                  <a:pt x="81522" y="67935"/>
                </a:lnTo>
                <a:lnTo>
                  <a:pt x="81522" y="74728"/>
                </a:lnTo>
                <a:cubicBezTo>
                  <a:pt x="81522" y="77828"/>
                  <a:pt x="80800" y="80800"/>
                  <a:pt x="79568" y="83432"/>
                </a:cubicBezTo>
                <a:lnTo>
                  <a:pt x="108695" y="122282"/>
                </a:lnTo>
                <a:lnTo>
                  <a:pt x="142663" y="122282"/>
                </a:lnTo>
                <a:cubicBezTo>
                  <a:pt x="153914" y="122282"/>
                  <a:pt x="163043" y="131411"/>
                  <a:pt x="163043" y="142663"/>
                </a:cubicBezTo>
                <a:lnTo>
                  <a:pt x="163043" y="183423"/>
                </a:lnTo>
                <a:cubicBezTo>
                  <a:pt x="163043" y="194675"/>
                  <a:pt x="153914" y="203804"/>
                  <a:pt x="142663" y="203804"/>
                </a:cubicBezTo>
                <a:lnTo>
                  <a:pt x="101902" y="203804"/>
                </a:lnTo>
                <a:cubicBezTo>
                  <a:pt x="90650" y="203804"/>
                  <a:pt x="81522" y="194675"/>
                  <a:pt x="81522" y="183423"/>
                </a:cubicBezTo>
                <a:lnTo>
                  <a:pt x="81522" y="142663"/>
                </a:lnTo>
                <a:cubicBezTo>
                  <a:pt x="81522" y="139563"/>
                  <a:pt x="82243" y="136591"/>
                  <a:pt x="83475" y="133959"/>
                </a:cubicBezTo>
                <a:lnTo>
                  <a:pt x="54348" y="95108"/>
                </a:lnTo>
                <a:lnTo>
                  <a:pt x="20380" y="95108"/>
                </a:lnTo>
                <a:cubicBezTo>
                  <a:pt x="9129" y="95108"/>
                  <a:pt x="0" y="85980"/>
                  <a:pt x="0" y="74728"/>
                </a:cubicBezTo>
                <a:lnTo>
                  <a:pt x="0" y="33967"/>
                </a:lnTo>
                <a:close/>
              </a:path>
            </a:pathLst>
          </a:custGeom>
          <a:solidFill>
            <a:srgbClr val="C9A36A"/>
          </a:solidFill>
          <a:ln/>
        </p:spPr>
        <p:txBody>
          <a:bodyPr/>
          <a:lstStyle/>
          <a:p>
            <a:endParaRPr lang="en-IN"/>
          </a:p>
        </p:txBody>
      </p:sp>
      <p:sp>
        <p:nvSpPr>
          <p:cNvPr id="7" name="Text 5"/>
          <p:cNvSpPr/>
          <p:nvPr/>
        </p:nvSpPr>
        <p:spPr>
          <a:xfrm>
            <a:off x="857486" y="1672704"/>
            <a:ext cx="5018104" cy="289854"/>
          </a:xfrm>
          <a:prstGeom prst="rect">
            <a:avLst/>
          </a:prstGeom>
          <a:noFill/>
          <a:ln/>
        </p:spPr>
        <p:txBody>
          <a:bodyPr wrap="square" lIns="0" tIns="0" rIns="0" bIns="0" rtlCol="0" anchor="ctr"/>
          <a:lstStyle/>
          <a:p>
            <a:pPr>
              <a:lnSpc>
                <a:spcPct val="110000"/>
              </a:lnSpc>
            </a:pPr>
            <a:r>
              <a:rPr lang="en-US" sz="1712" b="1" dirty="0">
                <a:solidFill>
                  <a:srgbClr val="F2F2F2"/>
                </a:solidFill>
                <a:latin typeface="Quattrocento Sans" pitchFamily="34" charset="0"/>
                <a:ea typeface="Quattrocento Sans" pitchFamily="34" charset="-122"/>
                <a:cs typeface="Quattrocento Sans" pitchFamily="34" charset="-120"/>
              </a:rPr>
              <a:t>Training Workflow</a:t>
            </a:r>
            <a:endParaRPr lang="en-US" sz="1600" dirty="0"/>
          </a:p>
        </p:txBody>
      </p:sp>
      <p:sp>
        <p:nvSpPr>
          <p:cNvPr id="8" name="Shape 6"/>
          <p:cNvSpPr/>
          <p:nvPr/>
        </p:nvSpPr>
        <p:spPr>
          <a:xfrm>
            <a:off x="585747" y="2143718"/>
            <a:ext cx="434782" cy="434782"/>
          </a:xfrm>
          <a:custGeom>
            <a:avLst/>
            <a:gdLst/>
            <a:ahLst/>
            <a:cxnLst/>
            <a:rect l="l" t="t" r="r" b="b"/>
            <a:pathLst>
              <a:path w="434782" h="434782">
                <a:moveTo>
                  <a:pt x="217391" y="0"/>
                </a:moveTo>
                <a:lnTo>
                  <a:pt x="217391" y="0"/>
                </a:lnTo>
                <a:cubicBezTo>
                  <a:pt x="337452" y="0"/>
                  <a:pt x="434782" y="97329"/>
                  <a:pt x="434782" y="217391"/>
                </a:cubicBezTo>
                <a:lnTo>
                  <a:pt x="434782" y="217391"/>
                </a:lnTo>
                <a:cubicBezTo>
                  <a:pt x="434782" y="337452"/>
                  <a:pt x="337452" y="434782"/>
                  <a:pt x="217391" y="434782"/>
                </a:cubicBezTo>
                <a:lnTo>
                  <a:pt x="217391" y="434782"/>
                </a:lnTo>
                <a:cubicBezTo>
                  <a:pt x="97329" y="434782"/>
                  <a:pt x="0" y="337452"/>
                  <a:pt x="0" y="217391"/>
                </a:cubicBezTo>
                <a:lnTo>
                  <a:pt x="0" y="217391"/>
                </a:lnTo>
                <a:cubicBezTo>
                  <a:pt x="0" y="97329"/>
                  <a:pt x="97329" y="0"/>
                  <a:pt x="217391" y="0"/>
                </a:cubicBezTo>
                <a:close/>
              </a:path>
            </a:pathLst>
          </a:custGeom>
          <a:solidFill>
            <a:srgbClr val="C9A36A"/>
          </a:solidFill>
          <a:ln/>
        </p:spPr>
        <p:txBody>
          <a:bodyPr/>
          <a:lstStyle/>
          <a:p>
            <a:endParaRPr lang="en-IN"/>
          </a:p>
        </p:txBody>
      </p:sp>
      <p:sp>
        <p:nvSpPr>
          <p:cNvPr id="9" name="Text 7"/>
          <p:cNvSpPr/>
          <p:nvPr/>
        </p:nvSpPr>
        <p:spPr>
          <a:xfrm>
            <a:off x="774360" y="2234297"/>
            <a:ext cx="144927" cy="253623"/>
          </a:xfrm>
          <a:prstGeom prst="rect">
            <a:avLst/>
          </a:prstGeom>
          <a:noFill/>
          <a:ln/>
        </p:spPr>
        <p:txBody>
          <a:bodyPr wrap="square" lIns="0" tIns="0" rIns="0" bIns="0" rtlCol="0" anchor="ctr"/>
          <a:lstStyle/>
          <a:p>
            <a:pPr>
              <a:lnSpc>
                <a:spcPct val="120000"/>
              </a:lnSpc>
            </a:pPr>
            <a:r>
              <a:rPr lang="en-US" sz="1426" b="1" dirty="0">
                <a:solidFill>
                  <a:srgbClr val="111111"/>
                </a:solidFill>
                <a:latin typeface="Quattrocento Sans" pitchFamily="34" charset="0"/>
                <a:ea typeface="Quattrocento Sans" pitchFamily="34" charset="-122"/>
                <a:cs typeface="Quattrocento Sans" pitchFamily="34" charset="-120"/>
              </a:rPr>
              <a:t>1</a:t>
            </a:r>
            <a:endParaRPr lang="en-US" sz="1600" dirty="0"/>
          </a:p>
        </p:txBody>
      </p:sp>
      <p:sp>
        <p:nvSpPr>
          <p:cNvPr id="10" name="Text 8"/>
          <p:cNvSpPr/>
          <p:nvPr/>
        </p:nvSpPr>
        <p:spPr>
          <a:xfrm>
            <a:off x="1165456" y="2143718"/>
            <a:ext cx="4682960" cy="253623"/>
          </a:xfrm>
          <a:prstGeom prst="rect">
            <a:avLst/>
          </a:prstGeom>
          <a:noFill/>
          <a:ln/>
        </p:spPr>
        <p:txBody>
          <a:bodyPr wrap="square" lIns="0" tIns="0" rIns="0" bIns="0" rtlCol="0" anchor="ctr"/>
          <a:lstStyle/>
          <a:p>
            <a:pPr>
              <a:lnSpc>
                <a:spcPct val="130000"/>
              </a:lnSpc>
            </a:pPr>
            <a:r>
              <a:rPr lang="en-US" sz="1284" b="1" dirty="0">
                <a:solidFill>
                  <a:srgbClr val="F2F2F2"/>
                </a:solidFill>
                <a:latin typeface="Quattrocento Sans" pitchFamily="34" charset="0"/>
                <a:ea typeface="Quattrocento Sans" pitchFamily="34" charset="-122"/>
                <a:cs typeface="Quattrocento Sans" pitchFamily="34" charset="-120"/>
              </a:rPr>
              <a:t>Load Dataset Images</a:t>
            </a:r>
            <a:endParaRPr lang="en-US" sz="1600" dirty="0"/>
          </a:p>
        </p:txBody>
      </p:sp>
      <p:sp>
        <p:nvSpPr>
          <p:cNvPr id="11" name="Text 9"/>
          <p:cNvSpPr/>
          <p:nvPr/>
        </p:nvSpPr>
        <p:spPr>
          <a:xfrm>
            <a:off x="1165456" y="2433572"/>
            <a:ext cx="4673902" cy="471013"/>
          </a:xfrm>
          <a:prstGeom prst="rect">
            <a:avLst/>
          </a:prstGeom>
          <a:noFill/>
          <a:ln/>
        </p:spPr>
        <p:txBody>
          <a:bodyPr wrap="square" lIns="0" tIns="0" rIns="0" bIns="0" rtlCol="0" anchor="ctr"/>
          <a:lstStyle/>
          <a:p>
            <a:pP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System reads all preprocessed images from dataset folders and organizes them with corresponding labels for supervised learning.</a:t>
            </a:r>
            <a:endParaRPr lang="en-US" sz="1600" dirty="0"/>
          </a:p>
        </p:txBody>
      </p:sp>
      <p:sp>
        <p:nvSpPr>
          <p:cNvPr id="12" name="Shape 10"/>
          <p:cNvSpPr/>
          <p:nvPr/>
        </p:nvSpPr>
        <p:spPr>
          <a:xfrm>
            <a:off x="585747" y="3049513"/>
            <a:ext cx="434782" cy="434782"/>
          </a:xfrm>
          <a:custGeom>
            <a:avLst/>
            <a:gdLst/>
            <a:ahLst/>
            <a:cxnLst/>
            <a:rect l="l" t="t" r="r" b="b"/>
            <a:pathLst>
              <a:path w="434782" h="434782">
                <a:moveTo>
                  <a:pt x="217391" y="0"/>
                </a:moveTo>
                <a:lnTo>
                  <a:pt x="217391" y="0"/>
                </a:lnTo>
                <a:cubicBezTo>
                  <a:pt x="337452" y="0"/>
                  <a:pt x="434782" y="97329"/>
                  <a:pt x="434782" y="217391"/>
                </a:cubicBezTo>
                <a:lnTo>
                  <a:pt x="434782" y="217391"/>
                </a:lnTo>
                <a:cubicBezTo>
                  <a:pt x="434782" y="337452"/>
                  <a:pt x="337452" y="434782"/>
                  <a:pt x="217391" y="434782"/>
                </a:cubicBezTo>
                <a:lnTo>
                  <a:pt x="217391" y="434782"/>
                </a:lnTo>
                <a:cubicBezTo>
                  <a:pt x="97329" y="434782"/>
                  <a:pt x="0" y="337452"/>
                  <a:pt x="0" y="217391"/>
                </a:cubicBezTo>
                <a:lnTo>
                  <a:pt x="0" y="217391"/>
                </a:lnTo>
                <a:cubicBezTo>
                  <a:pt x="0" y="97329"/>
                  <a:pt x="97329" y="0"/>
                  <a:pt x="217391" y="0"/>
                </a:cubicBezTo>
                <a:close/>
              </a:path>
            </a:pathLst>
          </a:custGeom>
          <a:solidFill>
            <a:srgbClr val="C9A36A"/>
          </a:solidFill>
          <a:ln/>
        </p:spPr>
        <p:txBody>
          <a:bodyPr/>
          <a:lstStyle/>
          <a:p>
            <a:endParaRPr lang="en-IN"/>
          </a:p>
        </p:txBody>
      </p:sp>
      <p:sp>
        <p:nvSpPr>
          <p:cNvPr id="13" name="Text 11"/>
          <p:cNvSpPr/>
          <p:nvPr/>
        </p:nvSpPr>
        <p:spPr>
          <a:xfrm>
            <a:off x="756999" y="3140092"/>
            <a:ext cx="181159" cy="253623"/>
          </a:xfrm>
          <a:prstGeom prst="rect">
            <a:avLst/>
          </a:prstGeom>
          <a:noFill/>
          <a:ln/>
        </p:spPr>
        <p:txBody>
          <a:bodyPr wrap="square" lIns="0" tIns="0" rIns="0" bIns="0" rtlCol="0" anchor="ctr"/>
          <a:lstStyle/>
          <a:p>
            <a:pPr>
              <a:lnSpc>
                <a:spcPct val="120000"/>
              </a:lnSpc>
            </a:pPr>
            <a:r>
              <a:rPr lang="en-US" sz="1426" b="1" dirty="0">
                <a:solidFill>
                  <a:srgbClr val="111111"/>
                </a:solidFill>
                <a:latin typeface="Quattrocento Sans" pitchFamily="34" charset="0"/>
                <a:ea typeface="Quattrocento Sans" pitchFamily="34" charset="-122"/>
                <a:cs typeface="Quattrocento Sans" pitchFamily="34" charset="-120"/>
              </a:rPr>
              <a:t>2</a:t>
            </a:r>
            <a:endParaRPr lang="en-US" sz="1600" dirty="0"/>
          </a:p>
        </p:txBody>
      </p:sp>
      <p:sp>
        <p:nvSpPr>
          <p:cNvPr id="14" name="Text 12"/>
          <p:cNvSpPr/>
          <p:nvPr/>
        </p:nvSpPr>
        <p:spPr>
          <a:xfrm>
            <a:off x="1165456" y="3049513"/>
            <a:ext cx="4682960" cy="253623"/>
          </a:xfrm>
          <a:prstGeom prst="rect">
            <a:avLst/>
          </a:prstGeom>
          <a:noFill/>
          <a:ln/>
        </p:spPr>
        <p:txBody>
          <a:bodyPr wrap="square" lIns="0" tIns="0" rIns="0" bIns="0" rtlCol="0" anchor="ctr"/>
          <a:lstStyle/>
          <a:p>
            <a:pPr>
              <a:lnSpc>
                <a:spcPct val="130000"/>
              </a:lnSpc>
            </a:pPr>
            <a:r>
              <a:rPr lang="en-US" sz="1284" b="1" dirty="0">
                <a:solidFill>
                  <a:srgbClr val="F2F2F2"/>
                </a:solidFill>
                <a:latin typeface="Quattrocento Sans" pitchFamily="34" charset="0"/>
                <a:ea typeface="Quattrocento Sans" pitchFamily="34" charset="-122"/>
                <a:cs typeface="Quattrocento Sans" pitchFamily="34" charset="-120"/>
              </a:rPr>
              <a:t>Extract Features with LBPH</a:t>
            </a:r>
            <a:endParaRPr lang="en-US" sz="1600" dirty="0"/>
          </a:p>
        </p:txBody>
      </p:sp>
      <p:sp>
        <p:nvSpPr>
          <p:cNvPr id="15" name="Text 13"/>
          <p:cNvSpPr/>
          <p:nvPr/>
        </p:nvSpPr>
        <p:spPr>
          <a:xfrm>
            <a:off x="1165456" y="3339367"/>
            <a:ext cx="4673902" cy="471013"/>
          </a:xfrm>
          <a:prstGeom prst="rect">
            <a:avLst/>
          </a:prstGeom>
          <a:noFill/>
          <a:ln/>
        </p:spPr>
        <p:txBody>
          <a:bodyPr wrap="square" lIns="0" tIns="0" rIns="0" bIns="0" rtlCol="0" anchor="ctr"/>
          <a:lstStyle/>
          <a:p>
            <a:pP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LBPH algorithm analyzes each image to extract unique facial features by comparing pixel intensity patterns in local neighborhoods.</a:t>
            </a:r>
            <a:endParaRPr lang="en-US" sz="1600" dirty="0"/>
          </a:p>
        </p:txBody>
      </p:sp>
      <p:sp>
        <p:nvSpPr>
          <p:cNvPr id="16" name="Shape 14"/>
          <p:cNvSpPr/>
          <p:nvPr/>
        </p:nvSpPr>
        <p:spPr>
          <a:xfrm>
            <a:off x="585747" y="3955308"/>
            <a:ext cx="434782" cy="434782"/>
          </a:xfrm>
          <a:custGeom>
            <a:avLst/>
            <a:gdLst/>
            <a:ahLst/>
            <a:cxnLst/>
            <a:rect l="l" t="t" r="r" b="b"/>
            <a:pathLst>
              <a:path w="434782" h="434782">
                <a:moveTo>
                  <a:pt x="217391" y="0"/>
                </a:moveTo>
                <a:lnTo>
                  <a:pt x="217391" y="0"/>
                </a:lnTo>
                <a:cubicBezTo>
                  <a:pt x="337452" y="0"/>
                  <a:pt x="434782" y="97329"/>
                  <a:pt x="434782" y="217391"/>
                </a:cubicBezTo>
                <a:lnTo>
                  <a:pt x="434782" y="217391"/>
                </a:lnTo>
                <a:cubicBezTo>
                  <a:pt x="434782" y="337452"/>
                  <a:pt x="337452" y="434782"/>
                  <a:pt x="217391" y="434782"/>
                </a:cubicBezTo>
                <a:lnTo>
                  <a:pt x="217391" y="434782"/>
                </a:lnTo>
                <a:cubicBezTo>
                  <a:pt x="97329" y="434782"/>
                  <a:pt x="0" y="337452"/>
                  <a:pt x="0" y="217391"/>
                </a:cubicBezTo>
                <a:lnTo>
                  <a:pt x="0" y="217391"/>
                </a:lnTo>
                <a:cubicBezTo>
                  <a:pt x="0" y="97329"/>
                  <a:pt x="97329" y="0"/>
                  <a:pt x="217391" y="0"/>
                </a:cubicBezTo>
                <a:close/>
              </a:path>
            </a:pathLst>
          </a:custGeom>
          <a:solidFill>
            <a:srgbClr val="C9A36A"/>
          </a:solidFill>
          <a:ln/>
        </p:spPr>
        <p:txBody>
          <a:bodyPr/>
          <a:lstStyle/>
          <a:p>
            <a:endParaRPr lang="en-IN"/>
          </a:p>
        </p:txBody>
      </p:sp>
      <p:sp>
        <p:nvSpPr>
          <p:cNvPr id="17" name="Text 15"/>
          <p:cNvSpPr/>
          <p:nvPr/>
        </p:nvSpPr>
        <p:spPr>
          <a:xfrm>
            <a:off x="754640" y="4045887"/>
            <a:ext cx="190217" cy="253623"/>
          </a:xfrm>
          <a:prstGeom prst="rect">
            <a:avLst/>
          </a:prstGeom>
          <a:noFill/>
          <a:ln/>
        </p:spPr>
        <p:txBody>
          <a:bodyPr wrap="square" lIns="0" tIns="0" rIns="0" bIns="0" rtlCol="0" anchor="ctr"/>
          <a:lstStyle/>
          <a:p>
            <a:pPr>
              <a:lnSpc>
                <a:spcPct val="120000"/>
              </a:lnSpc>
            </a:pPr>
            <a:r>
              <a:rPr lang="en-US" sz="1426" b="1" dirty="0">
                <a:solidFill>
                  <a:srgbClr val="111111"/>
                </a:solidFill>
                <a:latin typeface="Quattrocento Sans" pitchFamily="34" charset="0"/>
                <a:ea typeface="Quattrocento Sans" pitchFamily="34" charset="-122"/>
                <a:cs typeface="Quattrocento Sans" pitchFamily="34" charset="-120"/>
              </a:rPr>
              <a:t>3</a:t>
            </a:r>
            <a:endParaRPr lang="en-US" sz="1600" dirty="0"/>
          </a:p>
        </p:txBody>
      </p:sp>
      <p:sp>
        <p:nvSpPr>
          <p:cNvPr id="18" name="Text 16"/>
          <p:cNvSpPr/>
          <p:nvPr/>
        </p:nvSpPr>
        <p:spPr>
          <a:xfrm>
            <a:off x="1165456" y="3955308"/>
            <a:ext cx="4682960" cy="253623"/>
          </a:xfrm>
          <a:prstGeom prst="rect">
            <a:avLst/>
          </a:prstGeom>
          <a:noFill/>
          <a:ln/>
        </p:spPr>
        <p:txBody>
          <a:bodyPr wrap="square" lIns="0" tIns="0" rIns="0" bIns="0" rtlCol="0" anchor="ctr"/>
          <a:lstStyle/>
          <a:p>
            <a:pPr>
              <a:lnSpc>
                <a:spcPct val="130000"/>
              </a:lnSpc>
            </a:pPr>
            <a:r>
              <a:rPr lang="en-US" sz="1284" b="1" dirty="0">
                <a:solidFill>
                  <a:srgbClr val="F2F2F2"/>
                </a:solidFill>
                <a:latin typeface="Quattrocento Sans" pitchFamily="34" charset="0"/>
                <a:ea typeface="Quattrocento Sans" pitchFamily="34" charset="-122"/>
                <a:cs typeface="Quattrocento Sans" pitchFamily="34" charset="-120"/>
              </a:rPr>
              <a:t>Train Model with Labels</a:t>
            </a:r>
            <a:endParaRPr lang="en-US" sz="1600" dirty="0"/>
          </a:p>
        </p:txBody>
      </p:sp>
      <p:sp>
        <p:nvSpPr>
          <p:cNvPr id="19" name="Text 17"/>
          <p:cNvSpPr/>
          <p:nvPr/>
        </p:nvSpPr>
        <p:spPr>
          <a:xfrm>
            <a:off x="1165456" y="4245162"/>
            <a:ext cx="4673902" cy="471013"/>
          </a:xfrm>
          <a:prstGeom prst="rect">
            <a:avLst/>
          </a:prstGeom>
          <a:noFill/>
          <a:ln/>
        </p:spPr>
        <p:txBody>
          <a:bodyPr wrap="square" lIns="0" tIns="0" rIns="0" bIns="0" rtlCol="0" anchor="ctr"/>
          <a:lstStyle/>
          <a:p>
            <a:pP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Model learns to associate extracted features with person IDs, building a recognition database that maps features to identities.</a:t>
            </a:r>
            <a:endParaRPr lang="en-US" sz="1600" dirty="0"/>
          </a:p>
        </p:txBody>
      </p:sp>
      <p:sp>
        <p:nvSpPr>
          <p:cNvPr id="20" name="Shape 18"/>
          <p:cNvSpPr/>
          <p:nvPr/>
        </p:nvSpPr>
        <p:spPr>
          <a:xfrm>
            <a:off x="585747" y="4861103"/>
            <a:ext cx="434782" cy="434782"/>
          </a:xfrm>
          <a:custGeom>
            <a:avLst/>
            <a:gdLst/>
            <a:ahLst/>
            <a:cxnLst/>
            <a:rect l="l" t="t" r="r" b="b"/>
            <a:pathLst>
              <a:path w="434782" h="434782">
                <a:moveTo>
                  <a:pt x="217391" y="0"/>
                </a:moveTo>
                <a:lnTo>
                  <a:pt x="217391" y="0"/>
                </a:lnTo>
                <a:cubicBezTo>
                  <a:pt x="337452" y="0"/>
                  <a:pt x="434782" y="97329"/>
                  <a:pt x="434782" y="217391"/>
                </a:cubicBezTo>
                <a:lnTo>
                  <a:pt x="434782" y="217391"/>
                </a:lnTo>
                <a:cubicBezTo>
                  <a:pt x="434782" y="337452"/>
                  <a:pt x="337452" y="434782"/>
                  <a:pt x="217391" y="434782"/>
                </a:cubicBezTo>
                <a:lnTo>
                  <a:pt x="217391" y="434782"/>
                </a:lnTo>
                <a:cubicBezTo>
                  <a:pt x="97329" y="434782"/>
                  <a:pt x="0" y="337452"/>
                  <a:pt x="0" y="217391"/>
                </a:cubicBezTo>
                <a:lnTo>
                  <a:pt x="0" y="217391"/>
                </a:lnTo>
                <a:cubicBezTo>
                  <a:pt x="0" y="97329"/>
                  <a:pt x="97329" y="0"/>
                  <a:pt x="217391" y="0"/>
                </a:cubicBezTo>
                <a:close/>
              </a:path>
            </a:pathLst>
          </a:custGeom>
          <a:solidFill>
            <a:srgbClr val="C9A36A"/>
          </a:solidFill>
          <a:ln/>
        </p:spPr>
        <p:txBody>
          <a:bodyPr/>
          <a:lstStyle/>
          <a:p>
            <a:endParaRPr lang="en-IN"/>
          </a:p>
        </p:txBody>
      </p:sp>
      <p:sp>
        <p:nvSpPr>
          <p:cNvPr id="21" name="Text 19"/>
          <p:cNvSpPr/>
          <p:nvPr/>
        </p:nvSpPr>
        <p:spPr>
          <a:xfrm>
            <a:off x="757094" y="4951682"/>
            <a:ext cx="181159" cy="253623"/>
          </a:xfrm>
          <a:prstGeom prst="rect">
            <a:avLst/>
          </a:prstGeom>
          <a:noFill/>
          <a:ln/>
        </p:spPr>
        <p:txBody>
          <a:bodyPr wrap="square" lIns="0" tIns="0" rIns="0" bIns="0" rtlCol="0" anchor="ctr"/>
          <a:lstStyle/>
          <a:p>
            <a:pPr>
              <a:lnSpc>
                <a:spcPct val="120000"/>
              </a:lnSpc>
            </a:pPr>
            <a:r>
              <a:rPr lang="en-US" sz="1426" b="1" dirty="0">
                <a:solidFill>
                  <a:srgbClr val="111111"/>
                </a:solidFill>
                <a:latin typeface="Quattrocento Sans" pitchFamily="34" charset="0"/>
                <a:ea typeface="Quattrocento Sans" pitchFamily="34" charset="-122"/>
                <a:cs typeface="Quattrocento Sans" pitchFamily="34" charset="-120"/>
              </a:rPr>
              <a:t>4</a:t>
            </a:r>
            <a:endParaRPr lang="en-US" sz="1600" dirty="0"/>
          </a:p>
        </p:txBody>
      </p:sp>
      <p:sp>
        <p:nvSpPr>
          <p:cNvPr id="22" name="Text 20"/>
          <p:cNvSpPr/>
          <p:nvPr/>
        </p:nvSpPr>
        <p:spPr>
          <a:xfrm>
            <a:off x="1165456" y="4861103"/>
            <a:ext cx="4682960" cy="253623"/>
          </a:xfrm>
          <a:prstGeom prst="rect">
            <a:avLst/>
          </a:prstGeom>
          <a:noFill/>
          <a:ln/>
        </p:spPr>
        <p:txBody>
          <a:bodyPr wrap="square" lIns="0" tIns="0" rIns="0" bIns="0" rtlCol="0" anchor="ctr"/>
          <a:lstStyle/>
          <a:p>
            <a:pPr>
              <a:lnSpc>
                <a:spcPct val="130000"/>
              </a:lnSpc>
            </a:pPr>
            <a:r>
              <a:rPr lang="en-US" sz="1284" b="1" dirty="0">
                <a:solidFill>
                  <a:srgbClr val="F2F2F2"/>
                </a:solidFill>
                <a:latin typeface="Quattrocento Sans" pitchFamily="34" charset="0"/>
                <a:ea typeface="Quattrocento Sans" pitchFamily="34" charset="-122"/>
                <a:cs typeface="Quattrocento Sans" pitchFamily="34" charset="-120"/>
              </a:rPr>
              <a:t>Save Trained Model</a:t>
            </a:r>
            <a:endParaRPr lang="en-US" sz="1600" dirty="0"/>
          </a:p>
        </p:txBody>
      </p:sp>
      <p:sp>
        <p:nvSpPr>
          <p:cNvPr id="23" name="Text 21"/>
          <p:cNvSpPr/>
          <p:nvPr/>
        </p:nvSpPr>
        <p:spPr>
          <a:xfrm>
            <a:off x="1165456" y="5150957"/>
            <a:ext cx="4673902" cy="471013"/>
          </a:xfrm>
          <a:prstGeom prst="rect">
            <a:avLst/>
          </a:prstGeom>
          <a:noFill/>
          <a:ln/>
        </p:spPr>
        <p:txBody>
          <a:bodyPr wrap="square" lIns="0" tIns="0" rIns="0" bIns="0" rtlCol="0" anchor="ctr"/>
          <a:lstStyle/>
          <a:p>
            <a:pP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Trained model is saved as trainer.yml file, which contains all learned parameters and can be loaded for real-time recognition.</a:t>
            </a:r>
            <a:endParaRPr lang="en-US" sz="1600" dirty="0"/>
          </a:p>
        </p:txBody>
      </p:sp>
      <p:sp>
        <p:nvSpPr>
          <p:cNvPr id="24" name="Shape 22"/>
          <p:cNvSpPr/>
          <p:nvPr/>
        </p:nvSpPr>
        <p:spPr>
          <a:xfrm>
            <a:off x="6206677" y="1452291"/>
            <a:ext cx="5621967" cy="3239727"/>
          </a:xfrm>
          <a:custGeom>
            <a:avLst/>
            <a:gdLst/>
            <a:ahLst/>
            <a:cxnLst/>
            <a:rect l="l" t="t" r="r" b="b"/>
            <a:pathLst>
              <a:path w="5621967" h="3239727">
                <a:moveTo>
                  <a:pt x="0" y="0"/>
                </a:moveTo>
                <a:lnTo>
                  <a:pt x="5621967" y="0"/>
                </a:lnTo>
                <a:lnTo>
                  <a:pt x="5621967" y="3239727"/>
                </a:lnTo>
                <a:lnTo>
                  <a:pt x="0" y="3239727"/>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25" name="Text 23"/>
          <p:cNvSpPr/>
          <p:nvPr/>
        </p:nvSpPr>
        <p:spPr>
          <a:xfrm>
            <a:off x="6427087" y="1672704"/>
            <a:ext cx="5289842" cy="289854"/>
          </a:xfrm>
          <a:prstGeom prst="rect">
            <a:avLst/>
          </a:prstGeom>
          <a:noFill/>
          <a:ln/>
        </p:spPr>
        <p:txBody>
          <a:bodyPr wrap="square" lIns="0" tIns="0" rIns="0" bIns="0" rtlCol="0" anchor="ctr"/>
          <a:lstStyle/>
          <a:p>
            <a:pPr>
              <a:lnSpc>
                <a:spcPct val="110000"/>
              </a:lnSpc>
            </a:pPr>
            <a:r>
              <a:rPr lang="en-US" sz="1712" b="1" dirty="0">
                <a:solidFill>
                  <a:srgbClr val="C9A36A"/>
                </a:solidFill>
                <a:latin typeface="Quattrocento Sans" pitchFamily="34" charset="0"/>
                <a:ea typeface="Quattrocento Sans" pitchFamily="34" charset="-122"/>
                <a:cs typeface="Quattrocento Sans" pitchFamily="34" charset="-120"/>
              </a:rPr>
              <a:t>LBPH Algorithm</a:t>
            </a:r>
            <a:endParaRPr lang="en-US" sz="1600" dirty="0"/>
          </a:p>
        </p:txBody>
      </p:sp>
      <p:sp>
        <p:nvSpPr>
          <p:cNvPr id="26" name="Text 24"/>
          <p:cNvSpPr/>
          <p:nvPr/>
        </p:nvSpPr>
        <p:spPr>
          <a:xfrm>
            <a:off x="6427087" y="2107486"/>
            <a:ext cx="5253611" cy="706520"/>
          </a:xfrm>
          <a:prstGeom prst="rect">
            <a:avLst/>
          </a:prstGeom>
          <a:noFill/>
          <a:ln/>
        </p:spPr>
        <p:txBody>
          <a:bodyPr wrap="square" lIns="0" tIns="0" rIns="0" bIns="0" rtlCol="0" anchor="ctr"/>
          <a:lstStyle/>
          <a:p>
            <a:pP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Local Binary Patterns Histograms is a robust face recognition algorithm that works by comparing each pixel with its neighbors and creating binary patterns that represent facial texture.</a:t>
            </a:r>
            <a:endParaRPr lang="en-US" sz="1600" dirty="0"/>
          </a:p>
        </p:txBody>
      </p:sp>
      <p:sp>
        <p:nvSpPr>
          <p:cNvPr id="27" name="Shape 25"/>
          <p:cNvSpPr/>
          <p:nvPr/>
        </p:nvSpPr>
        <p:spPr>
          <a:xfrm>
            <a:off x="6430107" y="2961952"/>
            <a:ext cx="2524149" cy="694443"/>
          </a:xfrm>
          <a:custGeom>
            <a:avLst/>
            <a:gdLst/>
            <a:ahLst/>
            <a:cxnLst/>
            <a:rect l="l" t="t" r="r" b="b"/>
            <a:pathLst>
              <a:path w="2524149" h="694443">
                <a:moveTo>
                  <a:pt x="0" y="0"/>
                </a:moveTo>
                <a:lnTo>
                  <a:pt x="2524149" y="0"/>
                </a:lnTo>
                <a:lnTo>
                  <a:pt x="2524149" y="694443"/>
                </a:lnTo>
                <a:lnTo>
                  <a:pt x="0" y="694443"/>
                </a:lnTo>
                <a:lnTo>
                  <a:pt x="0" y="0"/>
                </a:lnTo>
                <a:close/>
              </a:path>
            </a:pathLst>
          </a:custGeom>
          <a:solidFill>
            <a:srgbClr val="111111"/>
          </a:solidFill>
          <a:ln w="8467">
            <a:solidFill>
              <a:srgbClr val="2B2B2B"/>
            </a:solidFill>
            <a:prstDash val="solid"/>
          </a:ln>
        </p:spPr>
        <p:txBody>
          <a:bodyPr/>
          <a:lstStyle/>
          <a:p>
            <a:endParaRPr lang="en-IN"/>
          </a:p>
        </p:txBody>
      </p:sp>
      <p:sp>
        <p:nvSpPr>
          <p:cNvPr id="28" name="Text 26"/>
          <p:cNvSpPr/>
          <p:nvPr/>
        </p:nvSpPr>
        <p:spPr>
          <a:xfrm>
            <a:off x="6487473" y="3073666"/>
            <a:ext cx="2409415" cy="289854"/>
          </a:xfrm>
          <a:prstGeom prst="rect">
            <a:avLst/>
          </a:prstGeom>
          <a:noFill/>
          <a:ln/>
        </p:spPr>
        <p:txBody>
          <a:bodyPr wrap="square" lIns="0" tIns="0" rIns="0" bIns="0" rtlCol="0" anchor="ctr"/>
          <a:lstStyle/>
          <a:p>
            <a:pPr algn="ctr">
              <a:lnSpc>
                <a:spcPct val="110000"/>
              </a:lnSpc>
            </a:pPr>
            <a:r>
              <a:rPr lang="en-US" sz="1712" b="1" dirty="0">
                <a:solidFill>
                  <a:srgbClr val="C9A36A"/>
                </a:solidFill>
                <a:latin typeface="Quattrocento Sans" pitchFamily="34" charset="0"/>
                <a:ea typeface="Quattrocento Sans" pitchFamily="34" charset="-122"/>
                <a:cs typeface="Quattrocento Sans" pitchFamily="34" charset="-120"/>
              </a:rPr>
              <a:t>Robust</a:t>
            </a:r>
            <a:endParaRPr lang="en-US" sz="1600" dirty="0"/>
          </a:p>
        </p:txBody>
      </p:sp>
      <p:sp>
        <p:nvSpPr>
          <p:cNvPr id="29" name="Text 27"/>
          <p:cNvSpPr/>
          <p:nvPr/>
        </p:nvSpPr>
        <p:spPr>
          <a:xfrm>
            <a:off x="6510118" y="3363520"/>
            <a:ext cx="2364125" cy="181159"/>
          </a:xfrm>
          <a:prstGeom prst="rect">
            <a:avLst/>
          </a:prstGeom>
          <a:noFill/>
          <a:ln/>
        </p:spPr>
        <p:txBody>
          <a:bodyPr wrap="square" lIns="0" tIns="0" rIns="0" bIns="0" rtlCol="0" anchor="ctr"/>
          <a:lstStyle/>
          <a:p>
            <a:pPr algn="ctr">
              <a:lnSpc>
                <a:spcPct val="120000"/>
              </a:lnSpc>
            </a:pPr>
            <a:r>
              <a:rPr lang="en-US" sz="999" dirty="0">
                <a:solidFill>
                  <a:srgbClr val="A3A3A3"/>
                </a:solidFill>
                <a:latin typeface="Quattrocento Sans" pitchFamily="34" charset="0"/>
                <a:ea typeface="Quattrocento Sans" pitchFamily="34" charset="-122"/>
                <a:cs typeface="Quattrocento Sans" pitchFamily="34" charset="-120"/>
              </a:rPr>
              <a:t>Lighting invariant</a:t>
            </a:r>
            <a:endParaRPr lang="en-US" sz="1600" dirty="0"/>
          </a:p>
        </p:txBody>
      </p:sp>
      <p:sp>
        <p:nvSpPr>
          <p:cNvPr id="30" name="Shape 28"/>
          <p:cNvSpPr/>
          <p:nvPr/>
        </p:nvSpPr>
        <p:spPr>
          <a:xfrm>
            <a:off x="9072952" y="2961952"/>
            <a:ext cx="2524149" cy="694443"/>
          </a:xfrm>
          <a:custGeom>
            <a:avLst/>
            <a:gdLst/>
            <a:ahLst/>
            <a:cxnLst/>
            <a:rect l="l" t="t" r="r" b="b"/>
            <a:pathLst>
              <a:path w="2524149" h="694443">
                <a:moveTo>
                  <a:pt x="0" y="0"/>
                </a:moveTo>
                <a:lnTo>
                  <a:pt x="2524149" y="0"/>
                </a:lnTo>
                <a:lnTo>
                  <a:pt x="2524149" y="694443"/>
                </a:lnTo>
                <a:lnTo>
                  <a:pt x="0" y="694443"/>
                </a:lnTo>
                <a:lnTo>
                  <a:pt x="0" y="0"/>
                </a:lnTo>
                <a:close/>
              </a:path>
            </a:pathLst>
          </a:custGeom>
          <a:solidFill>
            <a:srgbClr val="111111"/>
          </a:solidFill>
          <a:ln w="8467">
            <a:solidFill>
              <a:srgbClr val="2B2B2B"/>
            </a:solidFill>
            <a:prstDash val="solid"/>
          </a:ln>
        </p:spPr>
        <p:txBody>
          <a:bodyPr/>
          <a:lstStyle/>
          <a:p>
            <a:endParaRPr lang="en-IN"/>
          </a:p>
        </p:txBody>
      </p:sp>
      <p:sp>
        <p:nvSpPr>
          <p:cNvPr id="31" name="Text 29"/>
          <p:cNvSpPr/>
          <p:nvPr/>
        </p:nvSpPr>
        <p:spPr>
          <a:xfrm>
            <a:off x="9130319" y="3073666"/>
            <a:ext cx="2409415" cy="289854"/>
          </a:xfrm>
          <a:prstGeom prst="rect">
            <a:avLst/>
          </a:prstGeom>
          <a:noFill/>
          <a:ln/>
        </p:spPr>
        <p:txBody>
          <a:bodyPr wrap="square" lIns="0" tIns="0" rIns="0" bIns="0" rtlCol="0" anchor="ctr"/>
          <a:lstStyle/>
          <a:p>
            <a:pPr algn="ctr">
              <a:lnSpc>
                <a:spcPct val="110000"/>
              </a:lnSpc>
            </a:pPr>
            <a:r>
              <a:rPr lang="en-US" sz="1712" b="1" dirty="0">
                <a:solidFill>
                  <a:srgbClr val="C9A36A"/>
                </a:solidFill>
                <a:latin typeface="Quattrocento Sans" pitchFamily="34" charset="0"/>
                <a:ea typeface="Quattrocento Sans" pitchFamily="34" charset="-122"/>
                <a:cs typeface="Quattrocento Sans" pitchFamily="34" charset="-120"/>
              </a:rPr>
              <a:t>Fast</a:t>
            </a:r>
            <a:endParaRPr lang="en-US" sz="1600" dirty="0"/>
          </a:p>
        </p:txBody>
      </p:sp>
      <p:sp>
        <p:nvSpPr>
          <p:cNvPr id="32" name="Text 30"/>
          <p:cNvSpPr/>
          <p:nvPr/>
        </p:nvSpPr>
        <p:spPr>
          <a:xfrm>
            <a:off x="9152964" y="3363520"/>
            <a:ext cx="2364125" cy="181159"/>
          </a:xfrm>
          <a:prstGeom prst="rect">
            <a:avLst/>
          </a:prstGeom>
          <a:noFill/>
          <a:ln/>
        </p:spPr>
        <p:txBody>
          <a:bodyPr wrap="square" lIns="0" tIns="0" rIns="0" bIns="0" rtlCol="0" anchor="ctr"/>
          <a:lstStyle/>
          <a:p>
            <a:pPr algn="ctr">
              <a:lnSpc>
                <a:spcPct val="120000"/>
              </a:lnSpc>
            </a:pPr>
            <a:r>
              <a:rPr lang="en-US" sz="999" dirty="0">
                <a:solidFill>
                  <a:srgbClr val="A3A3A3"/>
                </a:solidFill>
                <a:latin typeface="Quattrocento Sans" pitchFamily="34" charset="0"/>
                <a:ea typeface="Quattrocento Sans" pitchFamily="34" charset="-122"/>
                <a:cs typeface="Quattrocento Sans" pitchFamily="34" charset="-120"/>
              </a:rPr>
              <a:t>Real-time capable</a:t>
            </a:r>
            <a:endParaRPr lang="en-US" sz="1600" dirty="0"/>
          </a:p>
        </p:txBody>
      </p:sp>
      <p:sp>
        <p:nvSpPr>
          <p:cNvPr id="33" name="Shape 31"/>
          <p:cNvSpPr/>
          <p:nvPr/>
        </p:nvSpPr>
        <p:spPr>
          <a:xfrm>
            <a:off x="6430107" y="3771126"/>
            <a:ext cx="2524149" cy="694443"/>
          </a:xfrm>
          <a:custGeom>
            <a:avLst/>
            <a:gdLst/>
            <a:ahLst/>
            <a:cxnLst/>
            <a:rect l="l" t="t" r="r" b="b"/>
            <a:pathLst>
              <a:path w="2524149" h="694443">
                <a:moveTo>
                  <a:pt x="0" y="0"/>
                </a:moveTo>
                <a:lnTo>
                  <a:pt x="2524149" y="0"/>
                </a:lnTo>
                <a:lnTo>
                  <a:pt x="2524149" y="694443"/>
                </a:lnTo>
                <a:lnTo>
                  <a:pt x="0" y="694443"/>
                </a:lnTo>
                <a:lnTo>
                  <a:pt x="0" y="0"/>
                </a:lnTo>
                <a:close/>
              </a:path>
            </a:pathLst>
          </a:custGeom>
          <a:solidFill>
            <a:srgbClr val="111111"/>
          </a:solidFill>
          <a:ln w="8467">
            <a:solidFill>
              <a:srgbClr val="2B2B2B"/>
            </a:solidFill>
            <a:prstDash val="solid"/>
          </a:ln>
        </p:spPr>
        <p:txBody>
          <a:bodyPr/>
          <a:lstStyle/>
          <a:p>
            <a:endParaRPr lang="en-IN"/>
          </a:p>
        </p:txBody>
      </p:sp>
      <p:sp>
        <p:nvSpPr>
          <p:cNvPr id="34" name="Text 32"/>
          <p:cNvSpPr/>
          <p:nvPr/>
        </p:nvSpPr>
        <p:spPr>
          <a:xfrm>
            <a:off x="6487473" y="3882844"/>
            <a:ext cx="2409415" cy="289854"/>
          </a:xfrm>
          <a:prstGeom prst="rect">
            <a:avLst/>
          </a:prstGeom>
          <a:noFill/>
          <a:ln/>
        </p:spPr>
        <p:txBody>
          <a:bodyPr wrap="square" lIns="0" tIns="0" rIns="0" bIns="0" rtlCol="0" anchor="ctr"/>
          <a:lstStyle/>
          <a:p>
            <a:pPr algn="ctr">
              <a:lnSpc>
                <a:spcPct val="110000"/>
              </a:lnSpc>
            </a:pPr>
            <a:r>
              <a:rPr lang="en-US" sz="1712" b="1" dirty="0">
                <a:solidFill>
                  <a:srgbClr val="C9A36A"/>
                </a:solidFill>
                <a:latin typeface="Quattrocento Sans" pitchFamily="34" charset="0"/>
                <a:ea typeface="Quattrocento Sans" pitchFamily="34" charset="-122"/>
                <a:cs typeface="Quattrocento Sans" pitchFamily="34" charset="-120"/>
              </a:rPr>
              <a:t>Scalable</a:t>
            </a:r>
            <a:endParaRPr lang="en-US" sz="1600" dirty="0"/>
          </a:p>
        </p:txBody>
      </p:sp>
      <p:sp>
        <p:nvSpPr>
          <p:cNvPr id="35" name="Text 33"/>
          <p:cNvSpPr/>
          <p:nvPr/>
        </p:nvSpPr>
        <p:spPr>
          <a:xfrm>
            <a:off x="6510118" y="4172698"/>
            <a:ext cx="2364125" cy="181159"/>
          </a:xfrm>
          <a:prstGeom prst="rect">
            <a:avLst/>
          </a:prstGeom>
          <a:noFill/>
          <a:ln/>
        </p:spPr>
        <p:txBody>
          <a:bodyPr wrap="square" lIns="0" tIns="0" rIns="0" bIns="0" rtlCol="0" anchor="ctr"/>
          <a:lstStyle/>
          <a:p>
            <a:pPr algn="ctr">
              <a:lnSpc>
                <a:spcPct val="120000"/>
              </a:lnSpc>
            </a:pPr>
            <a:r>
              <a:rPr lang="en-US" sz="999" dirty="0">
                <a:solidFill>
                  <a:srgbClr val="A3A3A3"/>
                </a:solidFill>
                <a:latin typeface="Quattrocento Sans" pitchFamily="34" charset="0"/>
                <a:ea typeface="Quattrocento Sans" pitchFamily="34" charset="-122"/>
                <a:cs typeface="Quattrocento Sans" pitchFamily="34" charset="-120"/>
              </a:rPr>
              <a:t>Handles many faces</a:t>
            </a:r>
            <a:endParaRPr lang="en-US" sz="1600" dirty="0"/>
          </a:p>
        </p:txBody>
      </p:sp>
      <p:sp>
        <p:nvSpPr>
          <p:cNvPr id="36" name="Shape 34"/>
          <p:cNvSpPr/>
          <p:nvPr/>
        </p:nvSpPr>
        <p:spPr>
          <a:xfrm>
            <a:off x="9072952" y="3771126"/>
            <a:ext cx="2524149" cy="694443"/>
          </a:xfrm>
          <a:custGeom>
            <a:avLst/>
            <a:gdLst/>
            <a:ahLst/>
            <a:cxnLst/>
            <a:rect l="l" t="t" r="r" b="b"/>
            <a:pathLst>
              <a:path w="2524149" h="694443">
                <a:moveTo>
                  <a:pt x="0" y="0"/>
                </a:moveTo>
                <a:lnTo>
                  <a:pt x="2524149" y="0"/>
                </a:lnTo>
                <a:lnTo>
                  <a:pt x="2524149" y="694443"/>
                </a:lnTo>
                <a:lnTo>
                  <a:pt x="0" y="694443"/>
                </a:lnTo>
                <a:lnTo>
                  <a:pt x="0" y="0"/>
                </a:lnTo>
                <a:close/>
              </a:path>
            </a:pathLst>
          </a:custGeom>
          <a:solidFill>
            <a:srgbClr val="111111"/>
          </a:solidFill>
          <a:ln w="8467">
            <a:solidFill>
              <a:srgbClr val="2B2B2B"/>
            </a:solidFill>
            <a:prstDash val="solid"/>
          </a:ln>
        </p:spPr>
        <p:txBody>
          <a:bodyPr/>
          <a:lstStyle/>
          <a:p>
            <a:endParaRPr lang="en-IN"/>
          </a:p>
        </p:txBody>
      </p:sp>
      <p:sp>
        <p:nvSpPr>
          <p:cNvPr id="37" name="Text 35"/>
          <p:cNvSpPr/>
          <p:nvPr/>
        </p:nvSpPr>
        <p:spPr>
          <a:xfrm>
            <a:off x="9130319" y="3882844"/>
            <a:ext cx="2409415" cy="289854"/>
          </a:xfrm>
          <a:prstGeom prst="rect">
            <a:avLst/>
          </a:prstGeom>
          <a:noFill/>
          <a:ln/>
        </p:spPr>
        <p:txBody>
          <a:bodyPr wrap="square" lIns="0" tIns="0" rIns="0" bIns="0" rtlCol="0" anchor="ctr"/>
          <a:lstStyle/>
          <a:p>
            <a:pPr algn="ctr">
              <a:lnSpc>
                <a:spcPct val="110000"/>
              </a:lnSpc>
            </a:pPr>
            <a:r>
              <a:rPr lang="en-US" sz="1712" b="1" dirty="0">
                <a:solidFill>
                  <a:srgbClr val="C9A36A"/>
                </a:solidFill>
                <a:latin typeface="Quattrocento Sans" pitchFamily="34" charset="0"/>
                <a:ea typeface="Quattrocento Sans" pitchFamily="34" charset="-122"/>
                <a:cs typeface="Quattrocento Sans" pitchFamily="34" charset="-120"/>
              </a:rPr>
              <a:t>Lightweight</a:t>
            </a:r>
            <a:endParaRPr lang="en-US" sz="1600" dirty="0"/>
          </a:p>
        </p:txBody>
      </p:sp>
      <p:sp>
        <p:nvSpPr>
          <p:cNvPr id="38" name="Text 36"/>
          <p:cNvSpPr/>
          <p:nvPr/>
        </p:nvSpPr>
        <p:spPr>
          <a:xfrm>
            <a:off x="9152964" y="4172698"/>
            <a:ext cx="2364125" cy="181159"/>
          </a:xfrm>
          <a:prstGeom prst="rect">
            <a:avLst/>
          </a:prstGeom>
          <a:noFill/>
          <a:ln/>
        </p:spPr>
        <p:txBody>
          <a:bodyPr wrap="square" lIns="0" tIns="0" rIns="0" bIns="0" rtlCol="0" anchor="ctr"/>
          <a:lstStyle/>
          <a:p>
            <a:pPr algn="ctr">
              <a:lnSpc>
                <a:spcPct val="120000"/>
              </a:lnSpc>
            </a:pPr>
            <a:r>
              <a:rPr lang="en-US" sz="999" dirty="0">
                <a:solidFill>
                  <a:srgbClr val="A3A3A3"/>
                </a:solidFill>
                <a:latin typeface="Quattrocento Sans" pitchFamily="34" charset="0"/>
                <a:ea typeface="Quattrocento Sans" pitchFamily="34" charset="-122"/>
                <a:cs typeface="Quattrocento Sans" pitchFamily="34" charset="-120"/>
              </a:rPr>
              <a:t>Low resource usage</a:t>
            </a:r>
            <a:endParaRPr lang="en-US" sz="1600" dirty="0"/>
          </a:p>
        </p:txBody>
      </p:sp>
      <p:sp>
        <p:nvSpPr>
          <p:cNvPr id="39" name="Shape 37"/>
          <p:cNvSpPr/>
          <p:nvPr/>
        </p:nvSpPr>
        <p:spPr>
          <a:xfrm>
            <a:off x="6206677" y="4876196"/>
            <a:ext cx="5621967" cy="1980672"/>
          </a:xfrm>
          <a:custGeom>
            <a:avLst/>
            <a:gdLst/>
            <a:ahLst/>
            <a:cxnLst/>
            <a:rect l="l" t="t" r="r" b="b"/>
            <a:pathLst>
              <a:path w="5621967" h="1980672">
                <a:moveTo>
                  <a:pt x="0" y="0"/>
                </a:moveTo>
                <a:lnTo>
                  <a:pt x="5621967" y="0"/>
                </a:lnTo>
                <a:lnTo>
                  <a:pt x="5621967" y="1980672"/>
                </a:lnTo>
                <a:lnTo>
                  <a:pt x="0" y="1980672"/>
                </a:lnTo>
                <a:lnTo>
                  <a:pt x="0" y="0"/>
                </a:lnTo>
                <a:close/>
              </a:path>
            </a:pathLst>
          </a:custGeom>
          <a:solidFill>
            <a:srgbClr val="1A1A1A"/>
          </a:solidFill>
          <a:ln w="8467">
            <a:solidFill>
              <a:srgbClr val="2B2B2B"/>
            </a:solidFill>
            <a:prstDash val="solid"/>
          </a:ln>
        </p:spPr>
        <p:txBody>
          <a:bodyPr/>
          <a:lstStyle/>
          <a:p>
            <a:endParaRPr lang="en-IN"/>
          </a:p>
        </p:txBody>
      </p:sp>
      <p:sp>
        <p:nvSpPr>
          <p:cNvPr id="40" name="Shape 38"/>
          <p:cNvSpPr/>
          <p:nvPr/>
        </p:nvSpPr>
        <p:spPr>
          <a:xfrm>
            <a:off x="8832161" y="5096609"/>
            <a:ext cx="366847" cy="326086"/>
          </a:xfrm>
          <a:custGeom>
            <a:avLst/>
            <a:gdLst/>
            <a:ahLst/>
            <a:cxnLst/>
            <a:rect l="l" t="t" r="r" b="b"/>
            <a:pathLst>
              <a:path w="366847" h="326086">
                <a:moveTo>
                  <a:pt x="30571" y="124702"/>
                </a:moveTo>
                <a:lnTo>
                  <a:pt x="163807" y="179538"/>
                </a:lnTo>
                <a:cubicBezTo>
                  <a:pt x="170049" y="182086"/>
                  <a:pt x="176672" y="183423"/>
                  <a:pt x="183423" y="183423"/>
                </a:cubicBezTo>
                <a:cubicBezTo>
                  <a:pt x="190174" y="183423"/>
                  <a:pt x="196798" y="182086"/>
                  <a:pt x="203040" y="179538"/>
                </a:cubicBezTo>
                <a:lnTo>
                  <a:pt x="357421" y="115977"/>
                </a:lnTo>
                <a:cubicBezTo>
                  <a:pt x="363153" y="113621"/>
                  <a:pt x="366847" y="108080"/>
                  <a:pt x="366847" y="101902"/>
                </a:cubicBezTo>
                <a:cubicBezTo>
                  <a:pt x="366847" y="95724"/>
                  <a:pt x="363153" y="90183"/>
                  <a:pt x="357421" y="87827"/>
                </a:cubicBezTo>
                <a:lnTo>
                  <a:pt x="203040" y="24265"/>
                </a:lnTo>
                <a:cubicBezTo>
                  <a:pt x="196798" y="21718"/>
                  <a:pt x="190174" y="20380"/>
                  <a:pt x="183423" y="20380"/>
                </a:cubicBezTo>
                <a:cubicBezTo>
                  <a:pt x="176672" y="20380"/>
                  <a:pt x="170049" y="21718"/>
                  <a:pt x="163807" y="24265"/>
                </a:cubicBezTo>
                <a:lnTo>
                  <a:pt x="9426" y="87827"/>
                </a:lnTo>
                <a:cubicBezTo>
                  <a:pt x="3694" y="90183"/>
                  <a:pt x="0" y="95724"/>
                  <a:pt x="0" y="101902"/>
                </a:cubicBezTo>
                <a:lnTo>
                  <a:pt x="0" y="290421"/>
                </a:lnTo>
                <a:cubicBezTo>
                  <a:pt x="0" y="298891"/>
                  <a:pt x="6815" y="305706"/>
                  <a:pt x="15285" y="305706"/>
                </a:cubicBezTo>
                <a:cubicBezTo>
                  <a:pt x="23756" y="305706"/>
                  <a:pt x="30571" y="298891"/>
                  <a:pt x="30571" y="290421"/>
                </a:cubicBezTo>
                <a:lnTo>
                  <a:pt x="30571" y="124702"/>
                </a:lnTo>
                <a:close/>
                <a:moveTo>
                  <a:pt x="61141" y="170367"/>
                </a:moveTo>
                <a:lnTo>
                  <a:pt x="61141" y="244565"/>
                </a:lnTo>
                <a:cubicBezTo>
                  <a:pt x="61141" y="278320"/>
                  <a:pt x="115913" y="305706"/>
                  <a:pt x="183423" y="305706"/>
                </a:cubicBezTo>
                <a:cubicBezTo>
                  <a:pt x="250934" y="305706"/>
                  <a:pt x="305706" y="278320"/>
                  <a:pt x="305706" y="244565"/>
                </a:cubicBezTo>
                <a:lnTo>
                  <a:pt x="305706" y="170304"/>
                </a:lnTo>
                <a:lnTo>
                  <a:pt x="214695" y="207816"/>
                </a:lnTo>
                <a:cubicBezTo>
                  <a:pt x="204759" y="211892"/>
                  <a:pt x="194187" y="213994"/>
                  <a:pt x="183423" y="213994"/>
                </a:cubicBezTo>
                <a:cubicBezTo>
                  <a:pt x="172660" y="213994"/>
                  <a:pt x="162088" y="211892"/>
                  <a:pt x="152152" y="207816"/>
                </a:cubicBezTo>
                <a:lnTo>
                  <a:pt x="61141" y="170304"/>
                </a:lnTo>
                <a:close/>
              </a:path>
            </a:pathLst>
          </a:custGeom>
          <a:solidFill>
            <a:srgbClr val="C9A36A"/>
          </a:solidFill>
          <a:ln/>
        </p:spPr>
        <p:txBody>
          <a:bodyPr/>
          <a:lstStyle/>
          <a:p>
            <a:endParaRPr lang="en-IN"/>
          </a:p>
        </p:txBody>
      </p:sp>
      <p:sp>
        <p:nvSpPr>
          <p:cNvPr id="41" name="Text 39"/>
          <p:cNvSpPr/>
          <p:nvPr/>
        </p:nvSpPr>
        <p:spPr>
          <a:xfrm>
            <a:off x="6381798" y="5531391"/>
            <a:ext cx="5271727" cy="253623"/>
          </a:xfrm>
          <a:prstGeom prst="rect">
            <a:avLst/>
          </a:prstGeom>
          <a:noFill/>
          <a:ln/>
        </p:spPr>
        <p:txBody>
          <a:bodyPr wrap="square" lIns="0" tIns="0" rIns="0" bIns="0" rtlCol="0" anchor="ctr"/>
          <a:lstStyle/>
          <a:p>
            <a:pPr algn="ctr">
              <a:lnSpc>
                <a:spcPct val="120000"/>
              </a:lnSpc>
            </a:pPr>
            <a:r>
              <a:rPr lang="en-US" sz="1426" b="1" dirty="0">
                <a:solidFill>
                  <a:srgbClr val="F2F2F2"/>
                </a:solidFill>
                <a:latin typeface="Quattrocento Sans" pitchFamily="34" charset="0"/>
                <a:ea typeface="Quattrocento Sans" pitchFamily="34" charset="-122"/>
                <a:cs typeface="Quattrocento Sans" pitchFamily="34" charset="-120"/>
              </a:rPr>
              <a:t>Learning Outcome</a:t>
            </a:r>
            <a:endParaRPr lang="en-US" sz="1600" dirty="0"/>
          </a:p>
        </p:txBody>
      </p:sp>
      <p:sp>
        <p:nvSpPr>
          <p:cNvPr id="42" name="Text 40"/>
          <p:cNvSpPr/>
          <p:nvPr/>
        </p:nvSpPr>
        <p:spPr>
          <a:xfrm>
            <a:off x="6390855" y="5929941"/>
            <a:ext cx="5253611" cy="706520"/>
          </a:xfrm>
          <a:prstGeom prst="rect">
            <a:avLst/>
          </a:prstGeom>
          <a:noFill/>
          <a:ln/>
        </p:spPr>
        <p:txBody>
          <a:bodyPr wrap="square" lIns="0" tIns="0" rIns="0" bIns="0" rtlCol="0" anchor="ctr"/>
          <a:lstStyle/>
          <a:p>
            <a:pPr algn="ctr">
              <a:lnSpc>
                <a:spcPct val="140000"/>
              </a:lnSpc>
            </a:pPr>
            <a:r>
              <a:rPr lang="en-US" sz="1141" dirty="0">
                <a:solidFill>
                  <a:srgbClr val="B8B8B8"/>
                </a:solidFill>
                <a:latin typeface="Quattrocento Sans" pitchFamily="34" charset="0"/>
                <a:ea typeface="Quattrocento Sans" pitchFamily="34" charset="-122"/>
                <a:cs typeface="Quattrocento Sans" pitchFamily="34" charset="-120"/>
              </a:rPr>
              <a:t>The trained model learns to recognize faces by creating a mathematical representation of each person's unique facial features, enabling accurate identification during real-time operation.</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377461" y="377461"/>
            <a:ext cx="11503133" cy="188731"/>
          </a:xfrm>
          <a:prstGeom prst="rect">
            <a:avLst/>
          </a:prstGeom>
          <a:noFill/>
          <a:ln/>
        </p:spPr>
        <p:txBody>
          <a:bodyPr wrap="square" lIns="0" tIns="0" rIns="0" bIns="0" rtlCol="0" anchor="ctr"/>
          <a:lstStyle/>
          <a:p>
            <a:pPr>
              <a:lnSpc>
                <a:spcPct val="120000"/>
              </a:lnSpc>
            </a:pPr>
            <a:r>
              <a:rPr lang="en-US" sz="1040" b="1" kern="0" spc="312" dirty="0">
                <a:solidFill>
                  <a:srgbClr val="C9A36A"/>
                </a:solidFill>
                <a:latin typeface="Quattrocento Sans" pitchFamily="34" charset="0"/>
                <a:ea typeface="Quattrocento Sans" pitchFamily="34" charset="-122"/>
                <a:cs typeface="Quattrocento Sans" pitchFamily="34" charset="-120"/>
              </a:rPr>
              <a:t>08 / Operation</a:t>
            </a:r>
            <a:endParaRPr lang="en-US" sz="1600" dirty="0"/>
          </a:p>
        </p:txBody>
      </p:sp>
      <p:sp>
        <p:nvSpPr>
          <p:cNvPr id="3" name="Text 1"/>
          <p:cNvSpPr/>
          <p:nvPr/>
        </p:nvSpPr>
        <p:spPr>
          <a:xfrm>
            <a:off x="377461" y="641684"/>
            <a:ext cx="11663554" cy="452954"/>
          </a:xfrm>
          <a:prstGeom prst="rect">
            <a:avLst/>
          </a:prstGeom>
          <a:noFill/>
          <a:ln/>
        </p:spPr>
        <p:txBody>
          <a:bodyPr wrap="square" lIns="0" tIns="0" rIns="0" bIns="0" rtlCol="0" anchor="ctr"/>
          <a:lstStyle/>
          <a:p>
            <a:pPr>
              <a:lnSpc>
                <a:spcPct val="80000"/>
              </a:lnSpc>
            </a:pPr>
            <a:r>
              <a:rPr lang="en-US" sz="3567" b="1" dirty="0">
                <a:solidFill>
                  <a:srgbClr val="F2F2F2"/>
                </a:solidFill>
                <a:latin typeface="Oranienbaum" pitchFamily="34" charset="0"/>
                <a:ea typeface="Oranienbaum" pitchFamily="34" charset="-122"/>
                <a:cs typeface="Oranienbaum" pitchFamily="34" charset="-120"/>
              </a:rPr>
              <a:t>Working Process</a:t>
            </a:r>
            <a:endParaRPr lang="en-US" sz="1600" dirty="0"/>
          </a:p>
        </p:txBody>
      </p:sp>
      <p:sp>
        <p:nvSpPr>
          <p:cNvPr id="4" name="Shape 2"/>
          <p:cNvSpPr/>
          <p:nvPr/>
        </p:nvSpPr>
        <p:spPr>
          <a:xfrm>
            <a:off x="377461" y="1245622"/>
            <a:ext cx="754923" cy="37746"/>
          </a:xfrm>
          <a:custGeom>
            <a:avLst/>
            <a:gdLst/>
            <a:ahLst/>
            <a:cxnLst/>
            <a:rect l="l" t="t" r="r" b="b"/>
            <a:pathLst>
              <a:path w="754923" h="37746">
                <a:moveTo>
                  <a:pt x="0" y="0"/>
                </a:moveTo>
                <a:lnTo>
                  <a:pt x="754923" y="0"/>
                </a:lnTo>
                <a:lnTo>
                  <a:pt x="754923" y="37746"/>
                </a:lnTo>
                <a:lnTo>
                  <a:pt x="0" y="37746"/>
                </a:lnTo>
                <a:lnTo>
                  <a:pt x="0" y="0"/>
                </a:lnTo>
                <a:close/>
              </a:path>
            </a:pathLst>
          </a:custGeom>
          <a:solidFill>
            <a:srgbClr val="C9A36A"/>
          </a:solidFill>
          <a:ln/>
        </p:spPr>
        <p:txBody>
          <a:bodyPr/>
          <a:lstStyle/>
          <a:p>
            <a:endParaRPr lang="en-IN"/>
          </a:p>
        </p:txBody>
      </p:sp>
      <p:sp>
        <p:nvSpPr>
          <p:cNvPr id="5" name="Shape 3"/>
          <p:cNvSpPr/>
          <p:nvPr/>
        </p:nvSpPr>
        <p:spPr>
          <a:xfrm>
            <a:off x="380607" y="1437498"/>
            <a:ext cx="5621028" cy="5413424"/>
          </a:xfrm>
          <a:custGeom>
            <a:avLst/>
            <a:gdLst/>
            <a:ahLst/>
            <a:cxnLst/>
            <a:rect l="l" t="t" r="r" b="b"/>
            <a:pathLst>
              <a:path w="5621028" h="5413424">
                <a:moveTo>
                  <a:pt x="0" y="0"/>
                </a:moveTo>
                <a:lnTo>
                  <a:pt x="5621028" y="0"/>
                </a:lnTo>
                <a:lnTo>
                  <a:pt x="5621028" y="5413424"/>
                </a:lnTo>
                <a:lnTo>
                  <a:pt x="0" y="5413424"/>
                </a:lnTo>
                <a:lnTo>
                  <a:pt x="0" y="0"/>
                </a:lnTo>
                <a:close/>
              </a:path>
            </a:pathLst>
          </a:custGeom>
          <a:solidFill>
            <a:srgbClr val="1A1A1A"/>
          </a:solidFill>
          <a:ln w="8467">
            <a:solidFill>
              <a:srgbClr val="2B2B2B"/>
            </a:solidFill>
            <a:prstDash val="solid"/>
          </a:ln>
        </p:spPr>
        <p:txBody>
          <a:bodyPr/>
          <a:lstStyle/>
          <a:p>
            <a:endParaRPr lang="en-IN"/>
          </a:p>
        </p:txBody>
      </p:sp>
      <p:sp>
        <p:nvSpPr>
          <p:cNvPr id="6" name="Shape 4"/>
          <p:cNvSpPr/>
          <p:nvPr/>
        </p:nvSpPr>
        <p:spPr>
          <a:xfrm>
            <a:off x="600793" y="1648251"/>
            <a:ext cx="226477" cy="226477"/>
          </a:xfrm>
          <a:custGeom>
            <a:avLst/>
            <a:gdLst/>
            <a:ahLst/>
            <a:cxnLst/>
            <a:rect l="l" t="t" r="r" b="b"/>
            <a:pathLst>
              <a:path w="226477" h="226477">
                <a:moveTo>
                  <a:pt x="0" y="113238"/>
                </a:moveTo>
                <a:cubicBezTo>
                  <a:pt x="0" y="50740"/>
                  <a:pt x="50740" y="0"/>
                  <a:pt x="113238" y="0"/>
                </a:cubicBezTo>
                <a:cubicBezTo>
                  <a:pt x="175736" y="0"/>
                  <a:pt x="226477" y="50740"/>
                  <a:pt x="226477" y="113238"/>
                </a:cubicBezTo>
                <a:cubicBezTo>
                  <a:pt x="226477" y="175736"/>
                  <a:pt x="175736" y="226477"/>
                  <a:pt x="113238" y="226477"/>
                </a:cubicBezTo>
                <a:cubicBezTo>
                  <a:pt x="50740" y="226477"/>
                  <a:pt x="0" y="175736"/>
                  <a:pt x="0" y="113238"/>
                </a:cubicBezTo>
                <a:close/>
                <a:moveTo>
                  <a:pt x="83292" y="65068"/>
                </a:moveTo>
                <a:cubicBezTo>
                  <a:pt x="79930" y="66926"/>
                  <a:pt x="77851" y="70509"/>
                  <a:pt x="77851" y="74313"/>
                </a:cubicBezTo>
                <a:lnTo>
                  <a:pt x="77851" y="152164"/>
                </a:lnTo>
                <a:cubicBezTo>
                  <a:pt x="77851" y="156012"/>
                  <a:pt x="79930" y="159551"/>
                  <a:pt x="83292" y="161409"/>
                </a:cubicBezTo>
                <a:cubicBezTo>
                  <a:pt x="86654" y="163267"/>
                  <a:pt x="90723" y="163223"/>
                  <a:pt x="94041" y="161188"/>
                </a:cubicBezTo>
                <a:lnTo>
                  <a:pt x="157738" y="122262"/>
                </a:lnTo>
                <a:cubicBezTo>
                  <a:pt x="160878" y="120316"/>
                  <a:pt x="162824" y="116910"/>
                  <a:pt x="162824" y="113194"/>
                </a:cubicBezTo>
                <a:cubicBezTo>
                  <a:pt x="162824" y="109479"/>
                  <a:pt x="160878" y="106073"/>
                  <a:pt x="157738" y="104126"/>
                </a:cubicBezTo>
                <a:lnTo>
                  <a:pt x="94041" y="65201"/>
                </a:lnTo>
                <a:cubicBezTo>
                  <a:pt x="90768" y="63210"/>
                  <a:pt x="86654" y="63122"/>
                  <a:pt x="83292" y="64979"/>
                </a:cubicBezTo>
                <a:close/>
              </a:path>
            </a:pathLst>
          </a:custGeom>
          <a:solidFill>
            <a:srgbClr val="C9A36A"/>
          </a:solidFill>
          <a:ln/>
        </p:spPr>
        <p:txBody>
          <a:bodyPr/>
          <a:lstStyle/>
          <a:p>
            <a:endParaRPr lang="en-IN"/>
          </a:p>
        </p:txBody>
      </p:sp>
      <p:sp>
        <p:nvSpPr>
          <p:cNvPr id="7" name="Text 5"/>
          <p:cNvSpPr/>
          <p:nvPr/>
        </p:nvSpPr>
        <p:spPr>
          <a:xfrm>
            <a:off x="855579" y="1629378"/>
            <a:ext cx="5048545" cy="264223"/>
          </a:xfrm>
          <a:prstGeom prst="rect">
            <a:avLst/>
          </a:prstGeom>
          <a:noFill/>
          <a:ln/>
        </p:spPr>
        <p:txBody>
          <a:bodyPr wrap="square" lIns="0" tIns="0" rIns="0" bIns="0" rtlCol="0" anchor="ctr"/>
          <a:lstStyle/>
          <a:p>
            <a:pPr>
              <a:lnSpc>
                <a:spcPct val="120000"/>
              </a:lnSpc>
            </a:pPr>
            <a:r>
              <a:rPr lang="en-US" sz="1486" b="1" dirty="0">
                <a:solidFill>
                  <a:srgbClr val="F2F2F2"/>
                </a:solidFill>
                <a:latin typeface="Quattrocento Sans" pitchFamily="34" charset="0"/>
                <a:ea typeface="Quattrocento Sans" pitchFamily="34" charset="-122"/>
                <a:cs typeface="Quattrocento Sans" pitchFamily="34" charset="-120"/>
              </a:rPr>
              <a:t>Real-Time Operation Flow</a:t>
            </a:r>
            <a:endParaRPr lang="en-US" sz="1600" dirty="0"/>
          </a:p>
        </p:txBody>
      </p:sp>
      <p:sp>
        <p:nvSpPr>
          <p:cNvPr id="8" name="Shape 6"/>
          <p:cNvSpPr/>
          <p:nvPr/>
        </p:nvSpPr>
        <p:spPr>
          <a:xfrm>
            <a:off x="575628" y="2047731"/>
            <a:ext cx="5234130" cy="1063183"/>
          </a:xfrm>
          <a:custGeom>
            <a:avLst/>
            <a:gdLst/>
            <a:ahLst/>
            <a:cxnLst/>
            <a:rect l="l" t="t" r="r" b="b"/>
            <a:pathLst>
              <a:path w="5234130" h="1063183">
                <a:moveTo>
                  <a:pt x="0" y="0"/>
                </a:moveTo>
                <a:lnTo>
                  <a:pt x="5234130" y="0"/>
                </a:lnTo>
                <a:lnTo>
                  <a:pt x="5234130" y="1063183"/>
                </a:lnTo>
                <a:lnTo>
                  <a:pt x="0" y="1063183"/>
                </a:lnTo>
                <a:lnTo>
                  <a:pt x="0" y="0"/>
                </a:lnTo>
                <a:close/>
              </a:path>
            </a:pathLst>
          </a:custGeom>
          <a:solidFill>
            <a:srgbClr val="111111"/>
          </a:solidFill>
          <a:ln w="8467">
            <a:solidFill>
              <a:srgbClr val="2B2B2B"/>
            </a:solidFill>
            <a:prstDash val="solid"/>
          </a:ln>
        </p:spPr>
        <p:txBody>
          <a:bodyPr/>
          <a:lstStyle/>
          <a:p>
            <a:endParaRPr lang="en-IN"/>
          </a:p>
        </p:txBody>
      </p:sp>
      <p:sp>
        <p:nvSpPr>
          <p:cNvPr id="9" name="Shape 7"/>
          <p:cNvSpPr/>
          <p:nvPr/>
        </p:nvSpPr>
        <p:spPr>
          <a:xfrm>
            <a:off x="729759" y="2201859"/>
            <a:ext cx="377461" cy="377461"/>
          </a:xfrm>
          <a:custGeom>
            <a:avLst/>
            <a:gdLst/>
            <a:ahLst/>
            <a:cxnLst/>
            <a:rect l="l" t="t" r="r" b="b"/>
            <a:pathLst>
              <a:path w="377461" h="377461">
                <a:moveTo>
                  <a:pt x="188731" y="0"/>
                </a:moveTo>
                <a:lnTo>
                  <a:pt x="188731" y="0"/>
                </a:lnTo>
                <a:cubicBezTo>
                  <a:pt x="292894" y="0"/>
                  <a:pt x="377461" y="84567"/>
                  <a:pt x="377461" y="188731"/>
                </a:cubicBezTo>
                <a:lnTo>
                  <a:pt x="377461" y="188731"/>
                </a:lnTo>
                <a:cubicBezTo>
                  <a:pt x="377461" y="292894"/>
                  <a:pt x="292894" y="377461"/>
                  <a:pt x="188731" y="377461"/>
                </a:cubicBezTo>
                <a:lnTo>
                  <a:pt x="188731" y="377461"/>
                </a:lnTo>
                <a:cubicBezTo>
                  <a:pt x="84567" y="377461"/>
                  <a:pt x="0" y="292894"/>
                  <a:pt x="0" y="188731"/>
                </a:cubicBezTo>
                <a:lnTo>
                  <a:pt x="0" y="188731"/>
                </a:lnTo>
                <a:cubicBezTo>
                  <a:pt x="0" y="84567"/>
                  <a:pt x="84567" y="0"/>
                  <a:pt x="188731" y="0"/>
                </a:cubicBezTo>
                <a:close/>
              </a:path>
            </a:pathLst>
          </a:custGeom>
          <a:solidFill>
            <a:srgbClr val="C9A36A"/>
          </a:solidFill>
          <a:ln/>
        </p:spPr>
        <p:txBody>
          <a:bodyPr/>
          <a:lstStyle/>
          <a:p>
            <a:endParaRPr lang="en-IN"/>
          </a:p>
        </p:txBody>
      </p:sp>
      <p:sp>
        <p:nvSpPr>
          <p:cNvPr id="10" name="Text 8"/>
          <p:cNvSpPr/>
          <p:nvPr/>
        </p:nvSpPr>
        <p:spPr>
          <a:xfrm>
            <a:off x="894505" y="2277351"/>
            <a:ext cx="122675" cy="226477"/>
          </a:xfrm>
          <a:prstGeom prst="rect">
            <a:avLst/>
          </a:prstGeom>
          <a:noFill/>
          <a:ln/>
        </p:spPr>
        <p:txBody>
          <a:bodyPr wrap="square" lIns="0" tIns="0" rIns="0" bIns="0" rtlCol="0" anchor="ctr"/>
          <a:lstStyle/>
          <a:p>
            <a:pPr>
              <a:lnSpc>
                <a:spcPct val="120000"/>
              </a:lnSpc>
            </a:pPr>
            <a:r>
              <a:rPr lang="en-US" sz="1189" b="1" dirty="0">
                <a:solidFill>
                  <a:srgbClr val="111111"/>
                </a:solidFill>
                <a:latin typeface="Quattrocento Sans" pitchFamily="34" charset="0"/>
                <a:ea typeface="Quattrocento Sans" pitchFamily="34" charset="-122"/>
                <a:cs typeface="Quattrocento Sans" pitchFamily="34" charset="-120"/>
              </a:rPr>
              <a:t>1</a:t>
            </a:r>
            <a:endParaRPr lang="en-US" sz="1600" dirty="0"/>
          </a:p>
        </p:txBody>
      </p:sp>
      <p:sp>
        <p:nvSpPr>
          <p:cNvPr id="11" name="Text 9"/>
          <p:cNvSpPr/>
          <p:nvPr/>
        </p:nvSpPr>
        <p:spPr>
          <a:xfrm>
            <a:off x="1258204" y="2201859"/>
            <a:ext cx="4472916" cy="226477"/>
          </a:xfrm>
          <a:prstGeom prst="rect">
            <a:avLst/>
          </a:prstGeom>
          <a:noFill/>
          <a:ln/>
        </p:spPr>
        <p:txBody>
          <a:bodyPr wrap="square" lIns="0" tIns="0" rIns="0" bIns="0" rtlCol="0" anchor="ctr"/>
          <a:lstStyle/>
          <a:p>
            <a:pPr>
              <a:lnSpc>
                <a:spcPct val="120000"/>
              </a:lnSpc>
            </a:pPr>
            <a:r>
              <a:rPr lang="en-US" sz="1189" b="1" dirty="0">
                <a:solidFill>
                  <a:srgbClr val="F2F2F2"/>
                </a:solidFill>
                <a:latin typeface="Quattrocento Sans" pitchFamily="34" charset="0"/>
                <a:ea typeface="Quattrocento Sans" pitchFamily="34" charset="-122"/>
                <a:cs typeface="Quattrocento Sans" pitchFamily="34" charset="-120"/>
              </a:rPr>
              <a:t>Capture Live Video</a:t>
            </a:r>
            <a:endParaRPr lang="en-US" sz="1600" dirty="0"/>
          </a:p>
        </p:txBody>
      </p:sp>
      <p:sp>
        <p:nvSpPr>
          <p:cNvPr id="12" name="Text 10"/>
          <p:cNvSpPr/>
          <p:nvPr/>
        </p:nvSpPr>
        <p:spPr>
          <a:xfrm>
            <a:off x="1258204" y="2466082"/>
            <a:ext cx="4472916" cy="490700"/>
          </a:xfrm>
          <a:prstGeom prst="rect">
            <a:avLst/>
          </a:prstGeom>
          <a:noFill/>
          <a:ln/>
        </p:spPr>
        <p:txBody>
          <a:bodyPr wrap="square" lIns="0" tIns="0" rIns="0" bIns="0" rtlCol="0" anchor="ctr"/>
          <a:lstStyle/>
          <a:p>
            <a:pPr>
              <a:lnSpc>
                <a:spcPct val="140000"/>
              </a:lnSpc>
            </a:pPr>
            <a:r>
              <a:rPr lang="en-US" sz="1189" dirty="0">
                <a:solidFill>
                  <a:srgbClr val="B8B8B8"/>
                </a:solidFill>
                <a:latin typeface="Quattrocento Sans" pitchFamily="34" charset="0"/>
                <a:ea typeface="Quattrocento Sans" pitchFamily="34" charset="-122"/>
                <a:cs typeface="Quattrocento Sans" pitchFamily="34" charset="-120"/>
              </a:rPr>
              <a:t>Webcam continuously captures video feed at 30 FPS, providing real-time input for the face recognition pipeline.</a:t>
            </a:r>
            <a:endParaRPr lang="en-US" sz="1600" dirty="0"/>
          </a:p>
        </p:txBody>
      </p:sp>
      <p:sp>
        <p:nvSpPr>
          <p:cNvPr id="13" name="Shape 11"/>
          <p:cNvSpPr/>
          <p:nvPr/>
        </p:nvSpPr>
        <p:spPr>
          <a:xfrm>
            <a:off x="575628" y="3230440"/>
            <a:ext cx="5234130" cy="1063183"/>
          </a:xfrm>
          <a:custGeom>
            <a:avLst/>
            <a:gdLst/>
            <a:ahLst/>
            <a:cxnLst/>
            <a:rect l="l" t="t" r="r" b="b"/>
            <a:pathLst>
              <a:path w="5234130" h="1063183">
                <a:moveTo>
                  <a:pt x="0" y="0"/>
                </a:moveTo>
                <a:lnTo>
                  <a:pt x="5234130" y="0"/>
                </a:lnTo>
                <a:lnTo>
                  <a:pt x="5234130" y="1063183"/>
                </a:lnTo>
                <a:lnTo>
                  <a:pt x="0" y="1063183"/>
                </a:lnTo>
                <a:lnTo>
                  <a:pt x="0" y="0"/>
                </a:lnTo>
                <a:close/>
              </a:path>
            </a:pathLst>
          </a:custGeom>
          <a:solidFill>
            <a:srgbClr val="111111"/>
          </a:solidFill>
          <a:ln w="8467">
            <a:solidFill>
              <a:srgbClr val="2B2B2B"/>
            </a:solidFill>
            <a:prstDash val="solid"/>
          </a:ln>
        </p:spPr>
        <p:txBody>
          <a:bodyPr/>
          <a:lstStyle/>
          <a:p>
            <a:endParaRPr lang="en-IN"/>
          </a:p>
        </p:txBody>
      </p:sp>
      <p:sp>
        <p:nvSpPr>
          <p:cNvPr id="14" name="Shape 12"/>
          <p:cNvSpPr/>
          <p:nvPr/>
        </p:nvSpPr>
        <p:spPr>
          <a:xfrm>
            <a:off x="729759" y="3384573"/>
            <a:ext cx="377461" cy="377461"/>
          </a:xfrm>
          <a:custGeom>
            <a:avLst/>
            <a:gdLst/>
            <a:ahLst/>
            <a:cxnLst/>
            <a:rect l="l" t="t" r="r" b="b"/>
            <a:pathLst>
              <a:path w="377461" h="377461">
                <a:moveTo>
                  <a:pt x="188731" y="0"/>
                </a:moveTo>
                <a:lnTo>
                  <a:pt x="188731" y="0"/>
                </a:lnTo>
                <a:cubicBezTo>
                  <a:pt x="292894" y="0"/>
                  <a:pt x="377461" y="84567"/>
                  <a:pt x="377461" y="188731"/>
                </a:cubicBezTo>
                <a:lnTo>
                  <a:pt x="377461" y="188731"/>
                </a:lnTo>
                <a:cubicBezTo>
                  <a:pt x="377461" y="292894"/>
                  <a:pt x="292894" y="377461"/>
                  <a:pt x="188731" y="377461"/>
                </a:cubicBezTo>
                <a:lnTo>
                  <a:pt x="188731" y="377461"/>
                </a:lnTo>
                <a:cubicBezTo>
                  <a:pt x="84567" y="377461"/>
                  <a:pt x="0" y="292894"/>
                  <a:pt x="0" y="188731"/>
                </a:cubicBezTo>
                <a:lnTo>
                  <a:pt x="0" y="188731"/>
                </a:lnTo>
                <a:cubicBezTo>
                  <a:pt x="0" y="84567"/>
                  <a:pt x="84567" y="0"/>
                  <a:pt x="188731" y="0"/>
                </a:cubicBezTo>
                <a:close/>
              </a:path>
            </a:pathLst>
          </a:custGeom>
          <a:solidFill>
            <a:srgbClr val="C9A36A"/>
          </a:solidFill>
          <a:ln/>
        </p:spPr>
        <p:txBody>
          <a:bodyPr/>
          <a:lstStyle/>
          <a:p>
            <a:endParaRPr lang="en-IN"/>
          </a:p>
        </p:txBody>
      </p:sp>
      <p:sp>
        <p:nvSpPr>
          <p:cNvPr id="15" name="Text 13"/>
          <p:cNvSpPr/>
          <p:nvPr/>
        </p:nvSpPr>
        <p:spPr>
          <a:xfrm>
            <a:off x="880055" y="3460065"/>
            <a:ext cx="150985" cy="226477"/>
          </a:xfrm>
          <a:prstGeom prst="rect">
            <a:avLst/>
          </a:prstGeom>
          <a:noFill/>
          <a:ln/>
        </p:spPr>
        <p:txBody>
          <a:bodyPr wrap="square" lIns="0" tIns="0" rIns="0" bIns="0" rtlCol="0" anchor="ctr"/>
          <a:lstStyle/>
          <a:p>
            <a:pPr>
              <a:lnSpc>
                <a:spcPct val="120000"/>
              </a:lnSpc>
            </a:pPr>
            <a:r>
              <a:rPr lang="en-US" sz="1189" b="1" dirty="0">
                <a:solidFill>
                  <a:srgbClr val="111111"/>
                </a:solidFill>
                <a:latin typeface="Quattrocento Sans" pitchFamily="34" charset="0"/>
                <a:ea typeface="Quattrocento Sans" pitchFamily="34" charset="-122"/>
                <a:cs typeface="Quattrocento Sans" pitchFamily="34" charset="-120"/>
              </a:rPr>
              <a:t>2</a:t>
            </a:r>
            <a:endParaRPr lang="en-US" sz="1600" dirty="0"/>
          </a:p>
        </p:txBody>
      </p:sp>
      <p:sp>
        <p:nvSpPr>
          <p:cNvPr id="16" name="Text 14"/>
          <p:cNvSpPr/>
          <p:nvPr/>
        </p:nvSpPr>
        <p:spPr>
          <a:xfrm>
            <a:off x="1258204" y="3384573"/>
            <a:ext cx="4472916" cy="226477"/>
          </a:xfrm>
          <a:prstGeom prst="rect">
            <a:avLst/>
          </a:prstGeom>
          <a:noFill/>
          <a:ln/>
        </p:spPr>
        <p:txBody>
          <a:bodyPr wrap="square" lIns="0" tIns="0" rIns="0" bIns="0" rtlCol="0" anchor="ctr"/>
          <a:lstStyle/>
          <a:p>
            <a:pPr>
              <a:lnSpc>
                <a:spcPct val="120000"/>
              </a:lnSpc>
            </a:pPr>
            <a:r>
              <a:rPr lang="en-US" sz="1189" b="1" dirty="0">
                <a:solidFill>
                  <a:srgbClr val="F2F2F2"/>
                </a:solidFill>
                <a:latin typeface="Quattrocento Sans" pitchFamily="34" charset="0"/>
                <a:ea typeface="Quattrocento Sans" pitchFamily="34" charset="-122"/>
                <a:cs typeface="Quattrocento Sans" pitchFamily="34" charset="-120"/>
              </a:rPr>
              <a:t>Detect Face</a:t>
            </a:r>
            <a:endParaRPr lang="en-US" sz="1600" dirty="0"/>
          </a:p>
        </p:txBody>
      </p:sp>
      <p:sp>
        <p:nvSpPr>
          <p:cNvPr id="17" name="Text 15"/>
          <p:cNvSpPr/>
          <p:nvPr/>
        </p:nvSpPr>
        <p:spPr>
          <a:xfrm>
            <a:off x="1258204" y="3648796"/>
            <a:ext cx="4472916" cy="490700"/>
          </a:xfrm>
          <a:prstGeom prst="rect">
            <a:avLst/>
          </a:prstGeom>
          <a:noFill/>
          <a:ln/>
        </p:spPr>
        <p:txBody>
          <a:bodyPr wrap="square" lIns="0" tIns="0" rIns="0" bIns="0" rtlCol="0" anchor="ctr"/>
          <a:lstStyle/>
          <a:p>
            <a:pPr>
              <a:lnSpc>
                <a:spcPct val="140000"/>
              </a:lnSpc>
            </a:pPr>
            <a:r>
              <a:rPr lang="en-US" sz="1189" dirty="0">
                <a:solidFill>
                  <a:srgbClr val="B8B8B8"/>
                </a:solidFill>
                <a:latin typeface="Quattrocento Sans" pitchFamily="34" charset="0"/>
                <a:ea typeface="Quattrocento Sans" pitchFamily="34" charset="-122"/>
                <a:cs typeface="Quattrocento Sans" pitchFamily="34" charset="-120"/>
              </a:rPr>
              <a:t>Haar Cascade classifier scans each frame to detect face regions and draws bounding boxes around detected faces.</a:t>
            </a:r>
            <a:endParaRPr lang="en-US" sz="1600" dirty="0"/>
          </a:p>
        </p:txBody>
      </p:sp>
      <p:sp>
        <p:nvSpPr>
          <p:cNvPr id="18" name="Shape 16"/>
          <p:cNvSpPr/>
          <p:nvPr/>
        </p:nvSpPr>
        <p:spPr>
          <a:xfrm>
            <a:off x="575628" y="4413153"/>
            <a:ext cx="5234130" cy="1063183"/>
          </a:xfrm>
          <a:custGeom>
            <a:avLst/>
            <a:gdLst/>
            <a:ahLst/>
            <a:cxnLst/>
            <a:rect l="l" t="t" r="r" b="b"/>
            <a:pathLst>
              <a:path w="5234130" h="1063183">
                <a:moveTo>
                  <a:pt x="0" y="0"/>
                </a:moveTo>
                <a:lnTo>
                  <a:pt x="5234130" y="0"/>
                </a:lnTo>
                <a:lnTo>
                  <a:pt x="5234130" y="1063183"/>
                </a:lnTo>
                <a:lnTo>
                  <a:pt x="0" y="1063183"/>
                </a:lnTo>
                <a:lnTo>
                  <a:pt x="0" y="0"/>
                </a:lnTo>
                <a:close/>
              </a:path>
            </a:pathLst>
          </a:custGeom>
          <a:solidFill>
            <a:srgbClr val="111111"/>
          </a:solidFill>
          <a:ln w="8467">
            <a:solidFill>
              <a:srgbClr val="2B2B2B"/>
            </a:solidFill>
            <a:prstDash val="solid"/>
          </a:ln>
        </p:spPr>
        <p:txBody>
          <a:bodyPr/>
          <a:lstStyle/>
          <a:p>
            <a:endParaRPr lang="en-IN"/>
          </a:p>
        </p:txBody>
      </p:sp>
      <p:sp>
        <p:nvSpPr>
          <p:cNvPr id="19" name="Shape 17"/>
          <p:cNvSpPr/>
          <p:nvPr/>
        </p:nvSpPr>
        <p:spPr>
          <a:xfrm>
            <a:off x="729759" y="4567282"/>
            <a:ext cx="377461" cy="377461"/>
          </a:xfrm>
          <a:custGeom>
            <a:avLst/>
            <a:gdLst/>
            <a:ahLst/>
            <a:cxnLst/>
            <a:rect l="l" t="t" r="r" b="b"/>
            <a:pathLst>
              <a:path w="377461" h="377461">
                <a:moveTo>
                  <a:pt x="188731" y="0"/>
                </a:moveTo>
                <a:lnTo>
                  <a:pt x="188731" y="0"/>
                </a:lnTo>
                <a:cubicBezTo>
                  <a:pt x="292894" y="0"/>
                  <a:pt x="377461" y="84567"/>
                  <a:pt x="377461" y="188731"/>
                </a:cubicBezTo>
                <a:lnTo>
                  <a:pt x="377461" y="188731"/>
                </a:lnTo>
                <a:cubicBezTo>
                  <a:pt x="377461" y="292894"/>
                  <a:pt x="292894" y="377461"/>
                  <a:pt x="188731" y="377461"/>
                </a:cubicBezTo>
                <a:lnTo>
                  <a:pt x="188731" y="377461"/>
                </a:lnTo>
                <a:cubicBezTo>
                  <a:pt x="84567" y="377461"/>
                  <a:pt x="0" y="292894"/>
                  <a:pt x="0" y="188731"/>
                </a:cubicBezTo>
                <a:lnTo>
                  <a:pt x="0" y="188731"/>
                </a:lnTo>
                <a:cubicBezTo>
                  <a:pt x="0" y="84567"/>
                  <a:pt x="84567" y="0"/>
                  <a:pt x="188731" y="0"/>
                </a:cubicBezTo>
                <a:close/>
              </a:path>
            </a:pathLst>
          </a:custGeom>
          <a:solidFill>
            <a:srgbClr val="C9A36A"/>
          </a:solidFill>
          <a:ln/>
        </p:spPr>
        <p:txBody>
          <a:bodyPr/>
          <a:lstStyle/>
          <a:p>
            <a:endParaRPr lang="en-IN"/>
          </a:p>
        </p:txBody>
      </p:sp>
      <p:sp>
        <p:nvSpPr>
          <p:cNvPr id="20" name="Text 18"/>
          <p:cNvSpPr/>
          <p:nvPr/>
        </p:nvSpPr>
        <p:spPr>
          <a:xfrm>
            <a:off x="878089" y="4642774"/>
            <a:ext cx="160421" cy="226477"/>
          </a:xfrm>
          <a:prstGeom prst="rect">
            <a:avLst/>
          </a:prstGeom>
          <a:noFill/>
          <a:ln/>
        </p:spPr>
        <p:txBody>
          <a:bodyPr wrap="square" lIns="0" tIns="0" rIns="0" bIns="0" rtlCol="0" anchor="ctr"/>
          <a:lstStyle/>
          <a:p>
            <a:pPr>
              <a:lnSpc>
                <a:spcPct val="120000"/>
              </a:lnSpc>
            </a:pPr>
            <a:r>
              <a:rPr lang="en-US" sz="1189" b="1" dirty="0">
                <a:solidFill>
                  <a:srgbClr val="111111"/>
                </a:solidFill>
                <a:latin typeface="Quattrocento Sans" pitchFamily="34" charset="0"/>
                <a:ea typeface="Quattrocento Sans" pitchFamily="34" charset="-122"/>
                <a:cs typeface="Quattrocento Sans" pitchFamily="34" charset="-120"/>
              </a:rPr>
              <a:t>3</a:t>
            </a:r>
            <a:endParaRPr lang="en-US" sz="1600" dirty="0"/>
          </a:p>
        </p:txBody>
      </p:sp>
      <p:sp>
        <p:nvSpPr>
          <p:cNvPr id="21" name="Text 19"/>
          <p:cNvSpPr/>
          <p:nvPr/>
        </p:nvSpPr>
        <p:spPr>
          <a:xfrm>
            <a:off x="1258204" y="4567282"/>
            <a:ext cx="4472916" cy="226477"/>
          </a:xfrm>
          <a:prstGeom prst="rect">
            <a:avLst/>
          </a:prstGeom>
          <a:noFill/>
          <a:ln/>
        </p:spPr>
        <p:txBody>
          <a:bodyPr wrap="square" lIns="0" tIns="0" rIns="0" bIns="0" rtlCol="0" anchor="ctr"/>
          <a:lstStyle/>
          <a:p>
            <a:pPr>
              <a:lnSpc>
                <a:spcPct val="120000"/>
              </a:lnSpc>
            </a:pPr>
            <a:r>
              <a:rPr lang="en-US" sz="1189" b="1" dirty="0">
                <a:solidFill>
                  <a:srgbClr val="F2F2F2"/>
                </a:solidFill>
                <a:latin typeface="Quattrocento Sans" pitchFamily="34" charset="0"/>
                <a:ea typeface="Quattrocento Sans" pitchFamily="34" charset="-122"/>
                <a:cs typeface="Quattrocento Sans" pitchFamily="34" charset="-120"/>
              </a:rPr>
              <a:t>Recognize Face</a:t>
            </a:r>
            <a:endParaRPr lang="en-US" sz="1600" dirty="0"/>
          </a:p>
        </p:txBody>
      </p:sp>
      <p:sp>
        <p:nvSpPr>
          <p:cNvPr id="22" name="Text 20"/>
          <p:cNvSpPr/>
          <p:nvPr/>
        </p:nvSpPr>
        <p:spPr>
          <a:xfrm>
            <a:off x="1258204" y="4831505"/>
            <a:ext cx="4472916" cy="490700"/>
          </a:xfrm>
          <a:prstGeom prst="rect">
            <a:avLst/>
          </a:prstGeom>
          <a:noFill/>
          <a:ln/>
        </p:spPr>
        <p:txBody>
          <a:bodyPr wrap="square" lIns="0" tIns="0" rIns="0" bIns="0" rtlCol="0" anchor="ctr"/>
          <a:lstStyle/>
          <a:p>
            <a:pPr>
              <a:lnSpc>
                <a:spcPct val="140000"/>
              </a:lnSpc>
            </a:pPr>
            <a:r>
              <a:rPr lang="en-US" sz="1189" dirty="0">
                <a:solidFill>
                  <a:srgbClr val="B8B8B8"/>
                </a:solidFill>
                <a:latin typeface="Quattrocento Sans" pitchFamily="34" charset="0"/>
                <a:ea typeface="Quattrocento Sans" pitchFamily="34" charset="-122"/>
                <a:cs typeface="Quattrocento Sans" pitchFamily="34" charset="-120"/>
              </a:rPr>
              <a:t>Trained LBPH model extracts features from detected face and matches against the database to identify the person.</a:t>
            </a:r>
            <a:endParaRPr lang="en-US" sz="1600" dirty="0"/>
          </a:p>
        </p:txBody>
      </p:sp>
      <p:sp>
        <p:nvSpPr>
          <p:cNvPr id="23" name="Shape 21"/>
          <p:cNvSpPr/>
          <p:nvPr/>
        </p:nvSpPr>
        <p:spPr>
          <a:xfrm>
            <a:off x="575628" y="5595867"/>
            <a:ext cx="5234130" cy="1063183"/>
          </a:xfrm>
          <a:custGeom>
            <a:avLst/>
            <a:gdLst/>
            <a:ahLst/>
            <a:cxnLst/>
            <a:rect l="l" t="t" r="r" b="b"/>
            <a:pathLst>
              <a:path w="5234130" h="1063183">
                <a:moveTo>
                  <a:pt x="0" y="0"/>
                </a:moveTo>
                <a:lnTo>
                  <a:pt x="5234130" y="0"/>
                </a:lnTo>
                <a:lnTo>
                  <a:pt x="5234130" y="1063183"/>
                </a:lnTo>
                <a:lnTo>
                  <a:pt x="0" y="1063183"/>
                </a:lnTo>
                <a:lnTo>
                  <a:pt x="0" y="0"/>
                </a:lnTo>
                <a:close/>
              </a:path>
            </a:pathLst>
          </a:custGeom>
          <a:solidFill>
            <a:srgbClr val="111111"/>
          </a:solidFill>
          <a:ln w="8467">
            <a:solidFill>
              <a:srgbClr val="2B2B2B"/>
            </a:solidFill>
            <a:prstDash val="solid"/>
          </a:ln>
        </p:spPr>
        <p:txBody>
          <a:bodyPr/>
          <a:lstStyle/>
          <a:p>
            <a:endParaRPr lang="en-IN"/>
          </a:p>
        </p:txBody>
      </p:sp>
      <p:sp>
        <p:nvSpPr>
          <p:cNvPr id="24" name="Shape 22"/>
          <p:cNvSpPr/>
          <p:nvPr/>
        </p:nvSpPr>
        <p:spPr>
          <a:xfrm>
            <a:off x="729759" y="5749995"/>
            <a:ext cx="377461" cy="377461"/>
          </a:xfrm>
          <a:custGeom>
            <a:avLst/>
            <a:gdLst/>
            <a:ahLst/>
            <a:cxnLst/>
            <a:rect l="l" t="t" r="r" b="b"/>
            <a:pathLst>
              <a:path w="377461" h="377461">
                <a:moveTo>
                  <a:pt x="188731" y="0"/>
                </a:moveTo>
                <a:lnTo>
                  <a:pt x="188731" y="0"/>
                </a:lnTo>
                <a:cubicBezTo>
                  <a:pt x="292894" y="0"/>
                  <a:pt x="377461" y="84567"/>
                  <a:pt x="377461" y="188731"/>
                </a:cubicBezTo>
                <a:lnTo>
                  <a:pt x="377461" y="188731"/>
                </a:lnTo>
                <a:cubicBezTo>
                  <a:pt x="377461" y="292894"/>
                  <a:pt x="292894" y="377461"/>
                  <a:pt x="188731" y="377461"/>
                </a:cubicBezTo>
                <a:lnTo>
                  <a:pt x="188731" y="377461"/>
                </a:lnTo>
                <a:cubicBezTo>
                  <a:pt x="84567" y="377461"/>
                  <a:pt x="0" y="292894"/>
                  <a:pt x="0" y="188731"/>
                </a:cubicBezTo>
                <a:lnTo>
                  <a:pt x="0" y="188731"/>
                </a:lnTo>
                <a:cubicBezTo>
                  <a:pt x="0" y="84567"/>
                  <a:pt x="84567" y="0"/>
                  <a:pt x="188731" y="0"/>
                </a:cubicBezTo>
                <a:close/>
              </a:path>
            </a:pathLst>
          </a:custGeom>
          <a:solidFill>
            <a:srgbClr val="C9A36A"/>
          </a:solidFill>
          <a:ln/>
        </p:spPr>
        <p:txBody>
          <a:bodyPr/>
          <a:lstStyle/>
          <a:p>
            <a:endParaRPr lang="en-IN"/>
          </a:p>
        </p:txBody>
      </p:sp>
      <p:sp>
        <p:nvSpPr>
          <p:cNvPr id="25" name="Text 23"/>
          <p:cNvSpPr/>
          <p:nvPr/>
        </p:nvSpPr>
        <p:spPr>
          <a:xfrm>
            <a:off x="880055" y="5825488"/>
            <a:ext cx="150985" cy="226477"/>
          </a:xfrm>
          <a:prstGeom prst="rect">
            <a:avLst/>
          </a:prstGeom>
          <a:noFill/>
          <a:ln/>
        </p:spPr>
        <p:txBody>
          <a:bodyPr wrap="square" lIns="0" tIns="0" rIns="0" bIns="0" rtlCol="0" anchor="ctr"/>
          <a:lstStyle/>
          <a:p>
            <a:pPr>
              <a:lnSpc>
                <a:spcPct val="120000"/>
              </a:lnSpc>
            </a:pPr>
            <a:r>
              <a:rPr lang="en-US" sz="1189" b="1" dirty="0">
                <a:solidFill>
                  <a:srgbClr val="111111"/>
                </a:solidFill>
                <a:latin typeface="Quattrocento Sans" pitchFamily="34" charset="0"/>
                <a:ea typeface="Quattrocento Sans" pitchFamily="34" charset="-122"/>
                <a:cs typeface="Quattrocento Sans" pitchFamily="34" charset="-120"/>
              </a:rPr>
              <a:t>4</a:t>
            </a:r>
            <a:endParaRPr lang="en-US" sz="1600" dirty="0"/>
          </a:p>
        </p:txBody>
      </p:sp>
      <p:sp>
        <p:nvSpPr>
          <p:cNvPr id="26" name="Text 24"/>
          <p:cNvSpPr/>
          <p:nvPr/>
        </p:nvSpPr>
        <p:spPr>
          <a:xfrm>
            <a:off x="1258204" y="5749995"/>
            <a:ext cx="4472916" cy="226477"/>
          </a:xfrm>
          <a:prstGeom prst="rect">
            <a:avLst/>
          </a:prstGeom>
          <a:noFill/>
          <a:ln/>
        </p:spPr>
        <p:txBody>
          <a:bodyPr wrap="square" lIns="0" tIns="0" rIns="0" bIns="0" rtlCol="0" anchor="ctr"/>
          <a:lstStyle/>
          <a:p>
            <a:pPr>
              <a:lnSpc>
                <a:spcPct val="120000"/>
              </a:lnSpc>
            </a:pPr>
            <a:r>
              <a:rPr lang="en-US" sz="1189" b="1" dirty="0">
                <a:solidFill>
                  <a:srgbClr val="F2F2F2"/>
                </a:solidFill>
                <a:latin typeface="Quattrocento Sans" pitchFamily="34" charset="0"/>
                <a:ea typeface="Quattrocento Sans" pitchFamily="34" charset="-122"/>
                <a:cs typeface="Quattrocento Sans" pitchFamily="34" charset="-120"/>
              </a:rPr>
              <a:t>Check Confidence</a:t>
            </a:r>
            <a:endParaRPr lang="en-US" sz="1600" dirty="0"/>
          </a:p>
        </p:txBody>
      </p:sp>
      <p:sp>
        <p:nvSpPr>
          <p:cNvPr id="27" name="Text 25"/>
          <p:cNvSpPr/>
          <p:nvPr/>
        </p:nvSpPr>
        <p:spPr>
          <a:xfrm>
            <a:off x="1258204" y="6014218"/>
            <a:ext cx="4472916" cy="490700"/>
          </a:xfrm>
          <a:prstGeom prst="rect">
            <a:avLst/>
          </a:prstGeom>
          <a:noFill/>
          <a:ln/>
        </p:spPr>
        <p:txBody>
          <a:bodyPr wrap="square" lIns="0" tIns="0" rIns="0" bIns="0" rtlCol="0" anchor="ctr"/>
          <a:lstStyle/>
          <a:p>
            <a:pPr>
              <a:lnSpc>
                <a:spcPct val="140000"/>
              </a:lnSpc>
            </a:pPr>
            <a:r>
              <a:rPr lang="en-US" sz="1189" dirty="0">
                <a:solidFill>
                  <a:srgbClr val="B8B8B8"/>
                </a:solidFill>
                <a:latin typeface="Quattrocento Sans" pitchFamily="34" charset="0"/>
                <a:ea typeface="Quattrocento Sans" pitchFamily="34" charset="-122"/>
                <a:cs typeface="Quattrocento Sans" pitchFamily="34" charset="-120"/>
              </a:rPr>
              <a:t>System evaluates confidence score to ensure reliable recognition. Only high-confidence matches are accepted.</a:t>
            </a:r>
            <a:endParaRPr lang="en-US" sz="1600" dirty="0"/>
          </a:p>
        </p:txBody>
      </p:sp>
      <p:sp>
        <p:nvSpPr>
          <p:cNvPr id="28" name="Shape 26"/>
          <p:cNvSpPr/>
          <p:nvPr/>
        </p:nvSpPr>
        <p:spPr>
          <a:xfrm>
            <a:off x="6195575" y="1437498"/>
            <a:ext cx="5621028" cy="3846960"/>
          </a:xfrm>
          <a:custGeom>
            <a:avLst/>
            <a:gdLst/>
            <a:ahLst/>
            <a:cxnLst/>
            <a:rect l="l" t="t" r="r" b="b"/>
            <a:pathLst>
              <a:path w="5621028" h="3846960">
                <a:moveTo>
                  <a:pt x="0" y="0"/>
                </a:moveTo>
                <a:lnTo>
                  <a:pt x="5621028" y="0"/>
                </a:lnTo>
                <a:lnTo>
                  <a:pt x="5621028" y="3846960"/>
                </a:lnTo>
                <a:lnTo>
                  <a:pt x="0" y="384696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29" name="Text 27"/>
          <p:cNvSpPr/>
          <p:nvPr/>
        </p:nvSpPr>
        <p:spPr>
          <a:xfrm>
            <a:off x="6387451" y="1629378"/>
            <a:ext cx="5331641" cy="264223"/>
          </a:xfrm>
          <a:prstGeom prst="rect">
            <a:avLst/>
          </a:prstGeom>
          <a:noFill/>
          <a:ln/>
        </p:spPr>
        <p:txBody>
          <a:bodyPr wrap="square" lIns="0" tIns="0" rIns="0" bIns="0" rtlCol="0" anchor="ctr"/>
          <a:lstStyle/>
          <a:p>
            <a:pPr>
              <a:lnSpc>
                <a:spcPct val="120000"/>
              </a:lnSpc>
            </a:pPr>
            <a:r>
              <a:rPr lang="en-US" sz="1486" b="1" dirty="0">
                <a:solidFill>
                  <a:srgbClr val="C9A36A"/>
                </a:solidFill>
                <a:latin typeface="Quattrocento Sans" pitchFamily="34" charset="0"/>
                <a:ea typeface="Quattrocento Sans" pitchFamily="34" charset="-122"/>
                <a:cs typeface="Quattrocento Sans" pitchFamily="34" charset="-120"/>
              </a:rPr>
              <a:t>Attendance Marking</a:t>
            </a:r>
            <a:endParaRPr lang="en-US" sz="1600" dirty="0"/>
          </a:p>
        </p:txBody>
      </p:sp>
      <p:sp>
        <p:nvSpPr>
          <p:cNvPr id="30" name="Shape 28"/>
          <p:cNvSpPr/>
          <p:nvPr/>
        </p:nvSpPr>
        <p:spPr>
          <a:xfrm>
            <a:off x="6390597" y="2047731"/>
            <a:ext cx="5234130" cy="1780359"/>
          </a:xfrm>
          <a:custGeom>
            <a:avLst/>
            <a:gdLst/>
            <a:ahLst/>
            <a:cxnLst/>
            <a:rect l="l" t="t" r="r" b="b"/>
            <a:pathLst>
              <a:path w="5234130" h="1780359">
                <a:moveTo>
                  <a:pt x="0" y="0"/>
                </a:moveTo>
                <a:lnTo>
                  <a:pt x="5234130" y="0"/>
                </a:lnTo>
                <a:lnTo>
                  <a:pt x="5234130" y="1780359"/>
                </a:lnTo>
                <a:lnTo>
                  <a:pt x="0" y="1780359"/>
                </a:lnTo>
                <a:lnTo>
                  <a:pt x="0" y="0"/>
                </a:lnTo>
                <a:close/>
              </a:path>
            </a:pathLst>
          </a:custGeom>
          <a:solidFill>
            <a:srgbClr val="111111"/>
          </a:solidFill>
          <a:ln w="8467">
            <a:solidFill>
              <a:srgbClr val="2B2B2B"/>
            </a:solidFill>
            <a:prstDash val="solid"/>
          </a:ln>
        </p:spPr>
        <p:txBody>
          <a:bodyPr/>
          <a:lstStyle/>
          <a:p>
            <a:endParaRPr lang="en-IN"/>
          </a:p>
        </p:txBody>
      </p:sp>
      <p:sp>
        <p:nvSpPr>
          <p:cNvPr id="31" name="Shape 29"/>
          <p:cNvSpPr/>
          <p:nvPr/>
        </p:nvSpPr>
        <p:spPr>
          <a:xfrm>
            <a:off x="6568318" y="2239605"/>
            <a:ext cx="188731" cy="188731"/>
          </a:xfrm>
          <a:custGeom>
            <a:avLst/>
            <a:gdLst/>
            <a:ahLst/>
            <a:cxnLst/>
            <a:rect l="l" t="t" r="r" b="b"/>
            <a:pathLst>
              <a:path w="188731" h="188731">
                <a:moveTo>
                  <a:pt x="94365" y="188731"/>
                </a:moveTo>
                <a:cubicBezTo>
                  <a:pt x="146447" y="188731"/>
                  <a:pt x="188731" y="146447"/>
                  <a:pt x="188731" y="94365"/>
                </a:cubicBezTo>
                <a:cubicBezTo>
                  <a:pt x="188731" y="42284"/>
                  <a:pt x="146447" y="0"/>
                  <a:pt x="94365" y="0"/>
                </a:cubicBezTo>
                <a:cubicBezTo>
                  <a:pt x="42284" y="0"/>
                  <a:pt x="0" y="42284"/>
                  <a:pt x="0" y="94365"/>
                </a:cubicBezTo>
                <a:cubicBezTo>
                  <a:pt x="0" y="146447"/>
                  <a:pt x="42284" y="188731"/>
                  <a:pt x="94365" y="188731"/>
                </a:cubicBezTo>
                <a:close/>
                <a:moveTo>
                  <a:pt x="125476" y="78404"/>
                </a:moveTo>
                <a:lnTo>
                  <a:pt x="95987" y="125587"/>
                </a:lnTo>
                <a:cubicBezTo>
                  <a:pt x="94439" y="128057"/>
                  <a:pt x="91785" y="129605"/>
                  <a:pt x="88873" y="129752"/>
                </a:cubicBezTo>
                <a:cubicBezTo>
                  <a:pt x="85961" y="129900"/>
                  <a:pt x="83159" y="128573"/>
                  <a:pt x="81427" y="126214"/>
                </a:cubicBezTo>
                <a:lnTo>
                  <a:pt x="63733" y="102622"/>
                </a:lnTo>
                <a:cubicBezTo>
                  <a:pt x="60785" y="98715"/>
                  <a:pt x="61595" y="93186"/>
                  <a:pt x="65503" y="90237"/>
                </a:cubicBezTo>
                <a:cubicBezTo>
                  <a:pt x="69410" y="87288"/>
                  <a:pt x="74939" y="88099"/>
                  <a:pt x="77888" y="92006"/>
                </a:cubicBezTo>
                <a:lnTo>
                  <a:pt x="87841" y="105276"/>
                </a:lnTo>
                <a:lnTo>
                  <a:pt x="110474" y="69042"/>
                </a:lnTo>
                <a:cubicBezTo>
                  <a:pt x="113054" y="64913"/>
                  <a:pt x="118510" y="63623"/>
                  <a:pt x="122675" y="66240"/>
                </a:cubicBezTo>
                <a:cubicBezTo>
                  <a:pt x="126840" y="68857"/>
                  <a:pt x="128094" y="74276"/>
                  <a:pt x="125476" y="78441"/>
                </a:cubicBezTo>
                <a:close/>
              </a:path>
            </a:pathLst>
          </a:custGeom>
          <a:solidFill>
            <a:srgbClr val="C9A36A"/>
          </a:solidFill>
          <a:ln/>
        </p:spPr>
        <p:txBody>
          <a:bodyPr/>
          <a:lstStyle/>
          <a:p>
            <a:endParaRPr lang="en-IN"/>
          </a:p>
        </p:txBody>
      </p:sp>
      <p:sp>
        <p:nvSpPr>
          <p:cNvPr id="32" name="Text 30"/>
          <p:cNvSpPr/>
          <p:nvPr/>
        </p:nvSpPr>
        <p:spPr>
          <a:xfrm>
            <a:off x="6893879" y="2201859"/>
            <a:ext cx="1179567" cy="264223"/>
          </a:xfrm>
          <a:prstGeom prst="rect">
            <a:avLst/>
          </a:prstGeom>
          <a:noFill/>
          <a:ln/>
        </p:spPr>
        <p:txBody>
          <a:bodyPr wrap="square" lIns="0" tIns="0" rIns="0" bIns="0" rtlCol="0" anchor="ctr"/>
          <a:lstStyle/>
          <a:p>
            <a:pPr>
              <a:lnSpc>
                <a:spcPct val="130000"/>
              </a:lnSpc>
            </a:pPr>
            <a:r>
              <a:rPr lang="en-US" sz="1337" b="1" dirty="0">
                <a:solidFill>
                  <a:srgbClr val="F2F2F2"/>
                </a:solidFill>
                <a:latin typeface="Quattrocento Sans" pitchFamily="34" charset="0"/>
                <a:ea typeface="Quattrocento Sans" pitchFamily="34" charset="-122"/>
                <a:cs typeface="Quattrocento Sans" pitchFamily="34" charset="-120"/>
              </a:rPr>
              <a:t>If Match Found</a:t>
            </a:r>
            <a:endParaRPr lang="en-US" sz="1600" dirty="0"/>
          </a:p>
        </p:txBody>
      </p:sp>
      <p:sp>
        <p:nvSpPr>
          <p:cNvPr id="33" name="Text 31"/>
          <p:cNvSpPr/>
          <p:nvPr/>
        </p:nvSpPr>
        <p:spPr>
          <a:xfrm>
            <a:off x="6846696" y="2541574"/>
            <a:ext cx="4699393" cy="226477"/>
          </a:xfrm>
          <a:prstGeom prst="rect">
            <a:avLst/>
          </a:prstGeom>
          <a:noFill/>
          <a:ln/>
        </p:spPr>
        <p:txBody>
          <a:bodyPr wrap="square" lIns="0" tIns="0" rIns="0" bIns="0" rtlCol="0" anchor="ctr"/>
          <a:lstStyle/>
          <a:p>
            <a:pPr>
              <a:lnSpc>
                <a:spcPct val="120000"/>
              </a:lnSpc>
            </a:pPr>
            <a:r>
              <a:rPr lang="en-US" sz="1189" dirty="0">
                <a:solidFill>
                  <a:srgbClr val="B8B8B8"/>
                </a:solidFill>
                <a:latin typeface="Quattrocento Sans" pitchFamily="34" charset="0"/>
                <a:ea typeface="Quattrocento Sans" pitchFamily="34" charset="-122"/>
                <a:cs typeface="Quattrocento Sans" pitchFamily="34" charset="-120"/>
              </a:rPr>
              <a:t>✓ Display name on screen</a:t>
            </a:r>
            <a:endParaRPr lang="en-US" sz="1600" dirty="0"/>
          </a:p>
        </p:txBody>
      </p:sp>
      <p:sp>
        <p:nvSpPr>
          <p:cNvPr id="34" name="Text 32"/>
          <p:cNvSpPr/>
          <p:nvPr/>
        </p:nvSpPr>
        <p:spPr>
          <a:xfrm>
            <a:off x="6846696" y="2843543"/>
            <a:ext cx="4699393" cy="226477"/>
          </a:xfrm>
          <a:prstGeom prst="rect">
            <a:avLst/>
          </a:prstGeom>
          <a:noFill/>
          <a:ln/>
        </p:spPr>
        <p:txBody>
          <a:bodyPr wrap="square" lIns="0" tIns="0" rIns="0" bIns="0" rtlCol="0" anchor="ctr"/>
          <a:lstStyle/>
          <a:p>
            <a:pPr>
              <a:lnSpc>
                <a:spcPct val="120000"/>
              </a:lnSpc>
            </a:pPr>
            <a:r>
              <a:rPr lang="en-US" sz="1189" dirty="0">
                <a:solidFill>
                  <a:srgbClr val="B8B8B8"/>
                </a:solidFill>
                <a:latin typeface="Quattrocento Sans" pitchFamily="34" charset="0"/>
                <a:ea typeface="Quattrocento Sans" pitchFamily="34" charset="-122"/>
                <a:cs typeface="Quattrocento Sans" pitchFamily="34" charset="-120"/>
              </a:rPr>
              <a:t>✓ Mark attendance with timestamp</a:t>
            </a:r>
            <a:endParaRPr lang="en-US" sz="1600" dirty="0"/>
          </a:p>
        </p:txBody>
      </p:sp>
      <p:sp>
        <p:nvSpPr>
          <p:cNvPr id="35" name="Text 33"/>
          <p:cNvSpPr/>
          <p:nvPr/>
        </p:nvSpPr>
        <p:spPr>
          <a:xfrm>
            <a:off x="6846696" y="3145512"/>
            <a:ext cx="4699393" cy="226477"/>
          </a:xfrm>
          <a:prstGeom prst="rect">
            <a:avLst/>
          </a:prstGeom>
          <a:noFill/>
          <a:ln/>
        </p:spPr>
        <p:txBody>
          <a:bodyPr wrap="square" lIns="0" tIns="0" rIns="0" bIns="0" rtlCol="0" anchor="ctr"/>
          <a:lstStyle/>
          <a:p>
            <a:pPr>
              <a:lnSpc>
                <a:spcPct val="120000"/>
              </a:lnSpc>
            </a:pPr>
            <a:r>
              <a:rPr lang="en-US" sz="1189" dirty="0">
                <a:solidFill>
                  <a:srgbClr val="B8B8B8"/>
                </a:solidFill>
                <a:latin typeface="Quattrocento Sans" pitchFamily="34" charset="0"/>
                <a:ea typeface="Quattrocento Sans" pitchFamily="34" charset="-122"/>
                <a:cs typeface="Quattrocento Sans" pitchFamily="34" charset="-120"/>
              </a:rPr>
              <a:t>✓ Save to CSV file</a:t>
            </a:r>
            <a:endParaRPr lang="en-US" sz="1600" dirty="0"/>
          </a:p>
        </p:txBody>
      </p:sp>
      <p:sp>
        <p:nvSpPr>
          <p:cNvPr id="36" name="Text 34"/>
          <p:cNvSpPr/>
          <p:nvPr/>
        </p:nvSpPr>
        <p:spPr>
          <a:xfrm>
            <a:off x="6846696" y="3447481"/>
            <a:ext cx="4699393" cy="226477"/>
          </a:xfrm>
          <a:prstGeom prst="rect">
            <a:avLst/>
          </a:prstGeom>
          <a:noFill/>
          <a:ln/>
        </p:spPr>
        <p:txBody>
          <a:bodyPr wrap="square" lIns="0" tIns="0" rIns="0" bIns="0" rtlCol="0" anchor="ctr"/>
          <a:lstStyle/>
          <a:p>
            <a:pPr>
              <a:lnSpc>
                <a:spcPct val="120000"/>
              </a:lnSpc>
            </a:pPr>
            <a:r>
              <a:rPr lang="en-US" sz="1189" dirty="0">
                <a:solidFill>
                  <a:srgbClr val="B8B8B8"/>
                </a:solidFill>
                <a:latin typeface="Quattrocento Sans" pitchFamily="34" charset="0"/>
                <a:ea typeface="Quattrocento Sans" pitchFamily="34" charset="-122"/>
                <a:cs typeface="Quattrocento Sans" pitchFamily="34" charset="-120"/>
              </a:rPr>
              <a:t>✓ Store in MySQL database</a:t>
            </a:r>
            <a:endParaRPr lang="en-US" sz="1600" dirty="0"/>
          </a:p>
        </p:txBody>
      </p:sp>
      <p:sp>
        <p:nvSpPr>
          <p:cNvPr id="37" name="Shape 35"/>
          <p:cNvSpPr/>
          <p:nvPr/>
        </p:nvSpPr>
        <p:spPr>
          <a:xfrm>
            <a:off x="6390597" y="3947616"/>
            <a:ext cx="5234130" cy="1138675"/>
          </a:xfrm>
          <a:custGeom>
            <a:avLst/>
            <a:gdLst/>
            <a:ahLst/>
            <a:cxnLst/>
            <a:rect l="l" t="t" r="r" b="b"/>
            <a:pathLst>
              <a:path w="5234130" h="1138675">
                <a:moveTo>
                  <a:pt x="0" y="0"/>
                </a:moveTo>
                <a:lnTo>
                  <a:pt x="5234130" y="0"/>
                </a:lnTo>
                <a:lnTo>
                  <a:pt x="5234130" y="1138675"/>
                </a:lnTo>
                <a:lnTo>
                  <a:pt x="0" y="1138675"/>
                </a:lnTo>
                <a:lnTo>
                  <a:pt x="0" y="0"/>
                </a:lnTo>
                <a:close/>
              </a:path>
            </a:pathLst>
          </a:custGeom>
          <a:solidFill>
            <a:srgbClr val="111111"/>
          </a:solidFill>
          <a:ln w="8467">
            <a:solidFill>
              <a:srgbClr val="2B2B2B"/>
            </a:solidFill>
            <a:prstDash val="solid"/>
          </a:ln>
        </p:spPr>
        <p:txBody>
          <a:bodyPr/>
          <a:lstStyle/>
          <a:p>
            <a:endParaRPr lang="en-IN"/>
          </a:p>
        </p:txBody>
      </p:sp>
      <p:sp>
        <p:nvSpPr>
          <p:cNvPr id="38" name="Shape 36"/>
          <p:cNvSpPr/>
          <p:nvPr/>
        </p:nvSpPr>
        <p:spPr>
          <a:xfrm>
            <a:off x="6568318" y="4139495"/>
            <a:ext cx="188731" cy="188731"/>
          </a:xfrm>
          <a:custGeom>
            <a:avLst/>
            <a:gdLst/>
            <a:ahLst/>
            <a:cxnLst/>
            <a:rect l="l" t="t" r="r" b="b"/>
            <a:pathLst>
              <a:path w="188731" h="188731">
                <a:moveTo>
                  <a:pt x="94365" y="0"/>
                </a:moveTo>
                <a:cubicBezTo>
                  <a:pt x="96061" y="0"/>
                  <a:pt x="97757" y="369"/>
                  <a:pt x="99305" y="1069"/>
                </a:cubicBezTo>
                <a:lnTo>
                  <a:pt x="168752" y="30521"/>
                </a:lnTo>
                <a:cubicBezTo>
                  <a:pt x="176861" y="33949"/>
                  <a:pt x="182907" y="41948"/>
                  <a:pt x="182870" y="51606"/>
                </a:cubicBezTo>
                <a:cubicBezTo>
                  <a:pt x="182685" y="88173"/>
                  <a:pt x="167646" y="155076"/>
                  <a:pt x="104134" y="185487"/>
                </a:cubicBezTo>
                <a:cubicBezTo>
                  <a:pt x="97978" y="188436"/>
                  <a:pt x="90827" y="188436"/>
                  <a:pt x="84671" y="185487"/>
                </a:cubicBezTo>
                <a:cubicBezTo>
                  <a:pt x="21122" y="155076"/>
                  <a:pt x="6119" y="88173"/>
                  <a:pt x="5935" y="51606"/>
                </a:cubicBezTo>
                <a:cubicBezTo>
                  <a:pt x="5898" y="41948"/>
                  <a:pt x="11943" y="33949"/>
                  <a:pt x="20053" y="30521"/>
                </a:cubicBezTo>
                <a:lnTo>
                  <a:pt x="89463" y="1069"/>
                </a:lnTo>
                <a:cubicBezTo>
                  <a:pt x="91011" y="369"/>
                  <a:pt x="92670" y="0"/>
                  <a:pt x="94365" y="0"/>
                </a:cubicBezTo>
                <a:close/>
                <a:moveTo>
                  <a:pt x="94365" y="24623"/>
                </a:moveTo>
                <a:lnTo>
                  <a:pt x="94365" y="163997"/>
                </a:lnTo>
                <a:cubicBezTo>
                  <a:pt x="145234" y="139373"/>
                  <a:pt x="158910" y="84818"/>
                  <a:pt x="159241" y="52159"/>
                </a:cubicBezTo>
                <a:lnTo>
                  <a:pt x="94365" y="24660"/>
                </a:lnTo>
                <a:lnTo>
                  <a:pt x="94365" y="24660"/>
                </a:lnTo>
                <a:close/>
              </a:path>
            </a:pathLst>
          </a:custGeom>
          <a:solidFill>
            <a:srgbClr val="C9A36A"/>
          </a:solidFill>
          <a:ln/>
        </p:spPr>
        <p:txBody>
          <a:bodyPr/>
          <a:lstStyle/>
          <a:p>
            <a:endParaRPr lang="en-IN"/>
          </a:p>
        </p:txBody>
      </p:sp>
      <p:sp>
        <p:nvSpPr>
          <p:cNvPr id="39" name="Text 37"/>
          <p:cNvSpPr/>
          <p:nvPr/>
        </p:nvSpPr>
        <p:spPr>
          <a:xfrm>
            <a:off x="6893879" y="4101749"/>
            <a:ext cx="1613647" cy="264223"/>
          </a:xfrm>
          <a:prstGeom prst="rect">
            <a:avLst/>
          </a:prstGeom>
          <a:noFill/>
          <a:ln/>
        </p:spPr>
        <p:txBody>
          <a:bodyPr wrap="square" lIns="0" tIns="0" rIns="0" bIns="0" rtlCol="0" anchor="ctr"/>
          <a:lstStyle/>
          <a:p>
            <a:pPr>
              <a:lnSpc>
                <a:spcPct val="130000"/>
              </a:lnSpc>
            </a:pPr>
            <a:r>
              <a:rPr lang="en-US" sz="1337" b="1" dirty="0">
                <a:solidFill>
                  <a:srgbClr val="F2F2F2"/>
                </a:solidFill>
                <a:latin typeface="Quattrocento Sans" pitchFamily="34" charset="0"/>
                <a:ea typeface="Quattrocento Sans" pitchFamily="34" charset="-122"/>
                <a:cs typeface="Quattrocento Sans" pitchFamily="34" charset="-120"/>
              </a:rPr>
              <a:t>Duplicate Prevention</a:t>
            </a:r>
            <a:endParaRPr lang="en-US" sz="1600" dirty="0"/>
          </a:p>
        </p:txBody>
      </p:sp>
      <p:sp>
        <p:nvSpPr>
          <p:cNvPr id="40" name="Text 38"/>
          <p:cNvSpPr/>
          <p:nvPr/>
        </p:nvSpPr>
        <p:spPr>
          <a:xfrm>
            <a:off x="6544727" y="4441464"/>
            <a:ext cx="5001362" cy="490700"/>
          </a:xfrm>
          <a:prstGeom prst="rect">
            <a:avLst/>
          </a:prstGeom>
          <a:noFill/>
          <a:ln/>
        </p:spPr>
        <p:txBody>
          <a:bodyPr wrap="square" lIns="0" tIns="0" rIns="0" bIns="0" rtlCol="0" anchor="ctr"/>
          <a:lstStyle/>
          <a:p>
            <a:pPr>
              <a:lnSpc>
                <a:spcPct val="140000"/>
              </a:lnSpc>
            </a:pPr>
            <a:r>
              <a:rPr lang="en-US" sz="1189" dirty="0">
                <a:solidFill>
                  <a:srgbClr val="B8B8B8"/>
                </a:solidFill>
                <a:latin typeface="Quattrocento Sans" pitchFamily="34" charset="0"/>
                <a:ea typeface="Quattrocento Sans" pitchFamily="34" charset="-122"/>
                <a:cs typeface="Quattrocento Sans" pitchFamily="34" charset="-120"/>
              </a:rPr>
              <a:t>System checks if attendance already marked for the day to prevent duplicate entries and maintain data integrity.</a:t>
            </a:r>
            <a:endParaRPr lang="en-US" sz="1600" dirty="0"/>
          </a:p>
        </p:txBody>
      </p:sp>
      <p:sp>
        <p:nvSpPr>
          <p:cNvPr id="41" name="Shape 39"/>
          <p:cNvSpPr/>
          <p:nvPr/>
        </p:nvSpPr>
        <p:spPr>
          <a:xfrm>
            <a:off x="6195575" y="5438588"/>
            <a:ext cx="5621028" cy="1412334"/>
          </a:xfrm>
          <a:custGeom>
            <a:avLst/>
            <a:gdLst/>
            <a:ahLst/>
            <a:cxnLst/>
            <a:rect l="l" t="t" r="r" b="b"/>
            <a:pathLst>
              <a:path w="5621028" h="1412334">
                <a:moveTo>
                  <a:pt x="0" y="0"/>
                </a:moveTo>
                <a:lnTo>
                  <a:pt x="5621028" y="0"/>
                </a:lnTo>
                <a:lnTo>
                  <a:pt x="5621028" y="1412334"/>
                </a:lnTo>
                <a:lnTo>
                  <a:pt x="0" y="1412334"/>
                </a:lnTo>
                <a:lnTo>
                  <a:pt x="0" y="0"/>
                </a:lnTo>
                <a:close/>
              </a:path>
            </a:pathLst>
          </a:custGeom>
          <a:solidFill>
            <a:srgbClr val="1A1A1A"/>
          </a:solidFill>
          <a:ln w="8467">
            <a:solidFill>
              <a:srgbClr val="2B2B2B"/>
            </a:solidFill>
            <a:prstDash val="solid"/>
          </a:ln>
        </p:spPr>
        <p:txBody>
          <a:bodyPr/>
          <a:lstStyle/>
          <a:p>
            <a:endParaRPr lang="en-IN"/>
          </a:p>
        </p:txBody>
      </p:sp>
      <p:sp>
        <p:nvSpPr>
          <p:cNvPr id="42" name="Text 40"/>
          <p:cNvSpPr/>
          <p:nvPr/>
        </p:nvSpPr>
        <p:spPr>
          <a:xfrm>
            <a:off x="6340269" y="5655630"/>
            <a:ext cx="5331641" cy="264223"/>
          </a:xfrm>
          <a:prstGeom prst="rect">
            <a:avLst/>
          </a:prstGeom>
          <a:noFill/>
          <a:ln/>
        </p:spPr>
        <p:txBody>
          <a:bodyPr wrap="square" lIns="0" tIns="0" rIns="0" bIns="0" rtlCol="0" anchor="ctr"/>
          <a:lstStyle/>
          <a:p>
            <a:pPr algn="ctr">
              <a:lnSpc>
                <a:spcPct val="120000"/>
              </a:lnSpc>
            </a:pPr>
            <a:r>
              <a:rPr lang="en-US" sz="1486" b="1" dirty="0">
                <a:solidFill>
                  <a:srgbClr val="F2F2F2"/>
                </a:solidFill>
                <a:latin typeface="Quattrocento Sans" pitchFamily="34" charset="0"/>
                <a:ea typeface="Quattrocento Sans" pitchFamily="34" charset="-122"/>
                <a:cs typeface="Quattrocento Sans" pitchFamily="34" charset="-120"/>
              </a:rPr>
              <a:t>Performance Metrics</a:t>
            </a:r>
            <a:endParaRPr lang="en-US" sz="1600" dirty="0"/>
          </a:p>
        </p:txBody>
      </p:sp>
      <p:sp>
        <p:nvSpPr>
          <p:cNvPr id="43" name="Text 41"/>
          <p:cNvSpPr/>
          <p:nvPr/>
        </p:nvSpPr>
        <p:spPr>
          <a:xfrm>
            <a:off x="6316677" y="6070837"/>
            <a:ext cx="1783505" cy="339715"/>
          </a:xfrm>
          <a:prstGeom prst="rect">
            <a:avLst/>
          </a:prstGeom>
          <a:noFill/>
          <a:ln/>
        </p:spPr>
        <p:txBody>
          <a:bodyPr wrap="square" lIns="0" tIns="0" rIns="0" bIns="0" rtlCol="0" anchor="ctr"/>
          <a:lstStyle/>
          <a:p>
            <a:pPr algn="ctr">
              <a:lnSpc>
                <a:spcPct val="100000"/>
              </a:lnSpc>
            </a:pPr>
            <a:r>
              <a:rPr lang="en-US" sz="2229" b="1" dirty="0">
                <a:solidFill>
                  <a:srgbClr val="C9A36A"/>
                </a:solidFill>
                <a:latin typeface="Quattrocento Sans" pitchFamily="34" charset="0"/>
                <a:ea typeface="Quattrocento Sans" pitchFamily="34" charset="-122"/>
                <a:cs typeface="Quattrocento Sans" pitchFamily="34" charset="-120"/>
              </a:rPr>
              <a:t>&lt;500ms</a:t>
            </a:r>
            <a:endParaRPr lang="en-US" sz="1600" dirty="0"/>
          </a:p>
        </p:txBody>
      </p:sp>
      <p:sp>
        <p:nvSpPr>
          <p:cNvPr id="44" name="Text 42"/>
          <p:cNvSpPr/>
          <p:nvPr/>
        </p:nvSpPr>
        <p:spPr>
          <a:xfrm>
            <a:off x="6354424" y="6448299"/>
            <a:ext cx="1708012" cy="188731"/>
          </a:xfrm>
          <a:prstGeom prst="rect">
            <a:avLst/>
          </a:prstGeom>
          <a:noFill/>
          <a:ln/>
        </p:spPr>
        <p:txBody>
          <a:bodyPr wrap="square" lIns="0" tIns="0" rIns="0" bIns="0" rtlCol="0" anchor="ctr"/>
          <a:lstStyle/>
          <a:p>
            <a:pPr algn="ctr">
              <a:lnSpc>
                <a:spcPct val="120000"/>
              </a:lnSpc>
            </a:pPr>
            <a:r>
              <a:rPr lang="en-US" sz="1040" dirty="0">
                <a:solidFill>
                  <a:srgbClr val="A3A3A3"/>
                </a:solidFill>
                <a:latin typeface="Quattrocento Sans" pitchFamily="34" charset="0"/>
                <a:ea typeface="Quattrocento Sans" pitchFamily="34" charset="-122"/>
                <a:cs typeface="Quattrocento Sans" pitchFamily="34" charset="-120"/>
              </a:rPr>
              <a:t>Recognition Time</a:t>
            </a:r>
            <a:endParaRPr lang="en-US" sz="1600" dirty="0"/>
          </a:p>
        </p:txBody>
      </p:sp>
      <p:sp>
        <p:nvSpPr>
          <p:cNvPr id="45" name="Text 43"/>
          <p:cNvSpPr/>
          <p:nvPr/>
        </p:nvSpPr>
        <p:spPr>
          <a:xfrm>
            <a:off x="8112371" y="6070837"/>
            <a:ext cx="1783505" cy="339715"/>
          </a:xfrm>
          <a:prstGeom prst="rect">
            <a:avLst/>
          </a:prstGeom>
          <a:noFill/>
          <a:ln/>
        </p:spPr>
        <p:txBody>
          <a:bodyPr wrap="square" lIns="0" tIns="0" rIns="0" bIns="0" rtlCol="0" anchor="ctr"/>
          <a:lstStyle/>
          <a:p>
            <a:pPr algn="ctr">
              <a:lnSpc>
                <a:spcPct val="100000"/>
              </a:lnSpc>
            </a:pPr>
            <a:r>
              <a:rPr lang="en-US" sz="2229" b="1" dirty="0">
                <a:solidFill>
                  <a:srgbClr val="C9A36A"/>
                </a:solidFill>
                <a:latin typeface="Quattrocento Sans" pitchFamily="34" charset="0"/>
                <a:ea typeface="Quattrocento Sans" pitchFamily="34" charset="-122"/>
                <a:cs typeface="Quattrocento Sans" pitchFamily="34" charset="-120"/>
              </a:rPr>
              <a:t>95%+</a:t>
            </a:r>
            <a:endParaRPr lang="en-US" sz="1600" dirty="0"/>
          </a:p>
        </p:txBody>
      </p:sp>
      <p:sp>
        <p:nvSpPr>
          <p:cNvPr id="46" name="Text 44"/>
          <p:cNvSpPr/>
          <p:nvPr/>
        </p:nvSpPr>
        <p:spPr>
          <a:xfrm>
            <a:off x="8150117" y="6448299"/>
            <a:ext cx="1708012" cy="188731"/>
          </a:xfrm>
          <a:prstGeom prst="rect">
            <a:avLst/>
          </a:prstGeom>
          <a:noFill/>
          <a:ln/>
        </p:spPr>
        <p:txBody>
          <a:bodyPr wrap="square" lIns="0" tIns="0" rIns="0" bIns="0" rtlCol="0" anchor="ctr"/>
          <a:lstStyle/>
          <a:p>
            <a:pPr algn="ctr">
              <a:lnSpc>
                <a:spcPct val="120000"/>
              </a:lnSpc>
            </a:pPr>
            <a:r>
              <a:rPr lang="en-US" sz="1040" dirty="0">
                <a:solidFill>
                  <a:srgbClr val="A3A3A3"/>
                </a:solidFill>
                <a:latin typeface="Quattrocento Sans" pitchFamily="34" charset="0"/>
                <a:ea typeface="Quattrocento Sans" pitchFamily="34" charset="-122"/>
                <a:cs typeface="Quattrocento Sans" pitchFamily="34" charset="-120"/>
              </a:rPr>
              <a:t>Accuracy</a:t>
            </a:r>
            <a:endParaRPr lang="en-US" sz="1600" dirty="0"/>
          </a:p>
        </p:txBody>
      </p:sp>
      <p:sp>
        <p:nvSpPr>
          <p:cNvPr id="47" name="Text 45"/>
          <p:cNvSpPr/>
          <p:nvPr/>
        </p:nvSpPr>
        <p:spPr>
          <a:xfrm>
            <a:off x="9908064" y="6070837"/>
            <a:ext cx="1783505" cy="339715"/>
          </a:xfrm>
          <a:prstGeom prst="rect">
            <a:avLst/>
          </a:prstGeom>
          <a:noFill/>
          <a:ln/>
        </p:spPr>
        <p:txBody>
          <a:bodyPr wrap="square" lIns="0" tIns="0" rIns="0" bIns="0" rtlCol="0" anchor="ctr"/>
          <a:lstStyle/>
          <a:p>
            <a:pPr algn="ctr">
              <a:lnSpc>
                <a:spcPct val="100000"/>
              </a:lnSpc>
            </a:pPr>
            <a:r>
              <a:rPr lang="en-US" sz="2229" b="1" dirty="0">
                <a:solidFill>
                  <a:srgbClr val="C9A36A"/>
                </a:solidFill>
                <a:latin typeface="Quattrocento Sans" pitchFamily="34" charset="0"/>
                <a:ea typeface="Quattrocento Sans" pitchFamily="34" charset="-122"/>
                <a:cs typeface="Quattrocento Sans" pitchFamily="34" charset="-120"/>
              </a:rPr>
              <a:t>30 FPS</a:t>
            </a:r>
            <a:endParaRPr lang="en-US" sz="1600" dirty="0"/>
          </a:p>
        </p:txBody>
      </p:sp>
      <p:sp>
        <p:nvSpPr>
          <p:cNvPr id="48" name="Text 46"/>
          <p:cNvSpPr/>
          <p:nvPr/>
        </p:nvSpPr>
        <p:spPr>
          <a:xfrm>
            <a:off x="9945810" y="6448299"/>
            <a:ext cx="1708012" cy="188731"/>
          </a:xfrm>
          <a:prstGeom prst="rect">
            <a:avLst/>
          </a:prstGeom>
          <a:noFill/>
          <a:ln/>
        </p:spPr>
        <p:txBody>
          <a:bodyPr wrap="square" lIns="0" tIns="0" rIns="0" bIns="0" rtlCol="0" anchor="ctr"/>
          <a:lstStyle/>
          <a:p>
            <a:pPr algn="ctr">
              <a:lnSpc>
                <a:spcPct val="120000"/>
              </a:lnSpc>
            </a:pPr>
            <a:r>
              <a:rPr lang="en-US" sz="1040" dirty="0">
                <a:solidFill>
                  <a:srgbClr val="A3A3A3"/>
                </a:solidFill>
                <a:latin typeface="Quattrocento Sans" pitchFamily="34" charset="0"/>
                <a:ea typeface="Quattrocento Sans" pitchFamily="34" charset="-122"/>
                <a:cs typeface="Quattrocento Sans" pitchFamily="34" charset="-120"/>
              </a:rPr>
              <a:t>Frame Rate</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pic>
        <p:nvPicPr>
          <p:cNvPr id="2" name="Image 0" descr="https://kimi-web-img.moonshot.cn/img/itchronicles.com/b232acd32f292998de0b9aa3e75a1f84055b4fbe.jpg"/>
          <p:cNvPicPr>
            <a:picLocks noChangeAspect="1"/>
          </p:cNvPicPr>
          <p:nvPr/>
        </p:nvPicPr>
        <p:blipFill>
          <a:blip r:embed="rId3">
            <a:alphaModFix amt="30000"/>
          </a:blip>
          <a:srcRect t="4268" b="426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11111"/>
              </a:gs>
              <a:gs pos="50000">
                <a:srgbClr val="111111">
                  <a:alpha val="90000"/>
                </a:srgbClr>
              </a:gs>
              <a:gs pos="100000">
                <a:srgbClr val="111111">
                  <a:alpha val="70000"/>
                </a:srgbClr>
              </a:gs>
            </a:gsLst>
            <a:lin ang="16200000" scaled="1"/>
          </a:gradFill>
          <a:ln/>
        </p:spPr>
        <p:txBody>
          <a:bodyPr/>
          <a:lstStyle/>
          <a:p>
            <a:endParaRPr lang="en-IN"/>
          </a:p>
        </p:txBody>
      </p:sp>
      <p:sp>
        <p:nvSpPr>
          <p:cNvPr id="4" name="Text 1"/>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315" dirty="0">
                <a:solidFill>
                  <a:srgbClr val="C9A36A"/>
                </a:solidFill>
                <a:latin typeface="Quattrocento Sans" pitchFamily="34" charset="0"/>
                <a:ea typeface="Quattrocento Sans" pitchFamily="34" charset="-122"/>
                <a:cs typeface="Quattrocento Sans" pitchFamily="34" charset="-120"/>
              </a:rPr>
              <a:t>09 / Conclusion</a:t>
            </a:r>
            <a:endParaRPr lang="en-US" sz="1600" dirty="0"/>
          </a:p>
        </p:txBody>
      </p:sp>
      <p:sp>
        <p:nvSpPr>
          <p:cNvPr id="5" name="Text 2"/>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2F2F2"/>
                </a:solidFill>
                <a:latin typeface="Oranienbaum" pitchFamily="34" charset="0"/>
                <a:ea typeface="Oranienbaum" pitchFamily="34" charset="-122"/>
                <a:cs typeface="Oranienbaum" pitchFamily="34" charset="-120"/>
              </a:rPr>
              <a:t>Conclusion &amp; Future Scope</a:t>
            </a:r>
            <a:endParaRPr lang="en-US" sz="1600" dirty="0"/>
          </a:p>
        </p:txBody>
      </p:sp>
      <p:sp>
        <p:nvSpPr>
          <p:cNvPr id="6" name="Shape 3"/>
          <p:cNvSpPr/>
          <p:nvPr/>
        </p:nvSpPr>
        <p:spPr>
          <a:xfrm>
            <a:off x="381000" y="12573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9A36A"/>
          </a:solidFill>
          <a:ln/>
        </p:spPr>
        <p:txBody>
          <a:bodyPr/>
          <a:lstStyle/>
          <a:p>
            <a:endParaRPr lang="en-IN"/>
          </a:p>
        </p:txBody>
      </p:sp>
      <p:sp>
        <p:nvSpPr>
          <p:cNvPr id="7" name="Shape 4"/>
          <p:cNvSpPr/>
          <p:nvPr/>
        </p:nvSpPr>
        <p:spPr>
          <a:xfrm>
            <a:off x="384175" y="1527175"/>
            <a:ext cx="5597525" cy="4502150"/>
          </a:xfrm>
          <a:custGeom>
            <a:avLst/>
            <a:gdLst/>
            <a:ahLst/>
            <a:cxnLst/>
            <a:rect l="l" t="t" r="r" b="b"/>
            <a:pathLst>
              <a:path w="5597525" h="4502150">
                <a:moveTo>
                  <a:pt x="0" y="0"/>
                </a:moveTo>
                <a:lnTo>
                  <a:pt x="5597525" y="0"/>
                </a:lnTo>
                <a:lnTo>
                  <a:pt x="5597525" y="4502150"/>
                </a:lnTo>
                <a:lnTo>
                  <a:pt x="0" y="4502150"/>
                </a:lnTo>
                <a:lnTo>
                  <a:pt x="0" y="0"/>
                </a:lnTo>
                <a:close/>
              </a:path>
            </a:pathLst>
          </a:custGeom>
          <a:solidFill>
            <a:srgbClr val="1A1A1A">
              <a:alpha val="90196"/>
            </a:srgbClr>
          </a:solidFill>
          <a:ln w="8467">
            <a:solidFill>
              <a:srgbClr val="2B2B2B"/>
            </a:solidFill>
            <a:prstDash val="solid"/>
          </a:ln>
        </p:spPr>
        <p:txBody>
          <a:bodyPr/>
          <a:lstStyle/>
          <a:p>
            <a:endParaRPr lang="en-IN"/>
          </a:p>
        </p:txBody>
      </p:sp>
      <p:sp>
        <p:nvSpPr>
          <p:cNvPr id="8" name="Shape 5"/>
          <p:cNvSpPr/>
          <p:nvPr/>
        </p:nvSpPr>
        <p:spPr>
          <a:xfrm>
            <a:off x="615950" y="175895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txBody>
          <a:bodyPr/>
          <a:lstStyle/>
          <a:p>
            <a:endParaRPr lang="en-IN"/>
          </a:p>
        </p:txBody>
      </p:sp>
      <p:sp>
        <p:nvSpPr>
          <p:cNvPr id="9" name="Shape 6"/>
          <p:cNvSpPr/>
          <p:nvPr/>
        </p:nvSpPr>
        <p:spPr>
          <a:xfrm>
            <a:off x="768350" y="1911353"/>
            <a:ext cx="228600" cy="228600"/>
          </a:xfrm>
          <a:custGeom>
            <a:avLst/>
            <a:gdLst/>
            <a:ahLst/>
            <a:cxnLst/>
            <a:rect l="l" t="t" r="r" b="b"/>
            <a:pathLst>
              <a:path w="228600" h="228600">
                <a:moveTo>
                  <a:pt x="64428" y="0"/>
                </a:moveTo>
                <a:lnTo>
                  <a:pt x="164440" y="0"/>
                </a:lnTo>
                <a:cubicBezTo>
                  <a:pt x="176272" y="0"/>
                  <a:pt x="185916" y="9733"/>
                  <a:pt x="185470" y="21521"/>
                </a:cubicBezTo>
                <a:cubicBezTo>
                  <a:pt x="185380" y="23887"/>
                  <a:pt x="185291" y="26253"/>
                  <a:pt x="185157" y="28575"/>
                </a:cubicBezTo>
                <a:lnTo>
                  <a:pt x="207303" y="28575"/>
                </a:lnTo>
                <a:cubicBezTo>
                  <a:pt x="218956" y="28575"/>
                  <a:pt x="229225" y="38219"/>
                  <a:pt x="228332" y="50810"/>
                </a:cubicBezTo>
                <a:cubicBezTo>
                  <a:pt x="224983" y="97110"/>
                  <a:pt x="201320" y="122560"/>
                  <a:pt x="175647" y="135865"/>
                </a:cubicBezTo>
                <a:cubicBezTo>
                  <a:pt x="168593" y="139526"/>
                  <a:pt x="161404" y="142250"/>
                  <a:pt x="154573" y="144259"/>
                </a:cubicBezTo>
                <a:cubicBezTo>
                  <a:pt x="145554" y="157029"/>
                  <a:pt x="136178" y="163770"/>
                  <a:pt x="128721" y="167387"/>
                </a:cubicBezTo>
                <a:lnTo>
                  <a:pt x="128721" y="200025"/>
                </a:lnTo>
                <a:lnTo>
                  <a:pt x="157296" y="200025"/>
                </a:lnTo>
                <a:cubicBezTo>
                  <a:pt x="165199" y="200025"/>
                  <a:pt x="171584" y="206410"/>
                  <a:pt x="171584" y="214313"/>
                </a:cubicBezTo>
                <a:cubicBezTo>
                  <a:pt x="171584" y="222215"/>
                  <a:pt x="165199" y="228600"/>
                  <a:pt x="157296" y="228600"/>
                </a:cubicBezTo>
                <a:lnTo>
                  <a:pt x="71571" y="228600"/>
                </a:lnTo>
                <a:cubicBezTo>
                  <a:pt x="63669" y="228600"/>
                  <a:pt x="57284" y="222215"/>
                  <a:pt x="57284" y="214313"/>
                </a:cubicBezTo>
                <a:cubicBezTo>
                  <a:pt x="57284" y="206410"/>
                  <a:pt x="63669" y="200025"/>
                  <a:pt x="71571" y="200025"/>
                </a:cubicBezTo>
                <a:lnTo>
                  <a:pt x="100146" y="200025"/>
                </a:lnTo>
                <a:lnTo>
                  <a:pt x="100146" y="167387"/>
                </a:lnTo>
                <a:cubicBezTo>
                  <a:pt x="93003" y="163949"/>
                  <a:pt x="84118" y="157564"/>
                  <a:pt x="75456" y="145822"/>
                </a:cubicBezTo>
                <a:cubicBezTo>
                  <a:pt x="67241" y="143679"/>
                  <a:pt x="58311" y="140419"/>
                  <a:pt x="49604" y="135508"/>
                </a:cubicBezTo>
                <a:cubicBezTo>
                  <a:pt x="25450" y="121980"/>
                  <a:pt x="3661" y="96485"/>
                  <a:pt x="536" y="50721"/>
                </a:cubicBezTo>
                <a:cubicBezTo>
                  <a:pt x="-313" y="38174"/>
                  <a:pt x="9912" y="28530"/>
                  <a:pt x="21565" y="28530"/>
                </a:cubicBezTo>
                <a:lnTo>
                  <a:pt x="43711" y="28530"/>
                </a:lnTo>
                <a:cubicBezTo>
                  <a:pt x="43577" y="26209"/>
                  <a:pt x="43488" y="23887"/>
                  <a:pt x="43398" y="21476"/>
                </a:cubicBezTo>
                <a:cubicBezTo>
                  <a:pt x="42952" y="9644"/>
                  <a:pt x="52596" y="-45"/>
                  <a:pt x="64428" y="-45"/>
                </a:cubicBezTo>
                <a:close/>
                <a:moveTo>
                  <a:pt x="45318" y="50006"/>
                </a:moveTo>
                <a:lnTo>
                  <a:pt x="21922" y="50006"/>
                </a:lnTo>
                <a:cubicBezTo>
                  <a:pt x="24691" y="87823"/>
                  <a:pt x="42059" y="106754"/>
                  <a:pt x="59963" y="116800"/>
                </a:cubicBezTo>
                <a:cubicBezTo>
                  <a:pt x="53533" y="100146"/>
                  <a:pt x="48220" y="78403"/>
                  <a:pt x="45318" y="50006"/>
                </a:cubicBezTo>
                <a:close/>
                <a:moveTo>
                  <a:pt x="169664" y="114657"/>
                </a:moveTo>
                <a:cubicBezTo>
                  <a:pt x="187747" y="104031"/>
                  <a:pt x="204088" y="85145"/>
                  <a:pt x="206856" y="50006"/>
                </a:cubicBezTo>
                <a:lnTo>
                  <a:pt x="183505" y="50006"/>
                </a:lnTo>
                <a:cubicBezTo>
                  <a:pt x="180737" y="77197"/>
                  <a:pt x="175736" y="98316"/>
                  <a:pt x="169664" y="114657"/>
                </a:cubicBezTo>
                <a:close/>
              </a:path>
            </a:pathLst>
          </a:custGeom>
          <a:solidFill>
            <a:srgbClr val="C9A36A"/>
          </a:solidFill>
          <a:ln/>
        </p:spPr>
        <p:txBody>
          <a:bodyPr/>
          <a:lstStyle/>
          <a:p>
            <a:endParaRPr lang="en-IN"/>
          </a:p>
        </p:txBody>
      </p:sp>
      <p:sp>
        <p:nvSpPr>
          <p:cNvPr id="10" name="Text 7"/>
          <p:cNvSpPr/>
          <p:nvPr/>
        </p:nvSpPr>
        <p:spPr>
          <a:xfrm>
            <a:off x="1301750" y="1873253"/>
            <a:ext cx="2257425"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Quattrocento Sans" pitchFamily="34" charset="0"/>
                <a:ea typeface="Quattrocento Sans" pitchFamily="34" charset="-122"/>
                <a:cs typeface="Quattrocento Sans" pitchFamily="34" charset="-120"/>
              </a:rPr>
              <a:t>Project Achievements</a:t>
            </a:r>
            <a:endParaRPr lang="en-US" sz="1600" dirty="0"/>
          </a:p>
        </p:txBody>
      </p:sp>
      <p:sp>
        <p:nvSpPr>
          <p:cNvPr id="11" name="Shape 8"/>
          <p:cNvSpPr/>
          <p:nvPr/>
        </p:nvSpPr>
        <p:spPr>
          <a:xfrm>
            <a:off x="635000" y="2482853"/>
            <a:ext cx="38100" cy="1085850"/>
          </a:xfrm>
          <a:custGeom>
            <a:avLst/>
            <a:gdLst/>
            <a:ahLst/>
            <a:cxnLst/>
            <a:rect l="l" t="t" r="r" b="b"/>
            <a:pathLst>
              <a:path w="38100" h="1085850">
                <a:moveTo>
                  <a:pt x="0" y="0"/>
                </a:moveTo>
                <a:lnTo>
                  <a:pt x="38100" y="0"/>
                </a:lnTo>
                <a:lnTo>
                  <a:pt x="38100" y="1085850"/>
                </a:lnTo>
                <a:lnTo>
                  <a:pt x="0" y="1085850"/>
                </a:lnTo>
                <a:lnTo>
                  <a:pt x="0" y="0"/>
                </a:lnTo>
                <a:close/>
              </a:path>
            </a:pathLst>
          </a:custGeom>
          <a:solidFill>
            <a:srgbClr val="C9A36A"/>
          </a:solidFill>
          <a:ln/>
        </p:spPr>
        <p:txBody>
          <a:bodyPr/>
          <a:lstStyle/>
          <a:p>
            <a:endParaRPr lang="en-IN"/>
          </a:p>
        </p:txBody>
      </p:sp>
      <p:sp>
        <p:nvSpPr>
          <p:cNvPr id="12" name="Text 9"/>
          <p:cNvSpPr/>
          <p:nvPr/>
        </p:nvSpPr>
        <p:spPr>
          <a:xfrm>
            <a:off x="806450" y="2482853"/>
            <a:ext cx="50292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Fast &amp; Accurate System</a:t>
            </a:r>
            <a:endParaRPr lang="en-US" sz="1600" dirty="0"/>
          </a:p>
        </p:txBody>
      </p:sp>
      <p:sp>
        <p:nvSpPr>
          <p:cNvPr id="13" name="Text 10"/>
          <p:cNvSpPr/>
          <p:nvPr/>
        </p:nvSpPr>
        <p:spPr>
          <a:xfrm>
            <a:off x="806450" y="2825753"/>
            <a:ext cx="501967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Successfully developed a face recognition attendance system that processes recognition in under 500ms with 95%+ accuracy, significantly outperforming manual methods.</a:t>
            </a:r>
            <a:endParaRPr lang="en-US" sz="1600" dirty="0"/>
          </a:p>
        </p:txBody>
      </p:sp>
      <p:sp>
        <p:nvSpPr>
          <p:cNvPr id="14" name="Shape 11"/>
          <p:cNvSpPr/>
          <p:nvPr/>
        </p:nvSpPr>
        <p:spPr>
          <a:xfrm>
            <a:off x="635000" y="3721103"/>
            <a:ext cx="38100" cy="1085850"/>
          </a:xfrm>
          <a:custGeom>
            <a:avLst/>
            <a:gdLst/>
            <a:ahLst/>
            <a:cxnLst/>
            <a:rect l="l" t="t" r="r" b="b"/>
            <a:pathLst>
              <a:path w="38100" h="1085850">
                <a:moveTo>
                  <a:pt x="0" y="0"/>
                </a:moveTo>
                <a:lnTo>
                  <a:pt x="38100" y="0"/>
                </a:lnTo>
                <a:lnTo>
                  <a:pt x="38100" y="1085850"/>
                </a:lnTo>
                <a:lnTo>
                  <a:pt x="0" y="1085850"/>
                </a:lnTo>
                <a:lnTo>
                  <a:pt x="0" y="0"/>
                </a:lnTo>
                <a:close/>
              </a:path>
            </a:pathLst>
          </a:custGeom>
          <a:solidFill>
            <a:srgbClr val="C9A36A"/>
          </a:solidFill>
          <a:ln/>
        </p:spPr>
        <p:txBody>
          <a:bodyPr/>
          <a:lstStyle/>
          <a:p>
            <a:endParaRPr lang="en-IN"/>
          </a:p>
        </p:txBody>
      </p:sp>
      <p:sp>
        <p:nvSpPr>
          <p:cNvPr id="15" name="Text 12"/>
          <p:cNvSpPr/>
          <p:nvPr/>
        </p:nvSpPr>
        <p:spPr>
          <a:xfrm>
            <a:off x="806450" y="3721103"/>
            <a:ext cx="50292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Contactless &amp; Secure</a:t>
            </a:r>
            <a:endParaRPr lang="en-US" sz="1600" dirty="0"/>
          </a:p>
        </p:txBody>
      </p:sp>
      <p:sp>
        <p:nvSpPr>
          <p:cNvPr id="16" name="Text 13"/>
          <p:cNvSpPr/>
          <p:nvPr/>
        </p:nvSpPr>
        <p:spPr>
          <a:xfrm>
            <a:off x="806450" y="4064003"/>
            <a:ext cx="5019675" cy="7429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Eliminated physical contact requirements, addressing post-pandemic health concerns while providing secure biometric verification that prevents proxy attendance.</a:t>
            </a:r>
            <a:endParaRPr lang="en-US" sz="1600" dirty="0"/>
          </a:p>
        </p:txBody>
      </p:sp>
      <p:sp>
        <p:nvSpPr>
          <p:cNvPr id="17" name="Shape 14"/>
          <p:cNvSpPr/>
          <p:nvPr/>
        </p:nvSpPr>
        <p:spPr>
          <a:xfrm>
            <a:off x="635000" y="4959353"/>
            <a:ext cx="38100" cy="838200"/>
          </a:xfrm>
          <a:custGeom>
            <a:avLst/>
            <a:gdLst/>
            <a:ahLst/>
            <a:cxnLst/>
            <a:rect l="l" t="t" r="r" b="b"/>
            <a:pathLst>
              <a:path w="38100" h="838200">
                <a:moveTo>
                  <a:pt x="0" y="0"/>
                </a:moveTo>
                <a:lnTo>
                  <a:pt x="38100" y="0"/>
                </a:lnTo>
                <a:lnTo>
                  <a:pt x="38100" y="838200"/>
                </a:lnTo>
                <a:lnTo>
                  <a:pt x="0" y="838200"/>
                </a:lnTo>
                <a:lnTo>
                  <a:pt x="0" y="0"/>
                </a:lnTo>
                <a:close/>
              </a:path>
            </a:pathLst>
          </a:custGeom>
          <a:solidFill>
            <a:srgbClr val="C9A36A"/>
          </a:solidFill>
          <a:ln/>
        </p:spPr>
        <p:txBody>
          <a:bodyPr/>
          <a:lstStyle/>
          <a:p>
            <a:endParaRPr lang="en-IN"/>
          </a:p>
        </p:txBody>
      </p:sp>
      <p:sp>
        <p:nvSpPr>
          <p:cNvPr id="18" name="Text 15"/>
          <p:cNvSpPr/>
          <p:nvPr/>
        </p:nvSpPr>
        <p:spPr>
          <a:xfrm>
            <a:off x="806450" y="4959353"/>
            <a:ext cx="50292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Reduced Manual Errors</a:t>
            </a:r>
            <a:endParaRPr lang="en-US" sz="1600" dirty="0"/>
          </a:p>
        </p:txBody>
      </p:sp>
      <p:sp>
        <p:nvSpPr>
          <p:cNvPr id="19" name="Text 16"/>
          <p:cNvSpPr/>
          <p:nvPr/>
        </p:nvSpPr>
        <p:spPr>
          <a:xfrm>
            <a:off x="806450" y="5302253"/>
            <a:ext cx="5019675"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Automated the entire attendance process, eliminating human errors in data entry and saving 5-10 minutes of class time per session.</a:t>
            </a:r>
            <a:endParaRPr lang="en-US" sz="1600" dirty="0"/>
          </a:p>
        </p:txBody>
      </p:sp>
      <p:sp>
        <p:nvSpPr>
          <p:cNvPr id="20" name="Shape 17"/>
          <p:cNvSpPr/>
          <p:nvPr/>
        </p:nvSpPr>
        <p:spPr>
          <a:xfrm>
            <a:off x="6213475" y="1527175"/>
            <a:ext cx="5597525" cy="4425950"/>
          </a:xfrm>
          <a:custGeom>
            <a:avLst/>
            <a:gdLst/>
            <a:ahLst/>
            <a:cxnLst/>
            <a:rect l="l" t="t" r="r" b="b"/>
            <a:pathLst>
              <a:path w="5597525" h="4425950">
                <a:moveTo>
                  <a:pt x="0" y="0"/>
                </a:moveTo>
                <a:lnTo>
                  <a:pt x="5597525" y="0"/>
                </a:lnTo>
                <a:lnTo>
                  <a:pt x="5597525" y="4425950"/>
                </a:lnTo>
                <a:lnTo>
                  <a:pt x="0" y="4425950"/>
                </a:lnTo>
                <a:lnTo>
                  <a:pt x="0" y="0"/>
                </a:lnTo>
                <a:close/>
              </a:path>
            </a:pathLst>
          </a:custGeom>
          <a:solidFill>
            <a:srgbClr val="C9A36A">
              <a:alpha val="10196"/>
            </a:srgbClr>
          </a:solidFill>
          <a:ln w="8467">
            <a:solidFill>
              <a:srgbClr val="C9A36A">
                <a:alpha val="30196"/>
              </a:srgbClr>
            </a:solidFill>
            <a:prstDash val="solid"/>
          </a:ln>
        </p:spPr>
        <p:txBody>
          <a:bodyPr/>
          <a:lstStyle/>
          <a:p>
            <a:endParaRPr lang="en-IN"/>
          </a:p>
        </p:txBody>
      </p:sp>
      <p:sp>
        <p:nvSpPr>
          <p:cNvPr id="21" name="Shape 18"/>
          <p:cNvSpPr/>
          <p:nvPr/>
        </p:nvSpPr>
        <p:spPr>
          <a:xfrm>
            <a:off x="6445250" y="175895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solidFill>
          <a:ln/>
        </p:spPr>
        <p:txBody>
          <a:bodyPr/>
          <a:lstStyle/>
          <a:p>
            <a:endParaRPr lang="en-IN"/>
          </a:p>
        </p:txBody>
      </p:sp>
      <p:sp>
        <p:nvSpPr>
          <p:cNvPr id="22" name="Shape 19"/>
          <p:cNvSpPr/>
          <p:nvPr/>
        </p:nvSpPr>
        <p:spPr>
          <a:xfrm>
            <a:off x="6597650" y="1911353"/>
            <a:ext cx="228600" cy="228600"/>
          </a:xfrm>
          <a:custGeom>
            <a:avLst/>
            <a:gdLst/>
            <a:ahLst/>
            <a:cxnLst/>
            <a:rect l="l" t="t" r="r" b="b"/>
            <a:pathLst>
              <a:path w="228600" h="228600">
                <a:moveTo>
                  <a:pt x="57150" y="142875"/>
                </a:moveTo>
                <a:lnTo>
                  <a:pt x="10939" y="142875"/>
                </a:lnTo>
                <a:cubicBezTo>
                  <a:pt x="-179" y="142875"/>
                  <a:pt x="-7010" y="130775"/>
                  <a:pt x="-1295" y="121221"/>
                </a:cubicBezTo>
                <a:lnTo>
                  <a:pt x="22324" y="81841"/>
                </a:lnTo>
                <a:cubicBezTo>
                  <a:pt x="26209" y="75367"/>
                  <a:pt x="33174" y="71438"/>
                  <a:pt x="40719" y="71438"/>
                </a:cubicBezTo>
                <a:lnTo>
                  <a:pt x="83135" y="71438"/>
                </a:lnTo>
                <a:cubicBezTo>
                  <a:pt x="117113" y="13886"/>
                  <a:pt x="167789" y="10984"/>
                  <a:pt x="201677" y="15939"/>
                </a:cubicBezTo>
                <a:cubicBezTo>
                  <a:pt x="207392" y="16788"/>
                  <a:pt x="211857" y="21253"/>
                  <a:pt x="212661" y="26923"/>
                </a:cubicBezTo>
                <a:cubicBezTo>
                  <a:pt x="217616" y="60811"/>
                  <a:pt x="214714" y="111487"/>
                  <a:pt x="157163" y="145465"/>
                </a:cubicBezTo>
                <a:lnTo>
                  <a:pt x="157163" y="187881"/>
                </a:lnTo>
                <a:cubicBezTo>
                  <a:pt x="157163" y="195426"/>
                  <a:pt x="153233" y="202391"/>
                  <a:pt x="146759" y="206276"/>
                </a:cubicBezTo>
                <a:lnTo>
                  <a:pt x="107379" y="229895"/>
                </a:lnTo>
                <a:cubicBezTo>
                  <a:pt x="97869" y="235610"/>
                  <a:pt x="85725" y="228734"/>
                  <a:pt x="85725" y="217661"/>
                </a:cubicBezTo>
                <a:lnTo>
                  <a:pt x="85725" y="171450"/>
                </a:lnTo>
                <a:cubicBezTo>
                  <a:pt x="85725" y="155689"/>
                  <a:pt x="72911" y="142875"/>
                  <a:pt x="57150" y="142875"/>
                </a:cubicBezTo>
                <a:lnTo>
                  <a:pt x="57105" y="142875"/>
                </a:lnTo>
                <a:close/>
                <a:moveTo>
                  <a:pt x="178594" y="71438"/>
                </a:moveTo>
                <a:cubicBezTo>
                  <a:pt x="178594" y="59609"/>
                  <a:pt x="168991" y="50006"/>
                  <a:pt x="157163" y="50006"/>
                </a:cubicBezTo>
                <a:cubicBezTo>
                  <a:pt x="145334" y="50006"/>
                  <a:pt x="135731" y="59609"/>
                  <a:pt x="135731" y="71438"/>
                </a:cubicBezTo>
                <a:cubicBezTo>
                  <a:pt x="135731" y="83266"/>
                  <a:pt x="145334" y="92869"/>
                  <a:pt x="157163" y="92869"/>
                </a:cubicBezTo>
                <a:cubicBezTo>
                  <a:pt x="168991" y="92869"/>
                  <a:pt x="178594" y="83266"/>
                  <a:pt x="178594" y="71438"/>
                </a:cubicBezTo>
                <a:close/>
              </a:path>
            </a:pathLst>
          </a:custGeom>
          <a:solidFill>
            <a:srgbClr val="111111"/>
          </a:solidFill>
          <a:ln/>
        </p:spPr>
        <p:txBody>
          <a:bodyPr/>
          <a:lstStyle/>
          <a:p>
            <a:endParaRPr lang="en-IN"/>
          </a:p>
        </p:txBody>
      </p:sp>
      <p:sp>
        <p:nvSpPr>
          <p:cNvPr id="23" name="Text 20"/>
          <p:cNvSpPr/>
          <p:nvPr/>
        </p:nvSpPr>
        <p:spPr>
          <a:xfrm>
            <a:off x="7131050" y="1873253"/>
            <a:ext cx="2247900" cy="304800"/>
          </a:xfrm>
          <a:prstGeom prst="rect">
            <a:avLst/>
          </a:prstGeom>
          <a:noFill/>
          <a:ln/>
        </p:spPr>
        <p:txBody>
          <a:bodyPr wrap="square" lIns="0" tIns="0" rIns="0" bIns="0" rtlCol="0" anchor="ctr"/>
          <a:lstStyle/>
          <a:p>
            <a:pPr>
              <a:lnSpc>
                <a:spcPct val="110000"/>
              </a:lnSpc>
            </a:pPr>
            <a:r>
              <a:rPr lang="en-US" sz="1800" b="1" dirty="0">
                <a:solidFill>
                  <a:srgbClr val="C9A36A"/>
                </a:solidFill>
                <a:latin typeface="Quattrocento Sans" pitchFamily="34" charset="0"/>
                <a:ea typeface="Quattrocento Sans" pitchFamily="34" charset="-122"/>
                <a:cs typeface="Quattrocento Sans" pitchFamily="34" charset="-120"/>
              </a:rPr>
              <a:t>Future Enhancements</a:t>
            </a:r>
            <a:endParaRPr lang="en-US" sz="1600" dirty="0"/>
          </a:p>
        </p:txBody>
      </p:sp>
      <p:sp>
        <p:nvSpPr>
          <p:cNvPr id="24" name="Shape 21"/>
          <p:cNvSpPr/>
          <p:nvPr/>
        </p:nvSpPr>
        <p:spPr>
          <a:xfrm>
            <a:off x="6445250" y="248285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C9A36A">
              <a:alpha val="20000"/>
            </a:srgbClr>
          </a:solidFill>
          <a:ln/>
        </p:spPr>
        <p:txBody>
          <a:bodyPr/>
          <a:lstStyle/>
          <a:p>
            <a:endParaRPr lang="en-IN"/>
          </a:p>
        </p:txBody>
      </p:sp>
      <p:sp>
        <p:nvSpPr>
          <p:cNvPr id="25" name="Shape 22"/>
          <p:cNvSpPr/>
          <p:nvPr/>
        </p:nvSpPr>
        <p:spPr>
          <a:xfrm>
            <a:off x="6540500" y="2597153"/>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C9A36A"/>
          </a:solidFill>
          <a:ln/>
        </p:spPr>
        <p:txBody>
          <a:bodyPr/>
          <a:lstStyle/>
          <a:p>
            <a:endParaRPr lang="en-IN"/>
          </a:p>
        </p:txBody>
      </p:sp>
      <p:sp>
        <p:nvSpPr>
          <p:cNvPr id="26" name="Text 23"/>
          <p:cNvSpPr/>
          <p:nvPr/>
        </p:nvSpPr>
        <p:spPr>
          <a:xfrm>
            <a:off x="6940550" y="2482853"/>
            <a:ext cx="47244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Multi-Face Recognition</a:t>
            </a:r>
            <a:endParaRPr lang="en-US" sz="1600" dirty="0"/>
          </a:p>
        </p:txBody>
      </p:sp>
      <p:sp>
        <p:nvSpPr>
          <p:cNvPr id="27" name="Text 24"/>
          <p:cNvSpPr/>
          <p:nvPr/>
        </p:nvSpPr>
        <p:spPr>
          <a:xfrm>
            <a:off x="6940550" y="2749553"/>
            <a:ext cx="4714875" cy="4572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Enable simultaneous recognition of multiple faces in a single frame for faster classroom attendance.</a:t>
            </a:r>
            <a:endParaRPr lang="en-US" sz="1600" dirty="0"/>
          </a:p>
        </p:txBody>
      </p:sp>
      <p:sp>
        <p:nvSpPr>
          <p:cNvPr id="28" name="Shape 25"/>
          <p:cNvSpPr/>
          <p:nvPr/>
        </p:nvSpPr>
        <p:spPr>
          <a:xfrm>
            <a:off x="6445250" y="332105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C9A36A">
              <a:alpha val="20000"/>
            </a:srgbClr>
          </a:solidFill>
          <a:ln/>
        </p:spPr>
        <p:txBody>
          <a:bodyPr/>
          <a:lstStyle/>
          <a:p>
            <a:endParaRPr lang="en-IN"/>
          </a:p>
        </p:txBody>
      </p:sp>
      <p:sp>
        <p:nvSpPr>
          <p:cNvPr id="29" name="Shape 26"/>
          <p:cNvSpPr/>
          <p:nvPr/>
        </p:nvSpPr>
        <p:spPr>
          <a:xfrm>
            <a:off x="6578600" y="3435353"/>
            <a:ext cx="114300" cy="152400"/>
          </a:xfrm>
          <a:custGeom>
            <a:avLst/>
            <a:gdLst/>
            <a:ahLst/>
            <a:cxnLst/>
            <a:rect l="l" t="t" r="r" b="b"/>
            <a:pathLst>
              <a:path w="114300" h="152400">
                <a:moveTo>
                  <a:pt x="4763" y="19050"/>
                </a:moveTo>
                <a:cubicBezTo>
                  <a:pt x="4763" y="8543"/>
                  <a:pt x="13305" y="0"/>
                  <a:pt x="23813" y="0"/>
                </a:cubicBezTo>
                <a:lnTo>
                  <a:pt x="90488" y="0"/>
                </a:lnTo>
                <a:cubicBezTo>
                  <a:pt x="100995" y="0"/>
                  <a:pt x="109537" y="8543"/>
                  <a:pt x="109537" y="19050"/>
                </a:cubicBezTo>
                <a:lnTo>
                  <a:pt x="109537" y="133350"/>
                </a:lnTo>
                <a:cubicBezTo>
                  <a:pt x="109537" y="143857"/>
                  <a:pt x="100995" y="152400"/>
                  <a:pt x="90488" y="152400"/>
                </a:cubicBezTo>
                <a:lnTo>
                  <a:pt x="23813" y="152400"/>
                </a:lnTo>
                <a:cubicBezTo>
                  <a:pt x="13305" y="152400"/>
                  <a:pt x="4763" y="143857"/>
                  <a:pt x="4763" y="133350"/>
                </a:cubicBezTo>
                <a:lnTo>
                  <a:pt x="4763" y="19050"/>
                </a:lnTo>
                <a:close/>
                <a:moveTo>
                  <a:pt x="23813" y="19050"/>
                </a:moveTo>
                <a:lnTo>
                  <a:pt x="23813" y="109537"/>
                </a:lnTo>
                <a:lnTo>
                  <a:pt x="90488" y="109537"/>
                </a:lnTo>
                <a:lnTo>
                  <a:pt x="90488" y="19050"/>
                </a:lnTo>
                <a:lnTo>
                  <a:pt x="23813" y="19050"/>
                </a:lnTo>
                <a:close/>
                <a:moveTo>
                  <a:pt x="57150" y="140494"/>
                </a:moveTo>
                <a:cubicBezTo>
                  <a:pt x="62419" y="140494"/>
                  <a:pt x="66675" y="136237"/>
                  <a:pt x="66675" y="130969"/>
                </a:cubicBezTo>
                <a:cubicBezTo>
                  <a:pt x="66675" y="125700"/>
                  <a:pt x="62419" y="121444"/>
                  <a:pt x="57150" y="121444"/>
                </a:cubicBezTo>
                <a:cubicBezTo>
                  <a:pt x="51881" y="121444"/>
                  <a:pt x="47625" y="125700"/>
                  <a:pt x="47625" y="130969"/>
                </a:cubicBezTo>
                <a:cubicBezTo>
                  <a:pt x="47625" y="136237"/>
                  <a:pt x="51881" y="140494"/>
                  <a:pt x="57150" y="140494"/>
                </a:cubicBezTo>
                <a:close/>
              </a:path>
            </a:pathLst>
          </a:custGeom>
          <a:solidFill>
            <a:srgbClr val="C9A36A"/>
          </a:solidFill>
          <a:ln/>
        </p:spPr>
        <p:txBody>
          <a:bodyPr/>
          <a:lstStyle/>
          <a:p>
            <a:endParaRPr lang="en-IN"/>
          </a:p>
        </p:txBody>
      </p:sp>
      <p:sp>
        <p:nvSpPr>
          <p:cNvPr id="30" name="Text 27"/>
          <p:cNvSpPr/>
          <p:nvPr/>
        </p:nvSpPr>
        <p:spPr>
          <a:xfrm>
            <a:off x="6940550" y="3321053"/>
            <a:ext cx="47244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Mobile App Integration</a:t>
            </a:r>
            <a:endParaRPr lang="en-US" sz="1600" dirty="0"/>
          </a:p>
        </p:txBody>
      </p:sp>
      <p:sp>
        <p:nvSpPr>
          <p:cNvPr id="31" name="Text 28"/>
          <p:cNvSpPr/>
          <p:nvPr/>
        </p:nvSpPr>
        <p:spPr>
          <a:xfrm>
            <a:off x="6940550" y="3587753"/>
            <a:ext cx="4714875" cy="4572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Develop companion mobile application for remote monitoring and attendance management.</a:t>
            </a:r>
            <a:endParaRPr lang="en-US" sz="1600" dirty="0"/>
          </a:p>
        </p:txBody>
      </p:sp>
      <p:sp>
        <p:nvSpPr>
          <p:cNvPr id="32" name="Shape 29"/>
          <p:cNvSpPr/>
          <p:nvPr/>
        </p:nvSpPr>
        <p:spPr>
          <a:xfrm>
            <a:off x="6445250" y="415925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C9A36A">
              <a:alpha val="20000"/>
            </a:srgbClr>
          </a:solidFill>
          <a:ln/>
        </p:spPr>
        <p:txBody>
          <a:bodyPr/>
          <a:lstStyle/>
          <a:p>
            <a:endParaRPr lang="en-IN"/>
          </a:p>
        </p:txBody>
      </p:sp>
      <p:sp>
        <p:nvSpPr>
          <p:cNvPr id="33" name="Shape 30"/>
          <p:cNvSpPr/>
          <p:nvPr/>
        </p:nvSpPr>
        <p:spPr>
          <a:xfrm>
            <a:off x="6550025" y="4273553"/>
            <a:ext cx="171450" cy="152400"/>
          </a:xfrm>
          <a:custGeom>
            <a:avLst/>
            <a:gdLst/>
            <a:ahLst/>
            <a:cxnLst/>
            <a:rect l="l" t="t" r="r" b="b"/>
            <a:pathLst>
              <a:path w="171450" h="152400">
                <a:moveTo>
                  <a:pt x="0" y="100013"/>
                </a:moveTo>
                <a:cubicBezTo>
                  <a:pt x="0" y="123676"/>
                  <a:pt x="19199" y="142875"/>
                  <a:pt x="42863" y="142875"/>
                </a:cubicBezTo>
                <a:lnTo>
                  <a:pt x="133350" y="142875"/>
                </a:lnTo>
                <a:cubicBezTo>
                  <a:pt x="154394" y="142875"/>
                  <a:pt x="171450" y="125819"/>
                  <a:pt x="171450" y="104775"/>
                </a:cubicBezTo>
                <a:cubicBezTo>
                  <a:pt x="171450" y="89416"/>
                  <a:pt x="162371" y="76170"/>
                  <a:pt x="149275" y="70158"/>
                </a:cubicBezTo>
                <a:cubicBezTo>
                  <a:pt x="151269" y="66258"/>
                  <a:pt x="152400" y="61823"/>
                  <a:pt x="152400" y="57150"/>
                </a:cubicBezTo>
                <a:cubicBezTo>
                  <a:pt x="152400" y="41374"/>
                  <a:pt x="139601" y="28575"/>
                  <a:pt x="123825" y="28575"/>
                </a:cubicBezTo>
                <a:cubicBezTo>
                  <a:pt x="118556" y="28575"/>
                  <a:pt x="113645" y="30004"/>
                  <a:pt x="109418" y="32474"/>
                </a:cubicBezTo>
                <a:cubicBezTo>
                  <a:pt x="102245" y="18842"/>
                  <a:pt x="87928" y="9525"/>
                  <a:pt x="71438" y="9525"/>
                </a:cubicBezTo>
                <a:cubicBezTo>
                  <a:pt x="47774" y="9525"/>
                  <a:pt x="28575" y="28724"/>
                  <a:pt x="28575" y="52388"/>
                </a:cubicBezTo>
                <a:cubicBezTo>
                  <a:pt x="28575" y="54769"/>
                  <a:pt x="28783" y="57120"/>
                  <a:pt x="29141" y="59382"/>
                </a:cubicBezTo>
                <a:cubicBezTo>
                  <a:pt x="12204" y="65097"/>
                  <a:pt x="0" y="81141"/>
                  <a:pt x="0" y="100013"/>
                </a:cubicBezTo>
                <a:close/>
              </a:path>
            </a:pathLst>
          </a:custGeom>
          <a:solidFill>
            <a:srgbClr val="C9A36A"/>
          </a:solidFill>
          <a:ln/>
        </p:spPr>
        <p:txBody>
          <a:bodyPr/>
          <a:lstStyle/>
          <a:p>
            <a:endParaRPr lang="en-IN"/>
          </a:p>
        </p:txBody>
      </p:sp>
      <p:sp>
        <p:nvSpPr>
          <p:cNvPr id="34" name="Text 31"/>
          <p:cNvSpPr/>
          <p:nvPr/>
        </p:nvSpPr>
        <p:spPr>
          <a:xfrm>
            <a:off x="6940550" y="4159253"/>
            <a:ext cx="47244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Cloud Storage</a:t>
            </a:r>
            <a:endParaRPr lang="en-US" sz="1600" dirty="0"/>
          </a:p>
        </p:txBody>
      </p:sp>
      <p:sp>
        <p:nvSpPr>
          <p:cNvPr id="35" name="Text 32"/>
          <p:cNvSpPr/>
          <p:nvPr/>
        </p:nvSpPr>
        <p:spPr>
          <a:xfrm>
            <a:off x="6940550" y="4425953"/>
            <a:ext cx="4714875" cy="4572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Implement cloud-based storage for centralized data management and backup capabilities.</a:t>
            </a:r>
            <a:endParaRPr lang="en-US" sz="1600" dirty="0"/>
          </a:p>
        </p:txBody>
      </p:sp>
      <p:sp>
        <p:nvSpPr>
          <p:cNvPr id="36" name="Shape 33"/>
          <p:cNvSpPr/>
          <p:nvPr/>
        </p:nvSpPr>
        <p:spPr>
          <a:xfrm>
            <a:off x="6445250" y="4997453"/>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C9A36A">
              <a:alpha val="20000"/>
            </a:srgbClr>
          </a:solidFill>
          <a:ln/>
        </p:spPr>
        <p:txBody>
          <a:bodyPr/>
          <a:lstStyle/>
          <a:p>
            <a:endParaRPr lang="en-IN"/>
          </a:p>
        </p:txBody>
      </p:sp>
      <p:sp>
        <p:nvSpPr>
          <p:cNvPr id="37" name="Shape 34"/>
          <p:cNvSpPr/>
          <p:nvPr/>
        </p:nvSpPr>
        <p:spPr>
          <a:xfrm>
            <a:off x="6559550" y="5111753"/>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C9A36A"/>
          </a:solidFill>
          <a:ln/>
        </p:spPr>
        <p:txBody>
          <a:bodyPr/>
          <a:lstStyle/>
          <a:p>
            <a:endParaRPr lang="en-IN"/>
          </a:p>
        </p:txBody>
      </p:sp>
      <p:sp>
        <p:nvSpPr>
          <p:cNvPr id="38" name="Text 35"/>
          <p:cNvSpPr/>
          <p:nvPr/>
        </p:nvSpPr>
        <p:spPr>
          <a:xfrm>
            <a:off x="6940550" y="4997453"/>
            <a:ext cx="4724400" cy="266700"/>
          </a:xfrm>
          <a:prstGeom prst="rect">
            <a:avLst/>
          </a:prstGeom>
          <a:noFill/>
          <a:ln/>
        </p:spPr>
        <p:txBody>
          <a:bodyPr wrap="square" lIns="0" tIns="0" rIns="0" bIns="0" rtlCol="0" anchor="ctr"/>
          <a:lstStyle/>
          <a:p>
            <a:pPr>
              <a:lnSpc>
                <a:spcPct val="130000"/>
              </a:lnSpc>
            </a:pPr>
            <a:r>
              <a:rPr lang="en-US" sz="1350" b="1" dirty="0">
                <a:solidFill>
                  <a:srgbClr val="F2F2F2"/>
                </a:solidFill>
                <a:latin typeface="Quattrocento Sans" pitchFamily="34" charset="0"/>
                <a:ea typeface="Quattrocento Sans" pitchFamily="34" charset="-122"/>
                <a:cs typeface="Quattrocento Sans" pitchFamily="34" charset="-120"/>
              </a:rPr>
              <a:t>Deep Learning Integration</a:t>
            </a:r>
            <a:endParaRPr lang="en-US" sz="1600" dirty="0"/>
          </a:p>
        </p:txBody>
      </p:sp>
      <p:sp>
        <p:nvSpPr>
          <p:cNvPr id="39" name="Text 36"/>
          <p:cNvSpPr/>
          <p:nvPr/>
        </p:nvSpPr>
        <p:spPr>
          <a:xfrm>
            <a:off x="6940550" y="5264153"/>
            <a:ext cx="4714875" cy="457200"/>
          </a:xfrm>
          <a:prstGeom prst="rect">
            <a:avLst/>
          </a:prstGeom>
          <a:noFill/>
          <a:ln/>
        </p:spPr>
        <p:txBody>
          <a:bodyPr wrap="square" lIns="0" tIns="0" rIns="0" bIns="0" rtlCol="0" anchor="ctr"/>
          <a:lstStyle/>
          <a:p>
            <a:pPr>
              <a:lnSpc>
                <a:spcPct val="130000"/>
              </a:lnSpc>
            </a:pPr>
            <a:r>
              <a:rPr lang="en-US" sz="1200" dirty="0">
                <a:solidFill>
                  <a:srgbClr val="B8B8B8"/>
                </a:solidFill>
                <a:latin typeface="Quattrocento Sans" pitchFamily="34" charset="0"/>
                <a:ea typeface="Quattrocento Sans" pitchFamily="34" charset="-122"/>
                <a:cs typeface="Quattrocento Sans" pitchFamily="34" charset="-120"/>
              </a:rPr>
              <a:t>Upgrade to CNN-based models for improved accuracy and advanced features like emotion detection.</a:t>
            </a:r>
            <a:endParaRPr lang="en-US" sz="1600" dirty="0"/>
          </a:p>
        </p:txBody>
      </p:sp>
      <p:sp>
        <p:nvSpPr>
          <p:cNvPr id="40" name="Text 37"/>
          <p:cNvSpPr/>
          <p:nvPr/>
        </p:nvSpPr>
        <p:spPr>
          <a:xfrm>
            <a:off x="333375" y="6184906"/>
            <a:ext cx="11525250" cy="266700"/>
          </a:xfrm>
          <a:prstGeom prst="rect">
            <a:avLst/>
          </a:prstGeom>
          <a:noFill/>
          <a:ln/>
        </p:spPr>
        <p:txBody>
          <a:bodyPr wrap="square" lIns="0" tIns="0" rIns="0" bIns="0" rtlCol="0" anchor="ctr"/>
          <a:lstStyle/>
          <a:p>
            <a:pPr algn="ctr">
              <a:lnSpc>
                <a:spcPct val="120000"/>
              </a:lnSpc>
            </a:pPr>
            <a:r>
              <a:rPr lang="en-US" sz="1500" dirty="0">
                <a:solidFill>
                  <a:srgbClr val="B8B8B8"/>
                </a:solidFill>
                <a:latin typeface="Quattrocento Sans" pitchFamily="34" charset="0"/>
                <a:ea typeface="Quattrocento Sans" pitchFamily="34" charset="-122"/>
                <a:cs typeface="Quattrocento Sans" pitchFamily="34" charset="-120"/>
              </a:rPr>
              <a:t>Thank you for your attention</a:t>
            </a:r>
            <a:endParaRPr lang="en-US" sz="1600" dirty="0"/>
          </a:p>
        </p:txBody>
      </p:sp>
      <p:sp>
        <p:nvSpPr>
          <p:cNvPr id="41" name="Text 38"/>
          <p:cNvSpPr/>
          <p:nvPr/>
        </p:nvSpPr>
        <p:spPr>
          <a:xfrm>
            <a:off x="338138" y="6527806"/>
            <a:ext cx="11515725" cy="266700"/>
          </a:xfrm>
          <a:prstGeom prst="rect">
            <a:avLst/>
          </a:prstGeom>
          <a:noFill/>
          <a:ln/>
        </p:spPr>
        <p:txBody>
          <a:bodyPr wrap="square" lIns="0" tIns="0" rIns="0" bIns="0" rtlCol="0" anchor="ctr"/>
          <a:lstStyle/>
          <a:p>
            <a:pPr algn="ctr">
              <a:lnSpc>
                <a:spcPct val="130000"/>
              </a:lnSpc>
            </a:pPr>
            <a:r>
              <a:rPr lang="en-US" sz="1350" dirty="0">
                <a:solidFill>
                  <a:srgbClr val="A3A3A3"/>
                </a:solidFill>
                <a:latin typeface="Quattrocento Sans" pitchFamily="34" charset="0"/>
                <a:ea typeface="Quattrocento Sans" pitchFamily="34" charset="-122"/>
                <a:cs typeface="Quattrocento Sans" pitchFamily="34" charset="-120"/>
              </a:rPr>
              <a:t>Questions &amp; Discussion</a:t>
            </a:r>
            <a:endParaRPr lang="en-US" sz="1600" dirty="0"/>
          </a:p>
        </p:txBody>
      </p:sp>
    </p:spTree>
  </p:cSld>
  <p:clrMapOvr>
    <a:masterClrMapping/>
  </p:clrMapOvr>
  <p:transition>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41</TotalTime>
  <Words>1675</Words>
  <Application>Microsoft Office PowerPoint</Application>
  <PresentationFormat>Widescreen</PresentationFormat>
  <Paragraphs>277</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Quattrocento Sans</vt:lpstr>
      <vt:lpstr>Wingdings 2</vt:lpstr>
      <vt:lpstr>Oranienbaum</vt:lpstr>
      <vt:lpstr>Calisto MT</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 INTERFACE </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Biometric Face Recognition Tracker</dc:title>
  <dc:subject>Smart Biometric Face Recognition Tracker</dc:subject>
  <dc:creator>Kimi</dc:creator>
  <cp:lastModifiedBy>Ayush Swain</cp:lastModifiedBy>
  <cp:revision>3</cp:revision>
  <dcterms:created xsi:type="dcterms:W3CDTF">2026-03-24T15:47:20Z</dcterms:created>
  <dcterms:modified xsi:type="dcterms:W3CDTF">2026-03-29T12:29:20Z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{"Label":"Smart Biometric Face Recognition Tracker","ContentProducer":"001191110108MACG2KBH8F10000","ProduceID":"19d2083f-7b92-8670-8000-000078310d4b","ReservedCode1":"","ContentPropagator":"001191110108MACG2KBH8F20000","PropagateID":"19d2083f-7b92-8670-8000-000078310d4b","ReservedCode2":""}</vt:lpwstr>
  </property>
</Properties>
</file>